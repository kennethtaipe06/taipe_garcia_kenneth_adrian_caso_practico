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20 segundos.</a:t>
            </a:r>
          </a:p>
          <a:p>
            <a:r>
              <a:t>"Buenos días, compañeros y miembros del tribunal. Mi nombre es Kenneth Taipe y me tocó el Caso 1: la detección de transacciones fraudulentas en un entorno de alto volumen, usando modelos de clasificación supervisada."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 min 15 s.</a:t>
            </a:r>
          </a:p>
          <a:p>
            <a:r>
              <a:t>"Para dimensionar el problema: según el Nilson Report, en 2024 se perdieron en el mundo 33,410 millones de dólares por fraude con tarjetas; eso es más de mil dólares por segundo, y se proyectan 41 mil millones para 2030. En Ecuador hay 4.6 millones de tarjetas de crédito activas que movieron más de 21 mil millones de dólares en 2025, y solo entre enero y julio la Superintendencia investigó 273 casos de fraude con tarjeta. El reto es que el fraude es muy escaso entre millones de transacciones legítimas: no se puede revisar todo, un fraude que se escapa es dinero perdido y una falsa alarma molesta al cliente."</a:t>
            </a:r>
          </a:p>
          <a:p>
            <a:r>
              <a:t>Dato de apoyo: el fraude equivale a 6.43 centavos por cada 100 dólares movidos con tarjeta (Nilson). En EE. UU., la FTC reportó 15,900 millones de dólares perdidos por fraudes a consumidores en 2025.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45 segundos.</a:t>
            </a:r>
          </a:p>
          <a:p>
            <a:r>
              <a:t>"En el caso, una entidad financiera necesita un modelo que ordene sus transacciones por riesgo para que el equipo antifraude revise primero las más sospechosas. El objetivo es predecir la variable fraud comparando al menos cuatro modelos, cuidando tres cosas: el desbalance, la fuga de información y el equilibrio entre fraudes no detectados y falsas alarmas."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45 segundos.</a:t>
            </a:r>
          </a:p>
          <a:p>
            <a:r>
              <a:t>"Este es el diccionario de datos. Tenemos 20 variables: dos identificadores, que no se usan para predecir porque solo sirven para rastrear; el monto, la hora y el día; y cuatro variables categóricas: canal, categoría del comercio, país y tipo de dispositivo, que codifiqué con One-Hot."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45 segundos.</a:t>
            </a:r>
          </a:p>
          <a:p>
            <a:r>
              <a:t>"La segunda parte tiene los indicadores de la operación y del comportamiento del cliente: si la tarjeta estaba presente, si el dispositivo es nuevo, cuántas transacciones hizo en 24 horas, cuánto gasta frente a su promedio y la distancia a su ubicación habitual. Excluí dos redundantes: is_international, que es lo mismo que el país al revés, y avg_amount_30d, que se puede calcular con las otras dos. La última, fraud, es la variable que queremos predecir. En total quedan 15 predictoras."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 minuto.</a:t>
            </a:r>
          </a:p>
          <a:p>
            <a:r>
              <a:t>"El conjunto tiene 50,000 transacciones. De ellas, 49,091 son legítimas y solo 909 son fraude: el 1.82%, es decir 54 legítimas por cada fraude. No hay valores faltantes ni duplicados. Por este desbalance, un modelo que diga que todo es legítimo acierta el 98% y no sirve para nada; por eso no evalúo con exactitud sino con el PR-AUC, que mide qué tan bien se ordenan los fraudes arriba. Al azar, el PR-AUC vale 0.018: esa es la referencia."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 min 15 s.</a:t>
            </a:r>
          </a:p>
          <a:p>
            <a:r>
              <a:t>"Estas son las medidas de las variables numéricas: mínimo, máximo, promedio y mediana, y el promedio separado para fraude y legítima. El monto va de 50 centavos a 5,000 dólares, con un promedio de 106 dólares. Dos cosas importantes: primero, un fraude promedio es de 175 dólares frente a 105 de una compra legítima, y en un fraude se gasta 5.4 veces lo habitual del cliente frente a 3.3. Segundo, el promedio es mucho mayor que la mediana, lo que indica que hay pocas transacciones muy grandes: los datos son asimétricos. En cambio, la distancia, el riesgo de IP o la antigüedad de la cuenta casi no cambian entre fraude y legítima."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 min 15 s.</a:t>
            </a:r>
          </a:p>
          <a:p>
            <a:r>
              <a:t>"Este es el diagrama de caja y bigotes de las variables numéricas. Los puntos naranjas son los valores atípicos según la regla del rango intercuartílico. Si yo eliminaba todas las filas con algún atípico, perdía el 41% de las transacciones y, lo más grave, 447 de los 909 fraudes: el 49%, casi la mitad. Además, en montos y en gasto frente al habitual, los atípicos tienen entre 2 y 2.5 veces más fraude que el resto. En fraude, lo raro es justamente la señal, así que decidí conservarlos."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 minuto.</a:t>
            </a:r>
          </a:p>
          <a:p>
            <a:r>
              <a:t>"Comparando con la tasa global de 1.8%, el fraude se concentra fuera de Ecuador, sin tarjeta presente, por canales digitales, con dispositivo nuevo, en la categoría viajes y en la madrugada. La prueba chi-cuadrado confirma que estas relaciones son reales, no casualidad. Pero fíjense: son diferencias de uno o dos puntos porcentuales. Los patrones existen, pero son débiles."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 min 30 s.</a:t>
            </a:r>
          </a:p>
          <a:p>
            <a:r>
              <a:t>"Esta es la matriz de correlación de Spearman de todas las variables. Tres lecturas. Primero, la correlación más alta con el fraude es apenas 0.055: ninguna variable por sí sola explica el fraude. Segundo, las variables son casi independientes entre sí, algo típico de datos generados sintéticamente: cada variable parece creada por separado. Tercero, los únicos pares fuertes eran redundancias, y por eso excluí is_international y avg_amount_30d."</a:t>
            </a:r>
          </a:p>
          <a:p>
            <a:r>
              <a:t>Cómo decirlo con precisión: "Esto no significa que no haya patrones; sí los hay, pero son débiles. Con una señal tan débil, ningún modelo puede pasar de cierto techo, y por eso, como veremos, ninguno alcanza una precisión suficiente para producción."</a:t>
            </a:r>
          </a:p>
          <a:p>
            <a:r>
              <a:t>Si preguntan cómo sé que son sintéticos: la hora y el día son perfectamente uniformes, el monto sigue una log-normal exacta y las 50,000 transacciones tienen la misma fecha en su identificador.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 minuto.</a:t>
            </a:r>
          </a:p>
          <a:p>
            <a:r>
              <a:t>"Antes de los modelos, las reglas que se aplicaron a todos por igual. Separé un 20% de prueba al inicio y no lo toqué hasta el final. Todo el preprocesamiento va dentro de un pipeline para evitar fuga de información. Los cuatro modelos se compararon con las mismas cinco particiones de validación cruzada. Para el desbalance le di más peso a los fraudes con class_weight y elegí los modelos por PR-AUC y Recall de fraude."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 min 15 s.</a:t>
            </a:r>
          </a:p>
          <a:p>
            <a:r>
              <a:t>"El primer modelo es la Regresión Logística. Empecé con la regularización por defecto, C igual a 1, y un PR-AUC de 0.048. Probé siete valores de C y el mejor fue 0.001, una regularización fuerte, que subió a 0.051. A los montos les apliqué logaritmo y escalado, porque es el único modelo sensible a la escala. También probé una versión con la hora cíclica, interacciones y penalización L1, pero con 703 columnas solo ganaba 0.004, dentro del ruido, así que la descarté. Resultado: PR-AUC 0.051, ROC-AUC 0.68, precisión de 6% y Recall de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 min 15 s.</a:t>
            </a:r>
          </a:p>
          <a:p>
            <a:r>
              <a:t>"El segundo es el Árbol de Decisión. El inicial tenía profundidad 6 y pesos balanceados, con un PR-AUC de 0.035 y sobreajustaba: rendía casi el doble en entrenamiento que en validación. Para mejorarlo probé cerca de 500 configuraciones. Lo que funcionó fue bajar el peso del fraude de 54 a 10 y hacer el árbol más corto, de profundidad 4: subió a 0.040 y el sobreajuste bajó a 1.28. Probé SMOTE en tres variantes para generar fraudes sintéticos y empeoró. Su ventaja es que se lee como reglas: el primer corte es si el cliente gasta más de 4 veces lo habitual."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 min 15 s.</a:t>
            </a:r>
          </a:p>
          <a:p>
            <a:r>
              <a:t>"El tercero es Random Forest, un conjunto de 300 árboles. El inicial, con árboles de profundidad 6, logró 0.054 pero sobreajustaba bastante, 2.26. Como el mejor resultado quedó en el borde de la búsqueda, probé árboles más cortos que ven menos variables: profundidad 3 y solo el 5% de las variables en cada corte. Subió a 0.057 y el sobreajuste bajó a 1.32. Las variables más importantes fueron el país, el canal, el monto y la categoría."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 min 30 s.</a:t>
            </a:r>
          </a:p>
          <a:p>
            <a:r>
              <a:t>"El cuarto es Gradient Boosting, que suma árboles pequeños uno tras otro. El inicial usaba árboles de profundidad 2 y logró 0.059. Como el mejor estaba en el mínimo probado, probé tocones, árboles de profundidad 1 que miran una sola variable. Resultado: profundidad 1 rinde más que 2, y 2 más que 3; llegó a 0.062 y casi no sobreajusta, 1.07. Eso indica que combinar variables no ayuda: cada variable suma riesgo por separado, como si los datos se hubieran generado con una fórmula de suma de efectos más ruido. Es el mejor modelo: revisando el 10% más riesgoso detecta el 32% de los fraudes."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 min 15 s.</a:t>
            </a:r>
          </a:p>
          <a:p>
            <a:r>
              <a:t>"El podio: primero Gradient Boosting con PR-AUC de 0.062; segundo Random Forest con 0.057; tercero Regresión Logística con 0.051; y último el Árbol de Decisión con 0.040. El azar está en 0.018, así que todos aprenden algo. Revisando el 10% de transacciones más riesgosas, el ganador detecta el 32% de los fraudes, frente al 10% del azar. Siendo honesto, los tres primeros están muy cerca. La Regresión Logística parece tener más Recall con su umbral, pero solo porque genera el doble de alertas; con el mismo número de alertas, Gradient Boosting detecta más fraudes. El árbol queda último porque un solo árbol ordena el riesgo de forma muy gruesa."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 minuto.</a:t>
            </a:r>
          </a:p>
          <a:p>
            <a:r>
              <a:t>"Recién al final abrí el conjunto de prueba, una sola vez. Los resultados son prácticamente iguales a los de validación, así que el modelo no sobreajusta. En la matriz de confusión: de 182 fraudes detecta 26 y deja pasar 156, con 319 falsas alarmas; unas 12 falsas alarmas por cada fraude detectado. Lo positivo: detecta el 39% del dinero defraudado, porque atrapa los fraudes más grandes."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 min 45 s.</a:t>
            </a:r>
          </a:p>
          <a:p>
            <a:r>
              <a:t>"Entonces, ¿por qué ningún modelo sirve para producción? Cuatro algoritmos distintos y más de 500 variantes llegan al mismo techo. Si el problema fuera el algoritmo, alguno destacaría. Y no es que todo sea ruido: con las etiquetas mezcladas al azar el modelo obtiene 0.019 y con las reales 0.050; hay patrones reales, pero débiles. Las causas son cuatro: hay fraudes idénticos a compras normales; los datos son sintéticos y la señal es débil; faltan las variables que en la vida real delatan el fraude, como el historial del cliente; y con tan poco fraude, una precisión aceptable exigiría concentrar el fraude el doble de lo que se logra. Con unas 12 falsas alarmas por fraude, el modelo no puede usarse para bloquear transacciones."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 min 15 s.</a:t>
            </a:r>
          </a:p>
          <a:p>
            <a:r>
              <a:t>"Mis recomendaciones: primero, no usar este modelo para bloquear transacciones automáticamente. Segundo, como mucho, usarlo para priorizar la revisión manual: el 1% más riesgoso concentra unas cinco veces más fraude que una revisión al azar. Tercero, conseguir datos reales y más ricos, como el historial del cliente y del comercio. Cuarto, validar en el tiempo. Quinto, definir el umbral con el negocio según los costos reales. Y sexto, monitorear y reentrenar el modelo. Lo más valioso del trabajo es el método: funcionaría igual con datos reales."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15 segundos.</a:t>
            </a:r>
          </a:p>
          <a:p>
            <a:r>
              <a:t>"Muchas gracias. Quedo atento a sus preguntas."</a:t>
            </a:r>
          </a:p>
          <a:p>
            <a:r>
              <a:t>Respuestas preparadas: por qué rinde poco (techo común y cuatro causas); cómo sé que no es ruido (prueba de permutación: 0.050 frente a 0.019); por qué no SMOTE (lo probé y empeoró); cómo elegí el umbral (con train, maximizando F1); por qué Gradient Boosting (mayor PR-AUC, más Recall a igual revisión, menor sobreajuste); qué haría en producción (no bloquear; datos reales y validación en el tiempo).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C"/>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EC"/>
          </a:p>
        </p:txBody>
      </p:sp>
      <p:sp>
        <p:nvSpPr>
          <p:cNvPr id="4" name="Marcador de fecha 3"/>
          <p:cNvSpPr>
            <a:spLocks noGrp="1"/>
          </p:cNvSpPr>
          <p:nvPr>
            <p:ph type="dt" sz="half" idx="10"/>
          </p:nvPr>
        </p:nvSpPr>
        <p:spPr/>
        <p:txBody>
          <a:bodyPr/>
          <a:lstStyle/>
          <a:p>
            <a:fld id="{B1B86C34-0160-46DF-94B7-7411EA3D9332}" type="datetimeFigureOut">
              <a:rPr lang="es-EC" smtClean="0"/>
              <a:t>22/12/2022</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0838E522-ED42-4DBC-9A67-C7AE2DC4D2E5}" type="slidenum">
              <a:rPr lang="es-EC" smtClean="0"/>
              <a:t>‹Nº›</a:t>
            </a:fld>
            <a:endParaRPr lang="es-EC"/>
          </a:p>
        </p:txBody>
      </p:sp>
    </p:spTree>
    <p:extLst>
      <p:ext uri="{BB962C8B-B14F-4D97-AF65-F5344CB8AC3E}">
        <p14:creationId xmlns:p14="http://schemas.microsoft.com/office/powerpoint/2010/main" val="979890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C"/>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4" name="Marcador de fecha 3"/>
          <p:cNvSpPr>
            <a:spLocks noGrp="1"/>
          </p:cNvSpPr>
          <p:nvPr>
            <p:ph type="dt" sz="half" idx="10"/>
          </p:nvPr>
        </p:nvSpPr>
        <p:spPr/>
        <p:txBody>
          <a:bodyPr/>
          <a:lstStyle/>
          <a:p>
            <a:fld id="{B1B86C34-0160-46DF-94B7-7411EA3D9332}" type="datetimeFigureOut">
              <a:rPr lang="es-EC" smtClean="0"/>
              <a:t>22/12/2022</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0838E522-ED42-4DBC-9A67-C7AE2DC4D2E5}" type="slidenum">
              <a:rPr lang="es-EC" smtClean="0"/>
              <a:t>‹Nº›</a:t>
            </a:fld>
            <a:endParaRPr lang="es-EC"/>
          </a:p>
        </p:txBody>
      </p:sp>
    </p:spTree>
    <p:extLst>
      <p:ext uri="{BB962C8B-B14F-4D97-AF65-F5344CB8AC3E}">
        <p14:creationId xmlns:p14="http://schemas.microsoft.com/office/powerpoint/2010/main" val="2263749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C"/>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B1B86C34-0160-46DF-94B7-7411EA3D9332}" type="datetimeFigureOut">
              <a:rPr lang="es-EC" smtClean="0"/>
              <a:t>22/12/2022</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0838E522-ED42-4DBC-9A67-C7AE2DC4D2E5}" type="slidenum">
              <a:rPr lang="es-EC" smtClean="0"/>
              <a:t>‹Nº›</a:t>
            </a:fld>
            <a:endParaRPr lang="es-EC"/>
          </a:p>
        </p:txBody>
      </p:sp>
    </p:spTree>
    <p:extLst>
      <p:ext uri="{BB962C8B-B14F-4D97-AF65-F5344CB8AC3E}">
        <p14:creationId xmlns:p14="http://schemas.microsoft.com/office/powerpoint/2010/main" val="1861229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C"/>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5" name="Marcador de fecha 4"/>
          <p:cNvSpPr>
            <a:spLocks noGrp="1"/>
          </p:cNvSpPr>
          <p:nvPr>
            <p:ph type="dt" sz="half" idx="10"/>
          </p:nvPr>
        </p:nvSpPr>
        <p:spPr/>
        <p:txBody>
          <a:bodyPr/>
          <a:lstStyle/>
          <a:p>
            <a:fld id="{B1B86C34-0160-46DF-94B7-7411EA3D9332}" type="datetimeFigureOut">
              <a:rPr lang="es-EC" smtClean="0"/>
              <a:t>22/12/2022</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0838E522-ED42-4DBC-9A67-C7AE2DC4D2E5}" type="slidenum">
              <a:rPr lang="es-EC" smtClean="0"/>
              <a:t>‹Nº›</a:t>
            </a:fld>
            <a:endParaRPr lang="es-EC"/>
          </a:p>
        </p:txBody>
      </p:sp>
    </p:spTree>
    <p:extLst>
      <p:ext uri="{BB962C8B-B14F-4D97-AF65-F5344CB8AC3E}">
        <p14:creationId xmlns:p14="http://schemas.microsoft.com/office/powerpoint/2010/main" val="2357762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C"/>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7" name="Marcador de fecha 6"/>
          <p:cNvSpPr>
            <a:spLocks noGrp="1"/>
          </p:cNvSpPr>
          <p:nvPr>
            <p:ph type="dt" sz="half" idx="10"/>
          </p:nvPr>
        </p:nvSpPr>
        <p:spPr/>
        <p:txBody>
          <a:bodyPr/>
          <a:lstStyle/>
          <a:p>
            <a:fld id="{B1B86C34-0160-46DF-94B7-7411EA3D9332}" type="datetimeFigureOut">
              <a:rPr lang="es-EC" smtClean="0"/>
              <a:t>22/12/2022</a:t>
            </a:fld>
            <a:endParaRPr lang="es-EC"/>
          </a:p>
        </p:txBody>
      </p:sp>
      <p:sp>
        <p:nvSpPr>
          <p:cNvPr id="8" name="Marcador de pie de página 7"/>
          <p:cNvSpPr>
            <a:spLocks noGrp="1"/>
          </p:cNvSpPr>
          <p:nvPr>
            <p:ph type="ftr" sz="quarter" idx="11"/>
          </p:nvPr>
        </p:nvSpPr>
        <p:spPr/>
        <p:txBody>
          <a:bodyPr/>
          <a:lstStyle/>
          <a:p>
            <a:endParaRPr lang="es-EC"/>
          </a:p>
        </p:txBody>
      </p:sp>
      <p:sp>
        <p:nvSpPr>
          <p:cNvPr id="9" name="Marcador de número de diapositiva 8"/>
          <p:cNvSpPr>
            <a:spLocks noGrp="1"/>
          </p:cNvSpPr>
          <p:nvPr>
            <p:ph type="sldNum" sz="quarter" idx="12"/>
          </p:nvPr>
        </p:nvSpPr>
        <p:spPr/>
        <p:txBody>
          <a:bodyPr/>
          <a:lstStyle/>
          <a:p>
            <a:fld id="{0838E522-ED42-4DBC-9A67-C7AE2DC4D2E5}" type="slidenum">
              <a:rPr lang="es-EC" smtClean="0"/>
              <a:t>‹Nº›</a:t>
            </a:fld>
            <a:endParaRPr lang="es-EC"/>
          </a:p>
        </p:txBody>
      </p:sp>
    </p:spTree>
    <p:extLst>
      <p:ext uri="{BB962C8B-B14F-4D97-AF65-F5344CB8AC3E}">
        <p14:creationId xmlns:p14="http://schemas.microsoft.com/office/powerpoint/2010/main" val="2989782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C"/>
          </a:p>
        </p:txBody>
      </p:sp>
      <p:sp>
        <p:nvSpPr>
          <p:cNvPr id="3" name="Marcador de fecha 2"/>
          <p:cNvSpPr>
            <a:spLocks noGrp="1"/>
          </p:cNvSpPr>
          <p:nvPr>
            <p:ph type="dt" sz="half" idx="10"/>
          </p:nvPr>
        </p:nvSpPr>
        <p:spPr/>
        <p:txBody>
          <a:bodyPr/>
          <a:lstStyle/>
          <a:p>
            <a:fld id="{B1B86C34-0160-46DF-94B7-7411EA3D9332}" type="datetimeFigureOut">
              <a:rPr lang="es-EC" smtClean="0"/>
              <a:t>22/12/2022</a:t>
            </a:fld>
            <a:endParaRPr lang="es-EC"/>
          </a:p>
        </p:txBody>
      </p:sp>
      <p:sp>
        <p:nvSpPr>
          <p:cNvPr id="4" name="Marcador de pie de página 3"/>
          <p:cNvSpPr>
            <a:spLocks noGrp="1"/>
          </p:cNvSpPr>
          <p:nvPr>
            <p:ph type="ftr" sz="quarter" idx="11"/>
          </p:nvPr>
        </p:nvSpPr>
        <p:spPr/>
        <p:txBody>
          <a:bodyPr/>
          <a:lstStyle/>
          <a:p>
            <a:endParaRPr lang="es-EC"/>
          </a:p>
        </p:txBody>
      </p:sp>
      <p:sp>
        <p:nvSpPr>
          <p:cNvPr id="5" name="Marcador de número de diapositiva 4"/>
          <p:cNvSpPr>
            <a:spLocks noGrp="1"/>
          </p:cNvSpPr>
          <p:nvPr>
            <p:ph type="sldNum" sz="quarter" idx="12"/>
          </p:nvPr>
        </p:nvSpPr>
        <p:spPr/>
        <p:txBody>
          <a:bodyPr/>
          <a:lstStyle/>
          <a:p>
            <a:fld id="{0838E522-ED42-4DBC-9A67-C7AE2DC4D2E5}" type="slidenum">
              <a:rPr lang="es-EC" smtClean="0"/>
              <a:t>‹Nº›</a:t>
            </a:fld>
            <a:endParaRPr lang="es-EC"/>
          </a:p>
        </p:txBody>
      </p:sp>
    </p:spTree>
    <p:extLst>
      <p:ext uri="{BB962C8B-B14F-4D97-AF65-F5344CB8AC3E}">
        <p14:creationId xmlns:p14="http://schemas.microsoft.com/office/powerpoint/2010/main" val="1274645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B1B86C34-0160-46DF-94B7-7411EA3D9332}" type="datetimeFigureOut">
              <a:rPr lang="es-EC" smtClean="0"/>
              <a:t>22/12/2022</a:t>
            </a:fld>
            <a:endParaRPr lang="es-EC"/>
          </a:p>
        </p:txBody>
      </p:sp>
      <p:sp>
        <p:nvSpPr>
          <p:cNvPr id="3" name="Marcador de pie de página 2"/>
          <p:cNvSpPr>
            <a:spLocks noGrp="1"/>
          </p:cNvSpPr>
          <p:nvPr>
            <p:ph type="ftr" sz="quarter" idx="11"/>
          </p:nvPr>
        </p:nvSpPr>
        <p:spPr/>
        <p:txBody>
          <a:bodyPr/>
          <a:lstStyle/>
          <a:p>
            <a:endParaRPr lang="es-EC"/>
          </a:p>
        </p:txBody>
      </p:sp>
      <p:sp>
        <p:nvSpPr>
          <p:cNvPr id="4" name="Marcador de número de diapositiva 3"/>
          <p:cNvSpPr>
            <a:spLocks noGrp="1"/>
          </p:cNvSpPr>
          <p:nvPr>
            <p:ph type="sldNum" sz="quarter" idx="12"/>
          </p:nvPr>
        </p:nvSpPr>
        <p:spPr/>
        <p:txBody>
          <a:bodyPr/>
          <a:lstStyle/>
          <a:p>
            <a:fld id="{0838E522-ED42-4DBC-9A67-C7AE2DC4D2E5}" type="slidenum">
              <a:rPr lang="es-EC" smtClean="0"/>
              <a:t>‹Nº›</a:t>
            </a:fld>
            <a:endParaRPr lang="es-EC"/>
          </a:p>
        </p:txBody>
      </p:sp>
    </p:spTree>
    <p:extLst>
      <p:ext uri="{BB962C8B-B14F-4D97-AF65-F5344CB8AC3E}">
        <p14:creationId xmlns:p14="http://schemas.microsoft.com/office/powerpoint/2010/main" val="3464645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C"/>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B1B86C34-0160-46DF-94B7-7411EA3D9332}" type="datetimeFigureOut">
              <a:rPr lang="es-EC" smtClean="0"/>
              <a:t>22/12/2022</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0838E522-ED42-4DBC-9A67-C7AE2DC4D2E5}" type="slidenum">
              <a:rPr lang="es-EC" smtClean="0"/>
              <a:t>‹Nº›</a:t>
            </a:fld>
            <a:endParaRPr lang="es-EC"/>
          </a:p>
        </p:txBody>
      </p:sp>
    </p:spTree>
    <p:extLst>
      <p:ext uri="{BB962C8B-B14F-4D97-AF65-F5344CB8AC3E}">
        <p14:creationId xmlns:p14="http://schemas.microsoft.com/office/powerpoint/2010/main" val="2641409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C"/>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B1B86C34-0160-46DF-94B7-7411EA3D9332}" type="datetimeFigureOut">
              <a:rPr lang="es-EC" smtClean="0"/>
              <a:t>22/12/2022</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0838E522-ED42-4DBC-9A67-C7AE2DC4D2E5}" type="slidenum">
              <a:rPr lang="es-EC" smtClean="0"/>
              <a:t>‹Nº›</a:t>
            </a:fld>
            <a:endParaRPr lang="es-EC"/>
          </a:p>
        </p:txBody>
      </p:sp>
    </p:spTree>
    <p:extLst>
      <p:ext uri="{BB962C8B-B14F-4D97-AF65-F5344CB8AC3E}">
        <p14:creationId xmlns:p14="http://schemas.microsoft.com/office/powerpoint/2010/main" val="3522527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C"/>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4" name="Marcador de fecha 3"/>
          <p:cNvSpPr>
            <a:spLocks noGrp="1"/>
          </p:cNvSpPr>
          <p:nvPr>
            <p:ph type="dt" sz="half" idx="10"/>
          </p:nvPr>
        </p:nvSpPr>
        <p:spPr/>
        <p:txBody>
          <a:bodyPr/>
          <a:lstStyle/>
          <a:p>
            <a:fld id="{B1B86C34-0160-46DF-94B7-7411EA3D9332}" type="datetimeFigureOut">
              <a:rPr lang="es-EC" smtClean="0"/>
              <a:t>22/12/2022</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0838E522-ED42-4DBC-9A67-C7AE2DC4D2E5}" type="slidenum">
              <a:rPr lang="es-EC" smtClean="0"/>
              <a:t>‹Nº›</a:t>
            </a:fld>
            <a:endParaRPr lang="es-EC"/>
          </a:p>
        </p:txBody>
      </p:sp>
    </p:spTree>
    <p:extLst>
      <p:ext uri="{BB962C8B-B14F-4D97-AF65-F5344CB8AC3E}">
        <p14:creationId xmlns:p14="http://schemas.microsoft.com/office/powerpoint/2010/main" val="1024862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C"/>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4" name="Marcador de fecha 3"/>
          <p:cNvSpPr>
            <a:spLocks noGrp="1"/>
          </p:cNvSpPr>
          <p:nvPr>
            <p:ph type="dt" sz="half" idx="10"/>
          </p:nvPr>
        </p:nvSpPr>
        <p:spPr/>
        <p:txBody>
          <a:bodyPr/>
          <a:lstStyle/>
          <a:p>
            <a:fld id="{B1B86C34-0160-46DF-94B7-7411EA3D9332}" type="datetimeFigureOut">
              <a:rPr lang="es-EC" smtClean="0"/>
              <a:t>22/12/2022</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0838E522-ED42-4DBC-9A67-C7AE2DC4D2E5}" type="slidenum">
              <a:rPr lang="es-EC" smtClean="0"/>
              <a:t>‹Nº›</a:t>
            </a:fld>
            <a:endParaRPr lang="es-EC"/>
          </a:p>
        </p:txBody>
      </p:sp>
    </p:spTree>
    <p:extLst>
      <p:ext uri="{BB962C8B-B14F-4D97-AF65-F5344CB8AC3E}">
        <p14:creationId xmlns:p14="http://schemas.microsoft.com/office/powerpoint/2010/main" val="244487544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C"/>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C"/>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B86C34-0160-46DF-94B7-7411EA3D9332}" type="datetimeFigureOut">
              <a:rPr lang="es-EC" smtClean="0"/>
              <a:t>22/12/2022</a:t>
            </a:fld>
            <a:endParaRPr lang="es-EC"/>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38E522-ED42-4DBC-9A67-C7AE2DC4D2E5}" type="slidenum">
              <a:rPr lang="es-EC" smtClean="0"/>
              <a:t>‹Nº›</a:t>
            </a:fld>
            <a:endParaRPr lang="es-EC"/>
          </a:p>
        </p:txBody>
      </p:sp>
    </p:spTree>
    <p:extLst>
      <p:ext uri="{BB962C8B-B14F-4D97-AF65-F5344CB8AC3E}">
        <p14:creationId xmlns:p14="http://schemas.microsoft.com/office/powerpoint/2010/main" val="27732648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68" y="0"/>
            <a:ext cx="12190731" cy="6858714"/>
          </a:xfrm>
          <a:prstGeom prst="rect">
            <a:avLst/>
          </a:prstGeom>
        </p:spPr>
      </p:pic>
      <p:sp>
        <p:nvSpPr>
          <p:cNvPr id="6" name="TextBox 5"/>
          <p:cNvSpPr txBox="1"/>
          <p:nvPr/>
        </p:nvSpPr>
        <p:spPr>
          <a:xfrm>
            <a:off x="6400800" y="1691640"/>
            <a:ext cx="5394960" cy="365760"/>
          </a:xfrm>
          <a:prstGeom prst="rect">
            <a:avLst/>
          </a:prstGeom>
          <a:noFill/>
        </p:spPr>
        <p:txBody>
          <a:bodyPr wrap="square" anchor="t" lIns="18288" rIns="18288" tIns="18288" bIns="18288">
            <a:spAutoFit/>
          </a:bodyPr>
          <a:lstStyle/>
          <a:p>
            <a:pPr algn="l">
              <a:spcAft>
                <a:spcPts val="400"/>
              </a:spcAft>
            </a:pPr>
            <a:r>
              <a:rPr sz="1300" b="1" i="0">
                <a:solidFill>
                  <a:srgbClr val="F2A65A"/>
                </a:solidFill>
                <a:latin typeface="Calibri"/>
              </a:rPr>
              <a:t>EXAMEN COMPLEXIVO · COMPONENTE PRÁCTICO</a:t>
            </a:r>
          </a:p>
        </p:txBody>
      </p:sp>
      <p:sp>
        <p:nvSpPr>
          <p:cNvPr id="7" name="TextBox 6"/>
          <p:cNvSpPr txBox="1"/>
          <p:nvPr/>
        </p:nvSpPr>
        <p:spPr>
          <a:xfrm>
            <a:off x="6400800" y="2057400"/>
            <a:ext cx="5394960" cy="1920240"/>
          </a:xfrm>
          <a:prstGeom prst="rect">
            <a:avLst/>
          </a:prstGeom>
          <a:noFill/>
        </p:spPr>
        <p:txBody>
          <a:bodyPr wrap="square" anchor="t" lIns="18288" rIns="18288" tIns="18288" bIns="18288">
            <a:spAutoFit/>
          </a:bodyPr>
          <a:lstStyle/>
          <a:p>
            <a:pPr algn="l">
              <a:spcAft>
                <a:spcPts val="400"/>
              </a:spcAft>
            </a:pPr>
            <a:r>
              <a:rPr sz="3600" b="1" i="0">
                <a:solidFill>
                  <a:srgbClr val="FFFFFF"/>
                </a:solidFill>
                <a:latin typeface="Calibri"/>
              </a:rPr>
              <a:t>Detección de transacciones fraudulentas</a:t>
            </a:r>
          </a:p>
        </p:txBody>
      </p:sp>
      <p:sp>
        <p:nvSpPr>
          <p:cNvPr id="8" name="TextBox 7"/>
          <p:cNvSpPr txBox="1"/>
          <p:nvPr/>
        </p:nvSpPr>
        <p:spPr>
          <a:xfrm>
            <a:off x="6400800" y="3520440"/>
            <a:ext cx="5394960" cy="822960"/>
          </a:xfrm>
          <a:prstGeom prst="rect">
            <a:avLst/>
          </a:prstGeom>
          <a:noFill/>
        </p:spPr>
        <p:txBody>
          <a:bodyPr wrap="square" anchor="t" lIns="18288" rIns="18288" tIns="18288" bIns="18288">
            <a:spAutoFit/>
          </a:bodyPr>
          <a:lstStyle/>
          <a:p>
            <a:pPr algn="l">
              <a:spcAft>
                <a:spcPts val="400"/>
              </a:spcAft>
            </a:pPr>
            <a:r>
              <a:rPr sz="1800" b="0" i="0">
                <a:solidFill>
                  <a:srgbClr val="D6E2F0"/>
                </a:solidFill>
                <a:latin typeface="Calibri"/>
              </a:rPr>
              <a:t>Caso 1 · Clasificación supervisada en un entorno de alto volumen</a:t>
            </a:r>
          </a:p>
        </p:txBody>
      </p:sp>
      <p:sp>
        <p:nvSpPr>
          <p:cNvPr id="9" name="TextBox 8"/>
          <p:cNvSpPr txBox="1"/>
          <p:nvPr/>
        </p:nvSpPr>
        <p:spPr>
          <a:xfrm>
            <a:off x="6400800" y="4572000"/>
            <a:ext cx="5394960" cy="1097280"/>
          </a:xfrm>
          <a:prstGeom prst="rect">
            <a:avLst/>
          </a:prstGeom>
          <a:noFill/>
        </p:spPr>
        <p:txBody>
          <a:bodyPr wrap="square" anchor="t" lIns="18288" rIns="18288" tIns="18288" bIns="18288">
            <a:spAutoFit/>
          </a:bodyPr>
          <a:lstStyle/>
          <a:p>
            <a:pPr algn="l">
              <a:spcAft>
                <a:spcPts val="400"/>
              </a:spcAft>
            </a:pPr>
            <a:r>
              <a:rPr sz="1800" b="1" i="0">
                <a:solidFill>
                  <a:srgbClr val="FFFFFF"/>
                </a:solidFill>
                <a:latin typeface="Calibri"/>
              </a:rPr>
              <a:t>Kenneth Adrian Taipe Garcia</a:t>
            </a:r>
          </a:p>
          <a:p>
            <a:pPr algn="l">
              <a:spcAft>
                <a:spcPts val="400"/>
              </a:spcAft>
            </a:pPr>
            <a:r>
              <a:rPr sz="1300" b="0" i="0">
                <a:solidFill>
                  <a:srgbClr val="D6E2F0"/>
                </a:solidFill>
                <a:latin typeface="Calibri"/>
              </a:rPr>
              <a:t>Ingeniería en Sistemas de Información · Minería de Datos · 2026</a:t>
            </a:r>
          </a:p>
        </p:txBody>
      </p:sp>
    </p:spTree>
    <p:extLst>
      <p:ext uri="{BB962C8B-B14F-4D97-AF65-F5344CB8AC3E}">
        <p14:creationId xmlns:p14="http://schemas.microsoft.com/office/powerpoint/2010/main" val="1953364495"/>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LA PROBLEMÁTICA</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El fraude con tarjetas, en cifras</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2</a:t>
            </a:r>
          </a:p>
        </p:txBody>
      </p:sp>
      <p:sp>
        <p:nvSpPr>
          <p:cNvPr id="5" name="Rounded Rectangle 4"/>
          <p:cNvSpPr/>
          <p:nvPr/>
        </p:nvSpPr>
        <p:spPr>
          <a:xfrm>
            <a:off x="548640" y="1920240"/>
            <a:ext cx="3566160" cy="155448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993392"/>
            <a:ext cx="3346704" cy="1408176"/>
          </a:xfrm>
          <a:prstGeom prst="rect">
            <a:avLst/>
          </a:prstGeom>
          <a:noFill/>
        </p:spPr>
        <p:txBody>
          <a:bodyPr wrap="square" anchor="t" lIns="36576" rIns="36576" tIns="36576" bIns="36576">
            <a:spAutoFit/>
          </a:bodyPr>
          <a:lstStyle/>
          <a:p>
            <a:pPr algn="l">
              <a:spcAft>
                <a:spcPts val="200"/>
              </a:spcAft>
            </a:pPr>
            <a:r>
              <a:rPr sz="3200" b="1" i="0">
                <a:solidFill>
                  <a:srgbClr val="A71C21"/>
                </a:solidFill>
                <a:latin typeface="Calibri"/>
              </a:rPr>
              <a:t>USD 33,410 M</a:t>
            </a:r>
          </a:p>
          <a:p>
            <a:pPr algn="l">
              <a:spcAft>
                <a:spcPts val="400"/>
              </a:spcAft>
            </a:pPr>
            <a:r>
              <a:rPr sz="1300" b="0" i="0">
                <a:solidFill>
                  <a:srgbClr val="4B5563"/>
                </a:solidFill>
                <a:latin typeface="Calibri"/>
              </a:rPr>
              <a:t>perdidos en el mundo por fraude con tarjetas en 2024</a:t>
            </a:r>
          </a:p>
        </p:txBody>
      </p:sp>
      <p:sp>
        <p:nvSpPr>
          <p:cNvPr id="7" name="Rounded Rectangle 6"/>
          <p:cNvSpPr/>
          <p:nvPr/>
        </p:nvSpPr>
        <p:spPr>
          <a:xfrm>
            <a:off x="4315968" y="1920240"/>
            <a:ext cx="3566160" cy="155448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25696" y="1993392"/>
            <a:ext cx="3346704" cy="1408176"/>
          </a:xfrm>
          <a:prstGeom prst="rect">
            <a:avLst/>
          </a:prstGeom>
          <a:noFill/>
        </p:spPr>
        <p:txBody>
          <a:bodyPr wrap="square" anchor="t" lIns="36576" rIns="36576" tIns="36576" bIns="36576">
            <a:spAutoFit/>
          </a:bodyPr>
          <a:lstStyle/>
          <a:p>
            <a:pPr algn="l">
              <a:spcAft>
                <a:spcPts val="200"/>
              </a:spcAft>
            </a:pPr>
            <a:r>
              <a:rPr sz="3200" b="1" i="0">
                <a:solidFill>
                  <a:srgbClr val="D55E00"/>
                </a:solidFill>
                <a:latin typeface="Calibri"/>
              </a:rPr>
              <a:t>≈ USD 1,060</a:t>
            </a:r>
          </a:p>
          <a:p>
            <a:pPr algn="l">
              <a:spcAft>
                <a:spcPts val="400"/>
              </a:spcAft>
            </a:pPr>
            <a:r>
              <a:rPr sz="1300" b="0" i="0">
                <a:solidFill>
                  <a:srgbClr val="4B5563"/>
                </a:solidFill>
                <a:latin typeface="Calibri"/>
              </a:rPr>
              <a:t>perdidos cada segundo (≈ USD 91.5 millones al día)</a:t>
            </a:r>
          </a:p>
        </p:txBody>
      </p:sp>
      <p:sp>
        <p:nvSpPr>
          <p:cNvPr id="9" name="Rounded Rectangle 8"/>
          <p:cNvSpPr/>
          <p:nvPr/>
        </p:nvSpPr>
        <p:spPr>
          <a:xfrm>
            <a:off x="8083296" y="1920240"/>
            <a:ext cx="3566160" cy="155448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3" y="1993392"/>
            <a:ext cx="3346704" cy="1408176"/>
          </a:xfrm>
          <a:prstGeom prst="rect">
            <a:avLst/>
          </a:prstGeom>
          <a:noFill/>
        </p:spPr>
        <p:txBody>
          <a:bodyPr wrap="square" anchor="t" lIns="36576" rIns="36576" tIns="36576" bIns="36576">
            <a:spAutoFit/>
          </a:bodyPr>
          <a:lstStyle/>
          <a:p>
            <a:pPr algn="l">
              <a:spcAft>
                <a:spcPts val="200"/>
              </a:spcAft>
            </a:pPr>
            <a:r>
              <a:rPr sz="3200" b="1" i="0">
                <a:solidFill>
                  <a:srgbClr val="103F77"/>
                </a:solidFill>
                <a:latin typeface="Calibri"/>
              </a:rPr>
              <a:t>USD 41,060 M</a:t>
            </a:r>
          </a:p>
          <a:p>
            <a:pPr algn="l">
              <a:spcAft>
                <a:spcPts val="400"/>
              </a:spcAft>
            </a:pPr>
            <a:r>
              <a:rPr sz="1300" b="0" i="0">
                <a:solidFill>
                  <a:srgbClr val="4B5563"/>
                </a:solidFill>
                <a:latin typeface="Calibri"/>
              </a:rPr>
              <a:t>proyectados para 2030</a:t>
            </a:r>
          </a:p>
        </p:txBody>
      </p:sp>
      <p:sp>
        <p:nvSpPr>
          <p:cNvPr id="11" name="Rounded Rectangle 10"/>
          <p:cNvSpPr/>
          <p:nvPr/>
        </p:nvSpPr>
        <p:spPr>
          <a:xfrm>
            <a:off x="548640" y="3703320"/>
            <a:ext cx="5486400" cy="214884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76472"/>
            <a:ext cx="5212080" cy="2002536"/>
          </a:xfrm>
          <a:prstGeom prst="rect">
            <a:avLst/>
          </a:prstGeom>
          <a:noFill/>
        </p:spPr>
        <p:txBody>
          <a:bodyPr wrap="square" anchor="t" lIns="36576" rIns="36576" tIns="36576" bIns="36576">
            <a:spAutoFit/>
          </a:bodyPr>
          <a:lstStyle/>
          <a:p>
            <a:pPr algn="l">
              <a:spcAft>
                <a:spcPts val="500"/>
              </a:spcAft>
            </a:pPr>
            <a:r>
              <a:rPr sz="1600" b="1" i="0">
                <a:solidFill>
                  <a:srgbClr val="A71C21"/>
                </a:solidFill>
                <a:latin typeface="Calibri"/>
              </a:rPr>
              <a:t>En Ecuador</a:t>
            </a:r>
          </a:p>
          <a:p>
            <a:pPr algn="l" marL="228600" indent="-182880">
              <a:spcAft>
                <a:spcPts val="300"/>
              </a:spcAft>
              <a:buChar char="•"/>
            </a:pPr>
            <a:r>
              <a:rPr sz="1400" b="1" i="0">
                <a:solidFill>
                  <a:srgbClr val="1F2937"/>
                </a:solidFill>
                <a:latin typeface="Calibri"/>
              </a:rPr>
              <a:t>4.6 millones</a:t>
            </a:r>
            <a:r>
              <a:rPr sz="1400" b="0" i="0">
                <a:solidFill>
                  <a:srgbClr val="1F2937"/>
                </a:solidFill>
                <a:latin typeface="Calibri"/>
              </a:rPr>
              <a:t> de tarjetas de crédito activas en 2025</a:t>
            </a:r>
          </a:p>
          <a:p>
            <a:pPr algn="l" marL="228600" indent="-182880">
              <a:spcAft>
                <a:spcPts val="300"/>
              </a:spcAft>
              <a:buChar char="•"/>
            </a:pPr>
            <a:r>
              <a:rPr sz="1400" b="1" i="0">
                <a:solidFill>
                  <a:srgbClr val="1F2937"/>
                </a:solidFill>
                <a:latin typeface="Calibri"/>
              </a:rPr>
              <a:t>117.6 millones</a:t>
            </a:r>
            <a:r>
              <a:rPr sz="1400" b="0" i="0">
                <a:solidFill>
                  <a:srgbClr val="1F2937"/>
                </a:solidFill>
                <a:latin typeface="Calibri"/>
              </a:rPr>
              <a:t> de operaciones por USD 21,464 millones</a:t>
            </a:r>
          </a:p>
          <a:p>
            <a:pPr algn="l" marL="228600" indent="-182880">
              <a:spcAft>
                <a:spcPts val="300"/>
              </a:spcAft>
              <a:buChar char="•"/>
            </a:pPr>
            <a:r>
              <a:rPr sz="1400" b="1" i="0">
                <a:solidFill>
                  <a:srgbClr val="1F2937"/>
                </a:solidFill>
                <a:latin typeface="Calibri"/>
              </a:rPr>
              <a:t>273 casos</a:t>
            </a:r>
            <a:r>
              <a:rPr sz="1400" b="0" i="0">
                <a:solidFill>
                  <a:srgbClr val="1F2937"/>
                </a:solidFill>
                <a:latin typeface="Calibri"/>
              </a:rPr>
              <a:t> de fraude con tarjeta investigados por la Superintendencia de Bancos (ene–jul 2025); en el 73% el cliente entregó sus datos</a:t>
            </a:r>
          </a:p>
        </p:txBody>
      </p:sp>
      <p:sp>
        <p:nvSpPr>
          <p:cNvPr id="13" name="Rounded Rectangle 12"/>
          <p:cNvSpPr/>
          <p:nvPr/>
        </p:nvSpPr>
        <p:spPr>
          <a:xfrm>
            <a:off x="6172200" y="3703320"/>
            <a:ext cx="5486400" cy="214884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3776472"/>
            <a:ext cx="5212080" cy="2002536"/>
          </a:xfrm>
          <a:prstGeom prst="rect">
            <a:avLst/>
          </a:prstGeom>
          <a:noFill/>
        </p:spPr>
        <p:txBody>
          <a:bodyPr wrap="square" anchor="t" lIns="36576" rIns="36576" tIns="36576" bIns="36576">
            <a:spAutoFit/>
          </a:bodyPr>
          <a:lstStyle/>
          <a:p>
            <a:pPr algn="l">
              <a:spcAft>
                <a:spcPts val="500"/>
              </a:spcAft>
            </a:pPr>
            <a:r>
              <a:rPr sz="1600" b="1" i="0">
                <a:solidFill>
                  <a:srgbClr val="103F77"/>
                </a:solidFill>
                <a:latin typeface="Calibri"/>
              </a:rPr>
              <a:t>¿Por qué es difícil?</a:t>
            </a:r>
          </a:p>
          <a:p>
            <a:pPr algn="l" marL="228600" indent="-182880">
              <a:spcAft>
                <a:spcPts val="300"/>
              </a:spcAft>
              <a:buChar char="•"/>
            </a:pPr>
            <a:r>
              <a:rPr sz="1400" b="0" i="0">
                <a:solidFill>
                  <a:srgbClr val="1F2937"/>
                </a:solidFill>
                <a:latin typeface="Calibri"/>
              </a:rPr>
              <a:t>Muy pocas transacciones son fraude: </a:t>
            </a:r>
            <a:r>
              <a:rPr sz="1400" b="1" i="0">
                <a:solidFill>
                  <a:srgbClr val="1F2937"/>
                </a:solidFill>
                <a:latin typeface="Calibri"/>
              </a:rPr>
              <a:t>revisarlas todas es imposible</a:t>
            </a:r>
          </a:p>
          <a:p>
            <a:pPr algn="l" marL="228600" indent="-182880">
              <a:spcAft>
                <a:spcPts val="300"/>
              </a:spcAft>
              <a:buChar char="•"/>
            </a:pPr>
            <a:r>
              <a:rPr sz="1400" b="0" i="0">
                <a:solidFill>
                  <a:srgbClr val="1F2937"/>
                </a:solidFill>
                <a:latin typeface="Calibri"/>
              </a:rPr>
              <a:t>Un fraude no detectado es dinero perdido</a:t>
            </a:r>
          </a:p>
          <a:p>
            <a:pPr algn="l" marL="228600" indent="-182880">
              <a:spcAft>
                <a:spcPts val="300"/>
              </a:spcAft>
              <a:buChar char="•"/>
            </a:pPr>
            <a:r>
              <a:rPr sz="1400" b="0" i="0">
                <a:solidFill>
                  <a:srgbClr val="1F2937"/>
                </a:solidFill>
                <a:latin typeface="Calibri"/>
              </a:rPr>
              <a:t>Una falsa alarma bloquea al cliente legítimo y consume tiempo de revisión</a:t>
            </a:r>
          </a:p>
        </p:txBody>
      </p:sp>
      <p:sp>
        <p:nvSpPr>
          <p:cNvPr id="15" name="TextBox 14"/>
          <p:cNvSpPr txBox="1"/>
          <p:nvPr/>
        </p:nvSpPr>
        <p:spPr>
          <a:xfrm>
            <a:off x="548640" y="5870448"/>
            <a:ext cx="10058400" cy="274320"/>
          </a:xfrm>
          <a:prstGeom prst="rect">
            <a:avLst/>
          </a:prstGeom>
          <a:noFill/>
        </p:spPr>
        <p:txBody>
          <a:bodyPr wrap="square" anchor="t" lIns="18288" rIns="18288" tIns="18288" bIns="18288">
            <a:spAutoFit/>
          </a:bodyPr>
          <a:lstStyle/>
          <a:p>
            <a:pPr algn="l">
              <a:spcAft>
                <a:spcPts val="400"/>
              </a:spcAft>
            </a:pPr>
            <a:r>
              <a:rPr sz="1000" b="0" i="0">
                <a:solidFill>
                  <a:srgbClr val="4B5563"/>
                </a:solidFill>
                <a:latin typeface="Calibri"/>
              </a:rPr>
              <a:t>Fuentes: Nilson Report (2026); Primicias y Expreso con datos de la Superintendencia de Bancos (2025).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EL CASO</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Priorizar el riesgo cuando el fraude es escaso</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3</a:t>
            </a:r>
          </a:p>
        </p:txBody>
      </p:sp>
      <p:sp>
        <p:nvSpPr>
          <p:cNvPr id="5" name="TextBox 4"/>
          <p:cNvSpPr txBox="1"/>
          <p:nvPr/>
        </p:nvSpPr>
        <p:spPr>
          <a:xfrm>
            <a:off x="548640" y="2148840"/>
            <a:ext cx="5120640" cy="3291840"/>
          </a:xfrm>
          <a:prstGeom prst="rect">
            <a:avLst/>
          </a:prstGeom>
          <a:noFill/>
        </p:spPr>
        <p:txBody>
          <a:bodyPr wrap="square" anchor="ctr" lIns="73152" rIns="73152" tIns="73152" bIns="73152">
            <a:spAutoFit/>
          </a:bodyPr>
          <a:lstStyle/>
          <a:p>
            <a:pPr algn="l">
              <a:spcAft>
                <a:spcPts val="1400"/>
              </a:spcAft>
            </a:pPr>
            <a:r>
              <a:rPr sz="2200" b="0" i="0">
                <a:solidFill>
                  <a:srgbClr val="103F77"/>
                </a:solidFill>
                <a:latin typeface="Calibri"/>
              </a:rPr>
              <a:t>Una entidad financiera necesita </a:t>
            </a:r>
            <a:r>
              <a:rPr sz="2200" b="1" i="0">
                <a:solidFill>
                  <a:srgbClr val="103F77"/>
                </a:solidFill>
                <a:latin typeface="Calibri"/>
              </a:rPr>
              <a:t>ordenar sus transacciones por riesgo</a:t>
            </a:r>
            <a:r>
              <a:rPr sz="2200" b="0" i="0">
                <a:solidFill>
                  <a:srgbClr val="103F77"/>
                </a:solidFill>
                <a:latin typeface="Calibri"/>
              </a:rPr>
              <a:t> para que el equipo antifraude revise primero las más sospechosas.</a:t>
            </a:r>
          </a:p>
          <a:p>
            <a:pPr algn="l">
              <a:spcAft>
                <a:spcPts val="400"/>
              </a:spcAft>
            </a:pPr>
            <a:r>
              <a:rPr sz="1700" b="0" i="0">
                <a:solidFill>
                  <a:srgbClr val="4B5563"/>
                </a:solidFill>
                <a:latin typeface="Calibri"/>
              </a:rPr>
              <a:t>El modelo debe concentrar los fraudes en una lista corta de alertas.</a:t>
            </a:r>
          </a:p>
        </p:txBody>
      </p:sp>
      <p:sp>
        <p:nvSpPr>
          <p:cNvPr id="6" name="Rounded Rectangle 5"/>
          <p:cNvSpPr/>
          <p:nvPr/>
        </p:nvSpPr>
        <p:spPr>
          <a:xfrm>
            <a:off x="6126480" y="2011680"/>
            <a:ext cx="5532120" cy="1207008"/>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2103120"/>
            <a:ext cx="5212080" cy="1051560"/>
          </a:xfrm>
          <a:prstGeom prst="rect">
            <a:avLst/>
          </a:prstGeom>
          <a:noFill/>
        </p:spPr>
        <p:txBody>
          <a:bodyPr wrap="square" anchor="t" lIns="73152" rIns="73152" tIns="73152" bIns="73152">
            <a:spAutoFit/>
          </a:bodyPr>
          <a:lstStyle/>
          <a:p>
            <a:pPr algn="l">
              <a:spcAft>
                <a:spcPts val="300"/>
              </a:spcAft>
            </a:pPr>
            <a:r>
              <a:rPr sz="1700" b="1" i="0">
                <a:solidFill>
                  <a:srgbClr val="286099"/>
                </a:solidFill>
                <a:latin typeface="Calibri"/>
              </a:rPr>
              <a:t>Objetivo</a:t>
            </a:r>
          </a:p>
          <a:p>
            <a:pPr algn="l">
              <a:spcAft>
                <a:spcPts val="400"/>
              </a:spcAft>
            </a:pPr>
            <a:r>
              <a:rPr sz="1500" b="0" i="0">
                <a:solidFill>
                  <a:srgbClr val="1F2937"/>
                </a:solidFill>
                <a:latin typeface="Calibri"/>
              </a:rPr>
              <a:t>Predecir fraud (1 = fraude, 0 = legítima) comparando al menos cuatro modelos de clasificación.</a:t>
            </a:r>
          </a:p>
        </p:txBody>
      </p:sp>
      <p:sp>
        <p:nvSpPr>
          <p:cNvPr id="8" name="Rounded Rectangle 7"/>
          <p:cNvSpPr/>
          <p:nvPr/>
        </p:nvSpPr>
        <p:spPr>
          <a:xfrm>
            <a:off x="6126480" y="3383280"/>
            <a:ext cx="5532120" cy="1207008"/>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3474720"/>
            <a:ext cx="5212080" cy="1051560"/>
          </a:xfrm>
          <a:prstGeom prst="rect">
            <a:avLst/>
          </a:prstGeom>
          <a:noFill/>
        </p:spPr>
        <p:txBody>
          <a:bodyPr wrap="square" anchor="t" lIns="73152" rIns="73152" tIns="73152" bIns="73152">
            <a:spAutoFit/>
          </a:bodyPr>
          <a:lstStyle/>
          <a:p>
            <a:pPr algn="l">
              <a:spcAft>
                <a:spcPts val="300"/>
              </a:spcAft>
            </a:pPr>
            <a:r>
              <a:rPr sz="1700" b="1" i="0">
                <a:solidFill>
                  <a:srgbClr val="286099"/>
                </a:solidFill>
                <a:latin typeface="Calibri"/>
              </a:rPr>
              <a:t>Condiciones</a:t>
            </a:r>
          </a:p>
          <a:p>
            <a:pPr algn="l">
              <a:spcAft>
                <a:spcPts val="400"/>
              </a:spcAft>
            </a:pPr>
            <a:r>
              <a:rPr sz="1500" b="0" i="0">
                <a:solidFill>
                  <a:srgbClr val="1F2937"/>
                </a:solidFill>
                <a:latin typeface="Calibri"/>
              </a:rPr>
              <a:t>Controlar el desbalance, evitar la fuga de información y aislar el test hasta el final.</a:t>
            </a:r>
          </a:p>
        </p:txBody>
      </p:sp>
      <p:sp>
        <p:nvSpPr>
          <p:cNvPr id="10" name="Rounded Rectangle 9"/>
          <p:cNvSpPr/>
          <p:nvPr/>
        </p:nvSpPr>
        <p:spPr>
          <a:xfrm>
            <a:off x="6126480" y="4754880"/>
            <a:ext cx="5532120" cy="1207008"/>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4846320"/>
            <a:ext cx="5212080" cy="1051560"/>
          </a:xfrm>
          <a:prstGeom prst="rect">
            <a:avLst/>
          </a:prstGeom>
          <a:noFill/>
        </p:spPr>
        <p:txBody>
          <a:bodyPr wrap="square" anchor="t" lIns="73152" rIns="73152" tIns="73152" bIns="73152">
            <a:spAutoFit/>
          </a:bodyPr>
          <a:lstStyle/>
          <a:p>
            <a:pPr algn="l">
              <a:spcAft>
                <a:spcPts val="300"/>
              </a:spcAft>
            </a:pPr>
            <a:r>
              <a:rPr sz="1700" b="1" i="0">
                <a:solidFill>
                  <a:srgbClr val="286099"/>
                </a:solidFill>
                <a:latin typeface="Calibri"/>
              </a:rPr>
              <a:t>Equilibrio</a:t>
            </a:r>
          </a:p>
          <a:p>
            <a:pPr algn="l">
              <a:spcAft>
                <a:spcPts val="400"/>
              </a:spcAft>
            </a:pPr>
            <a:r>
              <a:rPr sz="1500" b="0" i="0">
                <a:solidFill>
                  <a:srgbClr val="1F2937"/>
                </a:solidFill>
                <a:latin typeface="Calibri"/>
              </a:rPr>
              <a:t>Minimizar los fraudes no detectados sin generar demasiadas falsas alarmas.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DICCIONARIO DE DATOS</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Las 20 variables del conjunto (1/2)</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4</a:t>
            </a:r>
          </a:p>
        </p:txBody>
      </p:sp>
      <p:graphicFrame>
        <p:nvGraphicFramePr>
          <p:cNvPr id="5" name="Table 4"/>
          <p:cNvGraphicFramePr>
            <a:graphicFrameLocks noGrp="1"/>
          </p:cNvGraphicFramePr>
          <p:nvPr/>
        </p:nvGraphicFramePr>
        <p:xfrm>
          <a:off x="548640" y="1920240"/>
          <a:ext cx="11109960" cy="4123944"/>
        </p:xfrm>
        <a:graphic>
          <a:graphicData uri="http://schemas.openxmlformats.org/drawingml/2006/table">
            <a:tbl>
              <a:tblPr firstRow="1" bandRow="1">
                <a:tableStyleId>{5C22544A-7EE6-4342-B048-85BDC9FD1C3A}</a:tableStyleId>
              </a:tblPr>
              <a:tblGrid>
                <a:gridCol w="2560320"/>
                <a:gridCol w="1463040"/>
                <a:gridCol w="4709160"/>
                <a:gridCol w="2377440"/>
              </a:tblGrid>
              <a:tr h="374904">
                <a:tc>
                  <a:txBody>
                    <a:bodyPr/>
                    <a:lstStyle/>
                    <a:p>
                      <a:pPr algn="l"/>
                      <a:r>
                        <a:rPr sz="1400" b="1">
                          <a:solidFill>
                            <a:srgbClr val="FFFFFF"/>
                          </a:solidFill>
                          <a:latin typeface="Calibri"/>
                        </a:rPr>
                        <a:t>Variable</a:t>
                      </a:r>
                    </a:p>
                  </a:txBody>
                  <a:tcPr marL="64008" marR="64008" marT="27432" marB="27432" anchor="ctr">
                    <a:solidFill>
                      <a:srgbClr val="103F77"/>
                    </a:solidFill>
                  </a:tcPr>
                </a:tc>
                <a:tc>
                  <a:txBody>
                    <a:bodyPr/>
                    <a:lstStyle/>
                    <a:p>
                      <a:pPr algn="ctr"/>
                      <a:r>
                        <a:rPr sz="1400" b="1">
                          <a:solidFill>
                            <a:srgbClr val="FFFFFF"/>
                          </a:solidFill>
                          <a:latin typeface="Calibri"/>
                        </a:rPr>
                        <a:t>Tipo</a:t>
                      </a:r>
                    </a:p>
                  </a:txBody>
                  <a:tcPr marL="64008" marR="64008" marT="27432" marB="27432" anchor="ctr">
                    <a:solidFill>
                      <a:srgbClr val="103F77"/>
                    </a:solidFill>
                  </a:tcPr>
                </a:tc>
                <a:tc>
                  <a:txBody>
                    <a:bodyPr/>
                    <a:lstStyle/>
                    <a:p>
                      <a:pPr algn="l"/>
                      <a:r>
                        <a:rPr sz="1400" b="1">
                          <a:solidFill>
                            <a:srgbClr val="FFFFFF"/>
                          </a:solidFill>
                          <a:latin typeface="Calibri"/>
                        </a:rPr>
                        <a:t>Descripción</a:t>
                      </a:r>
                    </a:p>
                  </a:txBody>
                  <a:tcPr marL="64008" marR="64008" marT="27432" marB="27432" anchor="ctr">
                    <a:solidFill>
                      <a:srgbClr val="103F77"/>
                    </a:solidFill>
                  </a:tcPr>
                </a:tc>
                <a:tc>
                  <a:txBody>
                    <a:bodyPr/>
                    <a:lstStyle/>
                    <a:p>
                      <a:pPr algn="ctr"/>
                      <a:r>
                        <a:rPr sz="1400" b="1">
                          <a:solidFill>
                            <a:srgbClr val="FFFFFF"/>
                          </a:solidFill>
                          <a:latin typeface="Calibri"/>
                        </a:rPr>
                        <a:t>Uso en el modelo</a:t>
                      </a:r>
                    </a:p>
                  </a:txBody>
                  <a:tcPr marL="64008" marR="64008" marT="27432" marB="27432" anchor="ctr">
                    <a:solidFill>
                      <a:srgbClr val="103F77"/>
                    </a:solidFill>
                  </a:tcPr>
                </a:tc>
              </a:tr>
              <a:tr h="374904">
                <a:tc>
                  <a:txBody>
                    <a:bodyPr/>
                    <a:lstStyle/>
                    <a:p>
                      <a:pPr algn="l"/>
                      <a:r>
                        <a:rPr sz="1400" b="0">
                          <a:solidFill>
                            <a:srgbClr val="1F2937"/>
                          </a:solidFill>
                          <a:latin typeface="Calibri"/>
                        </a:rPr>
                        <a:t>transaction_id</a:t>
                      </a:r>
                    </a:p>
                  </a:txBody>
                  <a:tcPr marL="64008" marR="64008" marT="27432" marB="27432" anchor="ctr">
                    <a:solidFill>
                      <a:srgbClr val="FFFFFF"/>
                    </a:solidFill>
                  </a:tcPr>
                </a:tc>
                <a:tc>
                  <a:txBody>
                    <a:bodyPr/>
                    <a:lstStyle/>
                    <a:p>
                      <a:pPr algn="ctr"/>
                      <a:r>
                        <a:rPr sz="1400" b="0">
                          <a:solidFill>
                            <a:srgbClr val="1F2937"/>
                          </a:solidFill>
                          <a:latin typeface="Calibri"/>
                        </a:rPr>
                        <a:t>Texto</a:t>
                      </a:r>
                    </a:p>
                  </a:txBody>
                  <a:tcPr marL="64008" marR="64008" marT="27432" marB="27432" anchor="ctr">
                    <a:solidFill>
                      <a:srgbClr val="FFFFFF"/>
                    </a:solidFill>
                  </a:tcPr>
                </a:tc>
                <a:tc>
                  <a:txBody>
                    <a:bodyPr/>
                    <a:lstStyle/>
                    <a:p>
                      <a:pPr algn="l"/>
                      <a:r>
                        <a:rPr sz="1400" b="0">
                          <a:solidFill>
                            <a:srgbClr val="1F2937"/>
                          </a:solidFill>
                          <a:latin typeface="Calibri"/>
                        </a:rPr>
                        <a:t>Identificador único de la transacción</a:t>
                      </a:r>
                    </a:p>
                  </a:txBody>
                  <a:tcPr marL="64008" marR="64008" marT="27432" marB="27432" anchor="ctr">
                    <a:solidFill>
                      <a:srgbClr val="FFFFFF"/>
                    </a:solidFill>
                  </a:tcPr>
                </a:tc>
                <a:tc>
                  <a:txBody>
                    <a:bodyPr/>
                    <a:lstStyle/>
                    <a:p>
                      <a:pPr algn="ctr"/>
                      <a:r>
                        <a:rPr sz="1400" b="0">
                          <a:solidFill>
                            <a:srgbClr val="1F2937"/>
                          </a:solidFill>
                          <a:latin typeface="Calibri"/>
                        </a:rPr>
                        <a:t>Excluida (ID)</a:t>
                      </a:r>
                    </a:p>
                  </a:txBody>
                  <a:tcPr marL="64008" marR="64008" marT="27432" marB="27432" anchor="ctr">
                    <a:solidFill>
                      <a:srgbClr val="FFFFFF"/>
                    </a:solidFill>
                  </a:tcPr>
                </a:tc>
              </a:tr>
              <a:tr h="374904">
                <a:tc>
                  <a:txBody>
                    <a:bodyPr/>
                    <a:lstStyle/>
                    <a:p>
                      <a:pPr algn="l"/>
                      <a:r>
                        <a:rPr sz="1400" b="0">
                          <a:solidFill>
                            <a:srgbClr val="1F2937"/>
                          </a:solidFill>
                          <a:latin typeface="Calibri"/>
                        </a:rPr>
                        <a:t>customer_id</a:t>
                      </a:r>
                    </a:p>
                  </a:txBody>
                  <a:tcPr marL="64008" marR="64008" marT="27432" marB="27432" anchor="ctr">
                    <a:solidFill>
                      <a:srgbClr val="EEF3F9"/>
                    </a:solidFill>
                  </a:tcPr>
                </a:tc>
                <a:tc>
                  <a:txBody>
                    <a:bodyPr/>
                    <a:lstStyle/>
                    <a:p>
                      <a:pPr algn="ctr"/>
                      <a:r>
                        <a:rPr sz="1400" b="0">
                          <a:solidFill>
                            <a:srgbClr val="1F2937"/>
                          </a:solidFill>
                          <a:latin typeface="Calibri"/>
                        </a:rPr>
                        <a:t>Texto</a:t>
                      </a:r>
                    </a:p>
                  </a:txBody>
                  <a:tcPr marL="64008" marR="64008" marT="27432" marB="27432" anchor="ctr">
                    <a:solidFill>
                      <a:srgbClr val="EEF3F9"/>
                    </a:solidFill>
                  </a:tcPr>
                </a:tc>
                <a:tc>
                  <a:txBody>
                    <a:bodyPr/>
                    <a:lstStyle/>
                    <a:p>
                      <a:pPr algn="l"/>
                      <a:r>
                        <a:rPr sz="1400" b="0">
                          <a:solidFill>
                            <a:srgbClr val="1F2937"/>
                          </a:solidFill>
                          <a:latin typeface="Calibri"/>
                        </a:rPr>
                        <a:t>Identificador anonimizado del cliente</a:t>
                      </a:r>
                    </a:p>
                  </a:txBody>
                  <a:tcPr marL="64008" marR="64008" marT="27432" marB="27432" anchor="ctr">
                    <a:solidFill>
                      <a:srgbClr val="EEF3F9"/>
                    </a:solidFill>
                  </a:tcPr>
                </a:tc>
                <a:tc>
                  <a:txBody>
                    <a:bodyPr/>
                    <a:lstStyle/>
                    <a:p>
                      <a:pPr algn="ctr"/>
                      <a:r>
                        <a:rPr sz="1400" b="0">
                          <a:solidFill>
                            <a:srgbClr val="1F2937"/>
                          </a:solidFill>
                          <a:latin typeface="Calibri"/>
                        </a:rPr>
                        <a:t>Excluida (ID)</a:t>
                      </a:r>
                    </a:p>
                  </a:txBody>
                  <a:tcPr marL="64008" marR="64008" marT="27432" marB="27432" anchor="ctr">
                    <a:solidFill>
                      <a:srgbClr val="EEF3F9"/>
                    </a:solidFill>
                  </a:tcPr>
                </a:tc>
              </a:tr>
              <a:tr h="374904">
                <a:tc>
                  <a:txBody>
                    <a:bodyPr/>
                    <a:lstStyle/>
                    <a:p>
                      <a:pPr algn="l"/>
                      <a:r>
                        <a:rPr sz="1400" b="0">
                          <a:solidFill>
                            <a:srgbClr val="1F2937"/>
                          </a:solidFill>
                          <a:latin typeface="Calibri"/>
                        </a:rPr>
                        <a:t>amount_usd</a:t>
                      </a:r>
                    </a:p>
                  </a:txBody>
                  <a:tcPr marL="64008" marR="64008" marT="27432" marB="27432" anchor="ctr">
                    <a:solidFill>
                      <a:srgbClr val="FFFFFF"/>
                    </a:solidFill>
                  </a:tcPr>
                </a:tc>
                <a:tc>
                  <a:txBody>
                    <a:bodyPr/>
                    <a:lstStyle/>
                    <a:p>
                      <a:pPr algn="ctr"/>
                      <a:r>
                        <a:rPr sz="1400" b="0">
                          <a:solidFill>
                            <a:srgbClr val="1F2937"/>
                          </a:solidFill>
                          <a:latin typeface="Calibri"/>
                        </a:rPr>
                        <a:t>Numérica</a:t>
                      </a:r>
                    </a:p>
                  </a:txBody>
                  <a:tcPr marL="64008" marR="64008" marT="27432" marB="27432" anchor="ctr">
                    <a:solidFill>
                      <a:srgbClr val="FFFFFF"/>
                    </a:solidFill>
                  </a:tcPr>
                </a:tc>
                <a:tc>
                  <a:txBody>
                    <a:bodyPr/>
                    <a:lstStyle/>
                    <a:p>
                      <a:pPr algn="l"/>
                      <a:r>
                        <a:rPr sz="1400" b="0">
                          <a:solidFill>
                            <a:srgbClr val="1F2937"/>
                          </a:solidFill>
                          <a:latin typeface="Calibri"/>
                        </a:rPr>
                        <a:t>Monto de la transacción (USD 0.50 – 5,000)</a:t>
                      </a:r>
                    </a:p>
                  </a:txBody>
                  <a:tcPr marL="64008" marR="64008" marT="27432" marB="27432" anchor="ctr">
                    <a:solidFill>
                      <a:srgbClr val="FFFFFF"/>
                    </a:solidFill>
                  </a:tcPr>
                </a:tc>
                <a:tc>
                  <a:txBody>
                    <a:bodyPr/>
                    <a:lstStyle/>
                    <a:p>
                      <a:pPr algn="ctr"/>
                      <a:r>
                        <a:rPr sz="1400" b="0">
                          <a:solidFill>
                            <a:srgbClr val="1F2937"/>
                          </a:solidFill>
                          <a:latin typeface="Calibri"/>
                        </a:rPr>
                        <a:t>Predictora</a:t>
                      </a:r>
                    </a:p>
                  </a:txBody>
                  <a:tcPr marL="64008" marR="64008" marT="27432" marB="27432" anchor="ctr">
                    <a:solidFill>
                      <a:srgbClr val="FFFFFF"/>
                    </a:solidFill>
                  </a:tcPr>
                </a:tc>
              </a:tr>
              <a:tr h="374904">
                <a:tc>
                  <a:txBody>
                    <a:bodyPr/>
                    <a:lstStyle/>
                    <a:p>
                      <a:pPr algn="l"/>
                      <a:r>
                        <a:rPr sz="1400" b="0">
                          <a:solidFill>
                            <a:srgbClr val="1F2937"/>
                          </a:solidFill>
                          <a:latin typeface="Calibri"/>
                        </a:rPr>
                        <a:t>hour</a:t>
                      </a:r>
                    </a:p>
                  </a:txBody>
                  <a:tcPr marL="64008" marR="64008" marT="27432" marB="27432" anchor="ctr">
                    <a:solidFill>
                      <a:srgbClr val="EEF3F9"/>
                    </a:solidFill>
                  </a:tcPr>
                </a:tc>
                <a:tc>
                  <a:txBody>
                    <a:bodyPr/>
                    <a:lstStyle/>
                    <a:p>
                      <a:pPr algn="ctr"/>
                      <a:r>
                        <a:rPr sz="1400" b="0">
                          <a:solidFill>
                            <a:srgbClr val="1F2937"/>
                          </a:solidFill>
                          <a:latin typeface="Calibri"/>
                        </a:rPr>
                        <a:t>Discreta</a:t>
                      </a:r>
                    </a:p>
                  </a:txBody>
                  <a:tcPr marL="64008" marR="64008" marT="27432" marB="27432" anchor="ctr">
                    <a:solidFill>
                      <a:srgbClr val="EEF3F9"/>
                    </a:solidFill>
                  </a:tcPr>
                </a:tc>
                <a:tc>
                  <a:txBody>
                    <a:bodyPr/>
                    <a:lstStyle/>
                    <a:p>
                      <a:pPr algn="l"/>
                      <a:r>
                        <a:rPr sz="1400" b="0">
                          <a:solidFill>
                            <a:srgbClr val="1F2937"/>
                          </a:solidFill>
                          <a:latin typeface="Calibri"/>
                        </a:rPr>
                        <a:t>Hora de la transacción (0 – 23)</a:t>
                      </a:r>
                    </a:p>
                  </a:txBody>
                  <a:tcPr marL="64008" marR="64008" marT="27432" marB="27432" anchor="ctr">
                    <a:solidFill>
                      <a:srgbClr val="EEF3F9"/>
                    </a:solidFill>
                  </a:tcPr>
                </a:tc>
                <a:tc>
                  <a:txBody>
                    <a:bodyPr/>
                    <a:lstStyle/>
                    <a:p>
                      <a:pPr algn="ctr"/>
                      <a:r>
                        <a:rPr sz="1400" b="0">
                          <a:solidFill>
                            <a:srgbClr val="1F2937"/>
                          </a:solidFill>
                          <a:latin typeface="Calibri"/>
                        </a:rPr>
                        <a:t>Predictora</a:t>
                      </a:r>
                    </a:p>
                  </a:txBody>
                  <a:tcPr marL="64008" marR="64008" marT="27432" marB="27432" anchor="ctr">
                    <a:solidFill>
                      <a:srgbClr val="EEF3F9"/>
                    </a:solidFill>
                  </a:tcPr>
                </a:tc>
              </a:tr>
              <a:tr h="374904">
                <a:tc>
                  <a:txBody>
                    <a:bodyPr/>
                    <a:lstStyle/>
                    <a:p>
                      <a:pPr algn="l"/>
                      <a:r>
                        <a:rPr sz="1400" b="0">
                          <a:solidFill>
                            <a:srgbClr val="1F2937"/>
                          </a:solidFill>
                          <a:latin typeface="Calibri"/>
                        </a:rPr>
                        <a:t>day_of_week</a:t>
                      </a:r>
                    </a:p>
                  </a:txBody>
                  <a:tcPr marL="64008" marR="64008" marT="27432" marB="27432" anchor="ctr">
                    <a:solidFill>
                      <a:srgbClr val="FFFFFF"/>
                    </a:solidFill>
                  </a:tcPr>
                </a:tc>
                <a:tc>
                  <a:txBody>
                    <a:bodyPr/>
                    <a:lstStyle/>
                    <a:p>
                      <a:pPr algn="ctr"/>
                      <a:r>
                        <a:rPr sz="1400" b="0">
                          <a:solidFill>
                            <a:srgbClr val="1F2937"/>
                          </a:solidFill>
                          <a:latin typeface="Calibri"/>
                        </a:rPr>
                        <a:t>Discreta</a:t>
                      </a:r>
                    </a:p>
                  </a:txBody>
                  <a:tcPr marL="64008" marR="64008" marT="27432" marB="27432" anchor="ctr">
                    <a:solidFill>
                      <a:srgbClr val="FFFFFF"/>
                    </a:solidFill>
                  </a:tcPr>
                </a:tc>
                <a:tc>
                  <a:txBody>
                    <a:bodyPr/>
                    <a:lstStyle/>
                    <a:p>
                      <a:pPr algn="l"/>
                      <a:r>
                        <a:rPr sz="1400" b="0">
                          <a:solidFill>
                            <a:srgbClr val="1F2937"/>
                          </a:solidFill>
                          <a:latin typeface="Calibri"/>
                        </a:rPr>
                        <a:t>Día de la semana (0 – 6)</a:t>
                      </a:r>
                    </a:p>
                  </a:txBody>
                  <a:tcPr marL="64008" marR="64008" marT="27432" marB="27432" anchor="ctr">
                    <a:solidFill>
                      <a:srgbClr val="FFFFFF"/>
                    </a:solidFill>
                  </a:tcPr>
                </a:tc>
                <a:tc>
                  <a:txBody>
                    <a:bodyPr/>
                    <a:lstStyle/>
                    <a:p>
                      <a:pPr algn="ctr"/>
                      <a:r>
                        <a:rPr sz="1400" b="0">
                          <a:solidFill>
                            <a:srgbClr val="1F2937"/>
                          </a:solidFill>
                          <a:latin typeface="Calibri"/>
                        </a:rPr>
                        <a:t>Predictora</a:t>
                      </a:r>
                    </a:p>
                  </a:txBody>
                  <a:tcPr marL="64008" marR="64008" marT="27432" marB="27432" anchor="ctr">
                    <a:solidFill>
                      <a:srgbClr val="FFFFFF"/>
                    </a:solidFill>
                  </a:tcPr>
                </a:tc>
              </a:tr>
              <a:tr h="374904">
                <a:tc>
                  <a:txBody>
                    <a:bodyPr/>
                    <a:lstStyle/>
                    <a:p>
                      <a:pPr algn="l"/>
                      <a:r>
                        <a:rPr sz="1400" b="0">
                          <a:solidFill>
                            <a:srgbClr val="1F2937"/>
                          </a:solidFill>
                          <a:latin typeface="Calibri"/>
                        </a:rPr>
                        <a:t>channel</a:t>
                      </a:r>
                    </a:p>
                  </a:txBody>
                  <a:tcPr marL="64008" marR="64008" marT="27432" marB="27432" anchor="ctr">
                    <a:solidFill>
                      <a:srgbClr val="EEF3F9"/>
                    </a:solidFill>
                  </a:tcPr>
                </a:tc>
                <a:tc>
                  <a:txBody>
                    <a:bodyPr/>
                    <a:lstStyle/>
                    <a:p>
                      <a:pPr algn="ctr"/>
                      <a:r>
                        <a:rPr sz="1400" b="0">
                          <a:solidFill>
                            <a:srgbClr val="1F2937"/>
                          </a:solidFill>
                          <a:latin typeface="Calibri"/>
                        </a:rPr>
                        <a:t>Categórica</a:t>
                      </a:r>
                    </a:p>
                  </a:txBody>
                  <a:tcPr marL="64008" marR="64008" marT="27432" marB="27432" anchor="ctr">
                    <a:solidFill>
                      <a:srgbClr val="EEF3F9"/>
                    </a:solidFill>
                  </a:tcPr>
                </a:tc>
                <a:tc>
                  <a:txBody>
                    <a:bodyPr/>
                    <a:lstStyle/>
                    <a:p>
                      <a:pPr algn="l"/>
                      <a:r>
                        <a:rPr sz="1400" b="0">
                          <a:solidFill>
                            <a:srgbClr val="1F2937"/>
                          </a:solidFill>
                          <a:latin typeface="Calibri"/>
                        </a:rPr>
                        <a:t>Canal: POS, WEB, APP o ATM</a:t>
                      </a:r>
                    </a:p>
                  </a:txBody>
                  <a:tcPr marL="64008" marR="64008" marT="27432" marB="27432" anchor="ctr">
                    <a:solidFill>
                      <a:srgbClr val="EEF3F9"/>
                    </a:solidFill>
                  </a:tcPr>
                </a:tc>
                <a:tc>
                  <a:txBody>
                    <a:bodyPr/>
                    <a:lstStyle/>
                    <a:p>
                      <a:pPr algn="ctr"/>
                      <a:r>
                        <a:rPr sz="1400" b="0">
                          <a:solidFill>
                            <a:srgbClr val="1F2937"/>
                          </a:solidFill>
                          <a:latin typeface="Calibri"/>
                        </a:rPr>
                        <a:t>Predictora (One-Hot)</a:t>
                      </a:r>
                    </a:p>
                  </a:txBody>
                  <a:tcPr marL="64008" marR="64008" marT="27432" marB="27432" anchor="ctr">
                    <a:solidFill>
                      <a:srgbClr val="EEF3F9"/>
                    </a:solidFill>
                  </a:tcPr>
                </a:tc>
              </a:tr>
              <a:tr h="374904">
                <a:tc>
                  <a:txBody>
                    <a:bodyPr/>
                    <a:lstStyle/>
                    <a:p>
                      <a:pPr algn="l"/>
                      <a:r>
                        <a:rPr sz="1400" b="0">
                          <a:solidFill>
                            <a:srgbClr val="1F2937"/>
                          </a:solidFill>
                          <a:latin typeface="Calibri"/>
                        </a:rPr>
                        <a:t>merchant_category</a:t>
                      </a:r>
                    </a:p>
                  </a:txBody>
                  <a:tcPr marL="64008" marR="64008" marT="27432" marB="27432" anchor="ctr">
                    <a:solidFill>
                      <a:srgbClr val="FFFFFF"/>
                    </a:solidFill>
                  </a:tcPr>
                </a:tc>
                <a:tc>
                  <a:txBody>
                    <a:bodyPr/>
                    <a:lstStyle/>
                    <a:p>
                      <a:pPr algn="ctr"/>
                      <a:r>
                        <a:rPr sz="1400" b="0">
                          <a:solidFill>
                            <a:srgbClr val="1F2937"/>
                          </a:solidFill>
                          <a:latin typeface="Calibri"/>
                        </a:rPr>
                        <a:t>Categórica</a:t>
                      </a:r>
                    </a:p>
                  </a:txBody>
                  <a:tcPr marL="64008" marR="64008" marT="27432" marB="27432" anchor="ctr">
                    <a:solidFill>
                      <a:srgbClr val="FFFFFF"/>
                    </a:solidFill>
                  </a:tcPr>
                </a:tc>
                <a:tc>
                  <a:txBody>
                    <a:bodyPr/>
                    <a:lstStyle/>
                    <a:p>
                      <a:pPr algn="l"/>
                      <a:r>
                        <a:rPr sz="1400" b="0">
                          <a:solidFill>
                            <a:srgbClr val="1F2937"/>
                          </a:solidFill>
                          <a:latin typeface="Calibri"/>
                        </a:rPr>
                        <a:t>Categoría del comercio (8 valores)</a:t>
                      </a:r>
                    </a:p>
                  </a:txBody>
                  <a:tcPr marL="64008" marR="64008" marT="27432" marB="27432" anchor="ctr">
                    <a:solidFill>
                      <a:srgbClr val="FFFFFF"/>
                    </a:solidFill>
                  </a:tcPr>
                </a:tc>
                <a:tc>
                  <a:txBody>
                    <a:bodyPr/>
                    <a:lstStyle/>
                    <a:p>
                      <a:pPr algn="ctr"/>
                      <a:r>
                        <a:rPr sz="1400" b="0">
                          <a:solidFill>
                            <a:srgbClr val="1F2937"/>
                          </a:solidFill>
                          <a:latin typeface="Calibri"/>
                        </a:rPr>
                        <a:t>Predictora (One-Hot)</a:t>
                      </a:r>
                    </a:p>
                  </a:txBody>
                  <a:tcPr marL="64008" marR="64008" marT="27432" marB="27432" anchor="ctr">
                    <a:solidFill>
                      <a:srgbClr val="FFFFFF"/>
                    </a:solidFill>
                  </a:tcPr>
                </a:tc>
              </a:tr>
              <a:tr h="374904">
                <a:tc>
                  <a:txBody>
                    <a:bodyPr/>
                    <a:lstStyle/>
                    <a:p>
                      <a:pPr algn="l"/>
                      <a:r>
                        <a:rPr sz="1400" b="0">
                          <a:solidFill>
                            <a:srgbClr val="1F2937"/>
                          </a:solidFill>
                          <a:latin typeface="Calibri"/>
                        </a:rPr>
                        <a:t>country</a:t>
                      </a:r>
                    </a:p>
                  </a:txBody>
                  <a:tcPr marL="64008" marR="64008" marT="27432" marB="27432" anchor="ctr">
                    <a:solidFill>
                      <a:srgbClr val="EEF3F9"/>
                    </a:solidFill>
                  </a:tcPr>
                </a:tc>
                <a:tc>
                  <a:txBody>
                    <a:bodyPr/>
                    <a:lstStyle/>
                    <a:p>
                      <a:pPr algn="ctr"/>
                      <a:r>
                        <a:rPr sz="1400" b="0">
                          <a:solidFill>
                            <a:srgbClr val="1F2937"/>
                          </a:solidFill>
                          <a:latin typeface="Calibri"/>
                        </a:rPr>
                        <a:t>Categórica</a:t>
                      </a:r>
                    </a:p>
                  </a:txBody>
                  <a:tcPr marL="64008" marR="64008" marT="27432" marB="27432" anchor="ctr">
                    <a:solidFill>
                      <a:srgbClr val="EEF3F9"/>
                    </a:solidFill>
                  </a:tcPr>
                </a:tc>
                <a:tc>
                  <a:txBody>
                    <a:bodyPr/>
                    <a:lstStyle/>
                    <a:p>
                      <a:pPr algn="l"/>
                      <a:r>
                        <a:rPr sz="1400" b="0">
                          <a:solidFill>
                            <a:srgbClr val="1F2937"/>
                          </a:solidFill>
                          <a:latin typeface="Calibri"/>
                        </a:rPr>
                        <a:t>País de la operación (EC y otros 6)</a:t>
                      </a:r>
                    </a:p>
                  </a:txBody>
                  <a:tcPr marL="64008" marR="64008" marT="27432" marB="27432" anchor="ctr">
                    <a:solidFill>
                      <a:srgbClr val="EEF3F9"/>
                    </a:solidFill>
                  </a:tcPr>
                </a:tc>
                <a:tc>
                  <a:txBody>
                    <a:bodyPr/>
                    <a:lstStyle/>
                    <a:p>
                      <a:pPr algn="ctr"/>
                      <a:r>
                        <a:rPr sz="1400" b="0">
                          <a:solidFill>
                            <a:srgbClr val="1F2937"/>
                          </a:solidFill>
                          <a:latin typeface="Calibri"/>
                        </a:rPr>
                        <a:t>Predictora (One-Hot)</a:t>
                      </a:r>
                    </a:p>
                  </a:txBody>
                  <a:tcPr marL="64008" marR="64008" marT="27432" marB="27432" anchor="ctr">
                    <a:solidFill>
                      <a:srgbClr val="EEF3F9"/>
                    </a:solidFill>
                  </a:tcPr>
                </a:tc>
              </a:tr>
              <a:tr h="374904">
                <a:tc>
                  <a:txBody>
                    <a:bodyPr/>
                    <a:lstStyle/>
                    <a:p>
                      <a:pPr algn="l"/>
                      <a:r>
                        <a:rPr sz="1400" b="0">
                          <a:solidFill>
                            <a:srgbClr val="1F2937"/>
                          </a:solidFill>
                          <a:latin typeface="Calibri"/>
                        </a:rPr>
                        <a:t>device_type</a:t>
                      </a:r>
                    </a:p>
                  </a:txBody>
                  <a:tcPr marL="64008" marR="64008" marT="27432" marB="27432" anchor="ctr">
                    <a:solidFill>
                      <a:srgbClr val="FFFFFF"/>
                    </a:solidFill>
                  </a:tcPr>
                </a:tc>
                <a:tc>
                  <a:txBody>
                    <a:bodyPr/>
                    <a:lstStyle/>
                    <a:p>
                      <a:pPr algn="ctr"/>
                      <a:r>
                        <a:rPr sz="1400" b="0">
                          <a:solidFill>
                            <a:srgbClr val="1F2937"/>
                          </a:solidFill>
                          <a:latin typeface="Calibri"/>
                        </a:rPr>
                        <a:t>Categórica</a:t>
                      </a:r>
                    </a:p>
                  </a:txBody>
                  <a:tcPr marL="64008" marR="64008" marT="27432" marB="27432" anchor="ctr">
                    <a:solidFill>
                      <a:srgbClr val="FFFFFF"/>
                    </a:solidFill>
                  </a:tcPr>
                </a:tc>
                <a:tc>
                  <a:txBody>
                    <a:bodyPr/>
                    <a:lstStyle/>
                    <a:p>
                      <a:pPr algn="l"/>
                      <a:r>
                        <a:rPr sz="1400" b="0">
                          <a:solidFill>
                            <a:srgbClr val="1F2937"/>
                          </a:solidFill>
                          <a:latin typeface="Calibri"/>
                        </a:rPr>
                        <a:t>Tipo de dispositivo (5 valores)</a:t>
                      </a:r>
                    </a:p>
                  </a:txBody>
                  <a:tcPr marL="64008" marR="64008" marT="27432" marB="27432" anchor="ctr">
                    <a:solidFill>
                      <a:srgbClr val="FFFFFF"/>
                    </a:solidFill>
                  </a:tcPr>
                </a:tc>
                <a:tc>
                  <a:txBody>
                    <a:bodyPr/>
                    <a:lstStyle/>
                    <a:p>
                      <a:pPr algn="ctr"/>
                      <a:r>
                        <a:rPr sz="1400" b="0">
                          <a:solidFill>
                            <a:srgbClr val="1F2937"/>
                          </a:solidFill>
                          <a:latin typeface="Calibri"/>
                        </a:rPr>
                        <a:t>Predictora (One-Hot)</a:t>
                      </a:r>
                    </a:p>
                  </a:txBody>
                  <a:tcPr marL="64008" marR="64008" marT="27432" marB="27432" anchor="ctr">
                    <a:solidFill>
                      <a:srgbClr val="FFFFFF"/>
                    </a:solidFill>
                  </a:tcPr>
                </a:tc>
              </a:tr>
              <a:tr h="374904">
                <a:tc>
                  <a:txBody>
                    <a:bodyPr/>
                    <a:lstStyle/>
                    <a:p>
                      <a:pPr algn="l"/>
                      <a:r>
                        <a:rPr sz="1400" b="0">
                          <a:solidFill>
                            <a:srgbClr val="1F2937"/>
                          </a:solidFill>
                          <a:latin typeface="Calibri"/>
                        </a:rPr>
                        <a:t>is_international</a:t>
                      </a:r>
                    </a:p>
                  </a:txBody>
                  <a:tcPr marL="64008" marR="64008" marT="27432" marB="27432" anchor="ctr">
                    <a:solidFill>
                      <a:srgbClr val="EEF3F9"/>
                    </a:solidFill>
                  </a:tcPr>
                </a:tc>
                <a:tc>
                  <a:txBody>
                    <a:bodyPr/>
                    <a:lstStyle/>
                    <a:p>
                      <a:pPr algn="ctr"/>
                      <a:r>
                        <a:rPr sz="1400" b="0">
                          <a:solidFill>
                            <a:srgbClr val="1F2937"/>
                          </a:solidFill>
                          <a:latin typeface="Calibri"/>
                        </a:rPr>
                        <a:t>Binaria</a:t>
                      </a:r>
                    </a:p>
                  </a:txBody>
                  <a:tcPr marL="64008" marR="64008" marT="27432" marB="27432" anchor="ctr">
                    <a:solidFill>
                      <a:srgbClr val="EEF3F9"/>
                    </a:solidFill>
                  </a:tcPr>
                </a:tc>
                <a:tc>
                  <a:txBody>
                    <a:bodyPr/>
                    <a:lstStyle/>
                    <a:p>
                      <a:pPr algn="l"/>
                      <a:r>
                        <a:rPr sz="1400" b="0">
                          <a:solidFill>
                            <a:srgbClr val="1F2937"/>
                          </a:solidFill>
                          <a:latin typeface="Calibri"/>
                        </a:rPr>
                        <a:t>1 si la operación es fuera de Ecuador</a:t>
                      </a:r>
                    </a:p>
                  </a:txBody>
                  <a:tcPr marL="64008" marR="64008" marT="27432" marB="27432" anchor="ctr">
                    <a:solidFill>
                      <a:srgbClr val="EEF3F9"/>
                    </a:solidFill>
                  </a:tcPr>
                </a:tc>
                <a:tc>
                  <a:txBody>
                    <a:bodyPr/>
                    <a:lstStyle/>
                    <a:p>
                      <a:pPr algn="ctr"/>
                      <a:r>
                        <a:rPr sz="1400" b="0">
                          <a:solidFill>
                            <a:srgbClr val="1F2937"/>
                          </a:solidFill>
                          <a:latin typeface="Calibri"/>
                        </a:rPr>
                        <a:t>Excluida (redundante)</a:t>
                      </a:r>
                    </a:p>
                  </a:txBody>
                  <a:tcPr marL="64008" marR="64008" marT="27432" marB="27432" anchor="ctr">
                    <a:solidFill>
                      <a:srgbClr val="EEF3F9"/>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DICCIONARIO DE DATOS</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Las 20 variables del conjunto (2/2)</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5</a:t>
            </a:r>
          </a:p>
        </p:txBody>
      </p:sp>
      <p:graphicFrame>
        <p:nvGraphicFramePr>
          <p:cNvPr id="5" name="Table 4"/>
          <p:cNvGraphicFramePr>
            <a:graphicFrameLocks noGrp="1"/>
          </p:cNvGraphicFramePr>
          <p:nvPr/>
        </p:nvGraphicFramePr>
        <p:xfrm>
          <a:off x="548640" y="1920240"/>
          <a:ext cx="11109960" cy="4123944"/>
        </p:xfrm>
        <a:graphic>
          <a:graphicData uri="http://schemas.openxmlformats.org/drawingml/2006/table">
            <a:tbl>
              <a:tblPr firstRow="1" bandRow="1">
                <a:tableStyleId>{5C22544A-7EE6-4342-B048-85BDC9FD1C3A}</a:tableStyleId>
              </a:tblPr>
              <a:tblGrid>
                <a:gridCol w="2560320"/>
                <a:gridCol w="1463040"/>
                <a:gridCol w="4709160"/>
                <a:gridCol w="2377440"/>
              </a:tblGrid>
              <a:tr h="374904">
                <a:tc>
                  <a:txBody>
                    <a:bodyPr/>
                    <a:lstStyle/>
                    <a:p>
                      <a:pPr algn="l"/>
                      <a:r>
                        <a:rPr sz="1400" b="1">
                          <a:solidFill>
                            <a:srgbClr val="FFFFFF"/>
                          </a:solidFill>
                          <a:latin typeface="Calibri"/>
                        </a:rPr>
                        <a:t>Variable</a:t>
                      </a:r>
                    </a:p>
                  </a:txBody>
                  <a:tcPr marL="64008" marR="64008" marT="27432" marB="27432" anchor="ctr">
                    <a:solidFill>
                      <a:srgbClr val="103F77"/>
                    </a:solidFill>
                  </a:tcPr>
                </a:tc>
                <a:tc>
                  <a:txBody>
                    <a:bodyPr/>
                    <a:lstStyle/>
                    <a:p>
                      <a:pPr algn="ctr"/>
                      <a:r>
                        <a:rPr sz="1400" b="1">
                          <a:solidFill>
                            <a:srgbClr val="FFFFFF"/>
                          </a:solidFill>
                          <a:latin typeface="Calibri"/>
                        </a:rPr>
                        <a:t>Tipo</a:t>
                      </a:r>
                    </a:p>
                  </a:txBody>
                  <a:tcPr marL="64008" marR="64008" marT="27432" marB="27432" anchor="ctr">
                    <a:solidFill>
                      <a:srgbClr val="103F77"/>
                    </a:solidFill>
                  </a:tcPr>
                </a:tc>
                <a:tc>
                  <a:txBody>
                    <a:bodyPr/>
                    <a:lstStyle/>
                    <a:p>
                      <a:pPr algn="l"/>
                      <a:r>
                        <a:rPr sz="1400" b="1">
                          <a:solidFill>
                            <a:srgbClr val="FFFFFF"/>
                          </a:solidFill>
                          <a:latin typeface="Calibri"/>
                        </a:rPr>
                        <a:t>Descripción</a:t>
                      </a:r>
                    </a:p>
                  </a:txBody>
                  <a:tcPr marL="64008" marR="64008" marT="27432" marB="27432" anchor="ctr">
                    <a:solidFill>
                      <a:srgbClr val="103F77"/>
                    </a:solidFill>
                  </a:tcPr>
                </a:tc>
                <a:tc>
                  <a:txBody>
                    <a:bodyPr/>
                    <a:lstStyle/>
                    <a:p>
                      <a:pPr algn="ctr"/>
                      <a:r>
                        <a:rPr sz="1400" b="1">
                          <a:solidFill>
                            <a:srgbClr val="FFFFFF"/>
                          </a:solidFill>
                          <a:latin typeface="Calibri"/>
                        </a:rPr>
                        <a:t>Uso en el modelo</a:t>
                      </a:r>
                    </a:p>
                  </a:txBody>
                  <a:tcPr marL="64008" marR="64008" marT="27432" marB="27432" anchor="ctr">
                    <a:solidFill>
                      <a:srgbClr val="103F77"/>
                    </a:solidFill>
                  </a:tcPr>
                </a:tc>
              </a:tr>
              <a:tr h="374904">
                <a:tc>
                  <a:txBody>
                    <a:bodyPr/>
                    <a:lstStyle/>
                    <a:p>
                      <a:pPr algn="l"/>
                      <a:r>
                        <a:rPr sz="1400" b="0">
                          <a:solidFill>
                            <a:srgbClr val="1F2937"/>
                          </a:solidFill>
                          <a:latin typeface="Calibri"/>
                        </a:rPr>
                        <a:t>card_present</a:t>
                      </a:r>
                    </a:p>
                  </a:txBody>
                  <a:tcPr marL="64008" marR="64008" marT="27432" marB="27432" anchor="ctr">
                    <a:solidFill>
                      <a:srgbClr val="FFFFFF"/>
                    </a:solidFill>
                  </a:tcPr>
                </a:tc>
                <a:tc>
                  <a:txBody>
                    <a:bodyPr/>
                    <a:lstStyle/>
                    <a:p>
                      <a:pPr algn="ctr"/>
                      <a:r>
                        <a:rPr sz="1400" b="0">
                          <a:solidFill>
                            <a:srgbClr val="1F2937"/>
                          </a:solidFill>
                          <a:latin typeface="Calibri"/>
                        </a:rPr>
                        <a:t>Binaria</a:t>
                      </a:r>
                    </a:p>
                  </a:txBody>
                  <a:tcPr marL="64008" marR="64008" marT="27432" marB="27432" anchor="ctr">
                    <a:solidFill>
                      <a:srgbClr val="FFFFFF"/>
                    </a:solidFill>
                  </a:tcPr>
                </a:tc>
                <a:tc>
                  <a:txBody>
                    <a:bodyPr/>
                    <a:lstStyle/>
                    <a:p>
                      <a:pPr algn="l"/>
                      <a:r>
                        <a:rPr sz="1400" b="0">
                          <a:solidFill>
                            <a:srgbClr val="1F2937"/>
                          </a:solidFill>
                          <a:latin typeface="Calibri"/>
                        </a:rPr>
                        <a:t>1 si la tarjeta está presente físicamente</a:t>
                      </a:r>
                    </a:p>
                  </a:txBody>
                  <a:tcPr marL="64008" marR="64008" marT="27432" marB="27432" anchor="ctr">
                    <a:solidFill>
                      <a:srgbClr val="FFFFFF"/>
                    </a:solidFill>
                  </a:tcPr>
                </a:tc>
                <a:tc>
                  <a:txBody>
                    <a:bodyPr/>
                    <a:lstStyle/>
                    <a:p>
                      <a:pPr algn="ctr"/>
                      <a:r>
                        <a:rPr sz="1400" b="0">
                          <a:solidFill>
                            <a:srgbClr val="1F2937"/>
                          </a:solidFill>
                          <a:latin typeface="Calibri"/>
                        </a:rPr>
                        <a:t>Predictora</a:t>
                      </a:r>
                    </a:p>
                  </a:txBody>
                  <a:tcPr marL="64008" marR="64008" marT="27432" marB="27432" anchor="ctr">
                    <a:solidFill>
                      <a:srgbClr val="FFFFFF"/>
                    </a:solidFill>
                  </a:tcPr>
                </a:tc>
              </a:tr>
              <a:tr h="374904">
                <a:tc>
                  <a:txBody>
                    <a:bodyPr/>
                    <a:lstStyle/>
                    <a:p>
                      <a:pPr algn="l"/>
                      <a:r>
                        <a:rPr sz="1400" b="0">
                          <a:solidFill>
                            <a:srgbClr val="1F2937"/>
                          </a:solidFill>
                          <a:latin typeface="Calibri"/>
                        </a:rPr>
                        <a:t>transactions_24h</a:t>
                      </a:r>
                    </a:p>
                  </a:txBody>
                  <a:tcPr marL="64008" marR="64008" marT="27432" marB="27432" anchor="ctr">
                    <a:solidFill>
                      <a:srgbClr val="EEF3F9"/>
                    </a:solidFill>
                  </a:tcPr>
                </a:tc>
                <a:tc>
                  <a:txBody>
                    <a:bodyPr/>
                    <a:lstStyle/>
                    <a:p>
                      <a:pPr algn="ctr"/>
                      <a:r>
                        <a:rPr sz="1400" b="0">
                          <a:solidFill>
                            <a:srgbClr val="1F2937"/>
                          </a:solidFill>
                          <a:latin typeface="Calibri"/>
                        </a:rPr>
                        <a:t>Discreta</a:t>
                      </a:r>
                    </a:p>
                  </a:txBody>
                  <a:tcPr marL="64008" marR="64008" marT="27432" marB="27432" anchor="ctr">
                    <a:solidFill>
                      <a:srgbClr val="EEF3F9"/>
                    </a:solidFill>
                  </a:tcPr>
                </a:tc>
                <a:tc>
                  <a:txBody>
                    <a:bodyPr/>
                    <a:lstStyle/>
                    <a:p>
                      <a:pPr algn="l"/>
                      <a:r>
                        <a:rPr sz="1400" b="0">
                          <a:solidFill>
                            <a:srgbClr val="1F2937"/>
                          </a:solidFill>
                          <a:latin typeface="Calibri"/>
                        </a:rPr>
                        <a:t>Transacciones del cliente en las últimas 24 h</a:t>
                      </a:r>
                    </a:p>
                  </a:txBody>
                  <a:tcPr marL="64008" marR="64008" marT="27432" marB="27432" anchor="ctr">
                    <a:solidFill>
                      <a:srgbClr val="EEF3F9"/>
                    </a:solidFill>
                  </a:tcPr>
                </a:tc>
                <a:tc>
                  <a:txBody>
                    <a:bodyPr/>
                    <a:lstStyle/>
                    <a:p>
                      <a:pPr algn="ctr"/>
                      <a:r>
                        <a:rPr sz="1400" b="0">
                          <a:solidFill>
                            <a:srgbClr val="1F2937"/>
                          </a:solidFill>
                          <a:latin typeface="Calibri"/>
                        </a:rPr>
                        <a:t>Predictora</a:t>
                      </a:r>
                    </a:p>
                  </a:txBody>
                  <a:tcPr marL="64008" marR="64008" marT="27432" marB="27432" anchor="ctr">
                    <a:solidFill>
                      <a:srgbClr val="EEF3F9"/>
                    </a:solidFill>
                  </a:tcPr>
                </a:tc>
              </a:tr>
              <a:tr h="374904">
                <a:tc>
                  <a:txBody>
                    <a:bodyPr/>
                    <a:lstStyle/>
                    <a:p>
                      <a:pPr algn="l"/>
                      <a:r>
                        <a:rPr sz="1400" b="0">
                          <a:solidFill>
                            <a:srgbClr val="1F2937"/>
                          </a:solidFill>
                          <a:latin typeface="Calibri"/>
                        </a:rPr>
                        <a:t>avg_amount_30d</a:t>
                      </a:r>
                    </a:p>
                  </a:txBody>
                  <a:tcPr marL="64008" marR="64008" marT="27432" marB="27432" anchor="ctr">
                    <a:solidFill>
                      <a:srgbClr val="FFFFFF"/>
                    </a:solidFill>
                  </a:tcPr>
                </a:tc>
                <a:tc>
                  <a:txBody>
                    <a:bodyPr/>
                    <a:lstStyle/>
                    <a:p>
                      <a:pPr algn="ctr"/>
                      <a:r>
                        <a:rPr sz="1400" b="0">
                          <a:solidFill>
                            <a:srgbClr val="1F2937"/>
                          </a:solidFill>
                          <a:latin typeface="Calibri"/>
                        </a:rPr>
                        <a:t>Numérica</a:t>
                      </a:r>
                    </a:p>
                  </a:txBody>
                  <a:tcPr marL="64008" marR="64008" marT="27432" marB="27432" anchor="ctr">
                    <a:solidFill>
                      <a:srgbClr val="FFFFFF"/>
                    </a:solidFill>
                  </a:tcPr>
                </a:tc>
                <a:tc>
                  <a:txBody>
                    <a:bodyPr/>
                    <a:lstStyle/>
                    <a:p>
                      <a:pPr algn="l"/>
                      <a:r>
                        <a:rPr sz="1400" b="0">
                          <a:solidFill>
                            <a:srgbClr val="1F2937"/>
                          </a:solidFill>
                          <a:latin typeface="Calibri"/>
                        </a:rPr>
                        <a:t>Monto promedio del cliente en 30 días</a:t>
                      </a:r>
                    </a:p>
                  </a:txBody>
                  <a:tcPr marL="64008" marR="64008" marT="27432" marB="27432" anchor="ctr">
                    <a:solidFill>
                      <a:srgbClr val="FFFFFF"/>
                    </a:solidFill>
                  </a:tcPr>
                </a:tc>
                <a:tc>
                  <a:txBody>
                    <a:bodyPr/>
                    <a:lstStyle/>
                    <a:p>
                      <a:pPr algn="ctr"/>
                      <a:r>
                        <a:rPr sz="1400" b="0">
                          <a:solidFill>
                            <a:srgbClr val="1F2937"/>
                          </a:solidFill>
                          <a:latin typeface="Calibri"/>
                        </a:rPr>
                        <a:t>Excluida (redundante)</a:t>
                      </a:r>
                    </a:p>
                  </a:txBody>
                  <a:tcPr marL="64008" marR="64008" marT="27432" marB="27432" anchor="ctr">
                    <a:solidFill>
                      <a:srgbClr val="FFFFFF"/>
                    </a:solidFill>
                  </a:tcPr>
                </a:tc>
              </a:tr>
              <a:tr h="374904">
                <a:tc>
                  <a:txBody>
                    <a:bodyPr/>
                    <a:lstStyle/>
                    <a:p>
                      <a:pPr algn="l"/>
                      <a:r>
                        <a:rPr sz="1400" b="0">
                          <a:solidFill>
                            <a:srgbClr val="1F2937"/>
                          </a:solidFill>
                          <a:latin typeface="Calibri"/>
                        </a:rPr>
                        <a:t>amount_vs_avg</a:t>
                      </a:r>
                    </a:p>
                  </a:txBody>
                  <a:tcPr marL="64008" marR="64008" marT="27432" marB="27432" anchor="ctr">
                    <a:solidFill>
                      <a:srgbClr val="EEF3F9"/>
                    </a:solidFill>
                  </a:tcPr>
                </a:tc>
                <a:tc>
                  <a:txBody>
                    <a:bodyPr/>
                    <a:lstStyle/>
                    <a:p>
                      <a:pPr algn="ctr"/>
                      <a:r>
                        <a:rPr sz="1400" b="0">
                          <a:solidFill>
                            <a:srgbClr val="1F2937"/>
                          </a:solidFill>
                          <a:latin typeface="Calibri"/>
                        </a:rPr>
                        <a:t>Numérica</a:t>
                      </a:r>
                    </a:p>
                  </a:txBody>
                  <a:tcPr marL="64008" marR="64008" marT="27432" marB="27432" anchor="ctr">
                    <a:solidFill>
                      <a:srgbClr val="EEF3F9"/>
                    </a:solidFill>
                  </a:tcPr>
                </a:tc>
                <a:tc>
                  <a:txBody>
                    <a:bodyPr/>
                    <a:lstStyle/>
                    <a:p>
                      <a:pPr algn="l"/>
                      <a:r>
                        <a:rPr sz="1400" b="0">
                          <a:solidFill>
                            <a:srgbClr val="1F2937"/>
                          </a:solidFill>
                          <a:latin typeface="Calibri"/>
                        </a:rPr>
                        <a:t>Monto actual ÷ promedio de 30 días</a:t>
                      </a:r>
                    </a:p>
                  </a:txBody>
                  <a:tcPr marL="64008" marR="64008" marT="27432" marB="27432" anchor="ctr">
                    <a:solidFill>
                      <a:srgbClr val="EEF3F9"/>
                    </a:solidFill>
                  </a:tcPr>
                </a:tc>
                <a:tc>
                  <a:txBody>
                    <a:bodyPr/>
                    <a:lstStyle/>
                    <a:p>
                      <a:pPr algn="ctr"/>
                      <a:r>
                        <a:rPr sz="1400" b="0">
                          <a:solidFill>
                            <a:srgbClr val="1F2937"/>
                          </a:solidFill>
                          <a:latin typeface="Calibri"/>
                        </a:rPr>
                        <a:t>Predictora</a:t>
                      </a:r>
                    </a:p>
                  </a:txBody>
                  <a:tcPr marL="64008" marR="64008" marT="27432" marB="27432" anchor="ctr">
                    <a:solidFill>
                      <a:srgbClr val="EEF3F9"/>
                    </a:solidFill>
                  </a:tcPr>
                </a:tc>
              </a:tr>
              <a:tr h="374904">
                <a:tc>
                  <a:txBody>
                    <a:bodyPr/>
                    <a:lstStyle/>
                    <a:p>
                      <a:pPr algn="l"/>
                      <a:r>
                        <a:rPr sz="1400" b="0">
                          <a:solidFill>
                            <a:srgbClr val="1F2937"/>
                          </a:solidFill>
                          <a:latin typeface="Calibri"/>
                        </a:rPr>
                        <a:t>distance_home_km</a:t>
                      </a:r>
                    </a:p>
                  </a:txBody>
                  <a:tcPr marL="64008" marR="64008" marT="27432" marB="27432" anchor="ctr">
                    <a:solidFill>
                      <a:srgbClr val="FFFFFF"/>
                    </a:solidFill>
                  </a:tcPr>
                </a:tc>
                <a:tc>
                  <a:txBody>
                    <a:bodyPr/>
                    <a:lstStyle/>
                    <a:p>
                      <a:pPr algn="ctr"/>
                      <a:r>
                        <a:rPr sz="1400" b="0">
                          <a:solidFill>
                            <a:srgbClr val="1F2937"/>
                          </a:solidFill>
                          <a:latin typeface="Calibri"/>
                        </a:rPr>
                        <a:t>Numérica</a:t>
                      </a:r>
                    </a:p>
                  </a:txBody>
                  <a:tcPr marL="64008" marR="64008" marT="27432" marB="27432" anchor="ctr">
                    <a:solidFill>
                      <a:srgbClr val="FFFFFF"/>
                    </a:solidFill>
                  </a:tcPr>
                </a:tc>
                <a:tc>
                  <a:txBody>
                    <a:bodyPr/>
                    <a:lstStyle/>
                    <a:p>
                      <a:pPr algn="l"/>
                      <a:r>
                        <a:rPr sz="1400" b="0">
                          <a:solidFill>
                            <a:srgbClr val="1F2937"/>
                          </a:solidFill>
                          <a:latin typeface="Calibri"/>
                        </a:rPr>
                        <a:t>Distancia a la ubicación habitual (km)</a:t>
                      </a:r>
                    </a:p>
                  </a:txBody>
                  <a:tcPr marL="64008" marR="64008" marT="27432" marB="27432" anchor="ctr">
                    <a:solidFill>
                      <a:srgbClr val="FFFFFF"/>
                    </a:solidFill>
                  </a:tcPr>
                </a:tc>
                <a:tc>
                  <a:txBody>
                    <a:bodyPr/>
                    <a:lstStyle/>
                    <a:p>
                      <a:pPr algn="ctr"/>
                      <a:r>
                        <a:rPr sz="1400" b="0">
                          <a:solidFill>
                            <a:srgbClr val="1F2937"/>
                          </a:solidFill>
                          <a:latin typeface="Calibri"/>
                        </a:rPr>
                        <a:t>Predictora</a:t>
                      </a:r>
                    </a:p>
                  </a:txBody>
                  <a:tcPr marL="64008" marR="64008" marT="27432" marB="27432" anchor="ctr">
                    <a:solidFill>
                      <a:srgbClr val="FFFFFF"/>
                    </a:solidFill>
                  </a:tcPr>
                </a:tc>
              </a:tr>
              <a:tr h="374904">
                <a:tc>
                  <a:txBody>
                    <a:bodyPr/>
                    <a:lstStyle/>
                    <a:p>
                      <a:pPr algn="l"/>
                      <a:r>
                        <a:rPr sz="1400" b="0">
                          <a:solidFill>
                            <a:srgbClr val="1F2937"/>
                          </a:solidFill>
                          <a:latin typeface="Calibri"/>
                        </a:rPr>
                        <a:t>account_age_days</a:t>
                      </a:r>
                    </a:p>
                  </a:txBody>
                  <a:tcPr marL="64008" marR="64008" marT="27432" marB="27432" anchor="ctr">
                    <a:solidFill>
                      <a:srgbClr val="EEF3F9"/>
                    </a:solidFill>
                  </a:tcPr>
                </a:tc>
                <a:tc>
                  <a:txBody>
                    <a:bodyPr/>
                    <a:lstStyle/>
                    <a:p>
                      <a:pPr algn="ctr"/>
                      <a:r>
                        <a:rPr sz="1400" b="0">
                          <a:solidFill>
                            <a:srgbClr val="1F2937"/>
                          </a:solidFill>
                          <a:latin typeface="Calibri"/>
                        </a:rPr>
                        <a:t>Discreta</a:t>
                      </a:r>
                    </a:p>
                  </a:txBody>
                  <a:tcPr marL="64008" marR="64008" marT="27432" marB="27432" anchor="ctr">
                    <a:solidFill>
                      <a:srgbClr val="EEF3F9"/>
                    </a:solidFill>
                  </a:tcPr>
                </a:tc>
                <a:tc>
                  <a:txBody>
                    <a:bodyPr/>
                    <a:lstStyle/>
                    <a:p>
                      <a:pPr algn="l"/>
                      <a:r>
                        <a:rPr sz="1400" b="0">
                          <a:solidFill>
                            <a:srgbClr val="1F2937"/>
                          </a:solidFill>
                          <a:latin typeface="Calibri"/>
                        </a:rPr>
                        <a:t>Antigüedad de la cuenta en días</a:t>
                      </a:r>
                    </a:p>
                  </a:txBody>
                  <a:tcPr marL="64008" marR="64008" marT="27432" marB="27432" anchor="ctr">
                    <a:solidFill>
                      <a:srgbClr val="EEF3F9"/>
                    </a:solidFill>
                  </a:tcPr>
                </a:tc>
                <a:tc>
                  <a:txBody>
                    <a:bodyPr/>
                    <a:lstStyle/>
                    <a:p>
                      <a:pPr algn="ctr"/>
                      <a:r>
                        <a:rPr sz="1400" b="0">
                          <a:solidFill>
                            <a:srgbClr val="1F2937"/>
                          </a:solidFill>
                          <a:latin typeface="Calibri"/>
                        </a:rPr>
                        <a:t>Predictora</a:t>
                      </a:r>
                    </a:p>
                  </a:txBody>
                  <a:tcPr marL="64008" marR="64008" marT="27432" marB="27432" anchor="ctr">
                    <a:solidFill>
                      <a:srgbClr val="EEF3F9"/>
                    </a:solidFill>
                  </a:tcPr>
                </a:tc>
              </a:tr>
              <a:tr h="374904">
                <a:tc>
                  <a:txBody>
                    <a:bodyPr/>
                    <a:lstStyle/>
                    <a:p>
                      <a:pPr algn="l"/>
                      <a:r>
                        <a:rPr sz="1400" b="0">
                          <a:solidFill>
                            <a:srgbClr val="1F2937"/>
                          </a:solidFill>
                          <a:latin typeface="Calibri"/>
                        </a:rPr>
                        <a:t>failed_attempts_24h</a:t>
                      </a:r>
                    </a:p>
                  </a:txBody>
                  <a:tcPr marL="64008" marR="64008" marT="27432" marB="27432" anchor="ctr">
                    <a:solidFill>
                      <a:srgbClr val="FFFFFF"/>
                    </a:solidFill>
                  </a:tcPr>
                </a:tc>
                <a:tc>
                  <a:txBody>
                    <a:bodyPr/>
                    <a:lstStyle/>
                    <a:p>
                      <a:pPr algn="ctr"/>
                      <a:r>
                        <a:rPr sz="1400" b="0">
                          <a:solidFill>
                            <a:srgbClr val="1F2937"/>
                          </a:solidFill>
                          <a:latin typeface="Calibri"/>
                        </a:rPr>
                        <a:t>Discreta</a:t>
                      </a:r>
                    </a:p>
                  </a:txBody>
                  <a:tcPr marL="64008" marR="64008" marT="27432" marB="27432" anchor="ctr">
                    <a:solidFill>
                      <a:srgbClr val="FFFFFF"/>
                    </a:solidFill>
                  </a:tcPr>
                </a:tc>
                <a:tc>
                  <a:txBody>
                    <a:bodyPr/>
                    <a:lstStyle/>
                    <a:p>
                      <a:pPr algn="l"/>
                      <a:r>
                        <a:rPr sz="1400" b="0">
                          <a:solidFill>
                            <a:srgbClr val="1F2937"/>
                          </a:solidFill>
                          <a:latin typeface="Calibri"/>
                        </a:rPr>
                        <a:t>Intentos fallidos en 24 h (0 – 4)</a:t>
                      </a:r>
                    </a:p>
                  </a:txBody>
                  <a:tcPr marL="64008" marR="64008" marT="27432" marB="27432" anchor="ctr">
                    <a:solidFill>
                      <a:srgbClr val="FFFFFF"/>
                    </a:solidFill>
                  </a:tcPr>
                </a:tc>
                <a:tc>
                  <a:txBody>
                    <a:bodyPr/>
                    <a:lstStyle/>
                    <a:p>
                      <a:pPr algn="ctr"/>
                      <a:r>
                        <a:rPr sz="1400" b="0">
                          <a:solidFill>
                            <a:srgbClr val="1F2937"/>
                          </a:solidFill>
                          <a:latin typeface="Calibri"/>
                        </a:rPr>
                        <a:t>Predictora</a:t>
                      </a:r>
                    </a:p>
                  </a:txBody>
                  <a:tcPr marL="64008" marR="64008" marT="27432" marB="27432" anchor="ctr">
                    <a:solidFill>
                      <a:srgbClr val="FFFFFF"/>
                    </a:solidFill>
                  </a:tcPr>
                </a:tc>
              </a:tr>
              <a:tr h="374904">
                <a:tc>
                  <a:txBody>
                    <a:bodyPr/>
                    <a:lstStyle/>
                    <a:p>
                      <a:pPr algn="l"/>
                      <a:r>
                        <a:rPr sz="1400" b="0">
                          <a:solidFill>
                            <a:srgbClr val="1F2937"/>
                          </a:solidFill>
                          <a:latin typeface="Calibri"/>
                        </a:rPr>
                        <a:t>new_device</a:t>
                      </a:r>
                    </a:p>
                  </a:txBody>
                  <a:tcPr marL="64008" marR="64008" marT="27432" marB="27432" anchor="ctr">
                    <a:solidFill>
                      <a:srgbClr val="EEF3F9"/>
                    </a:solidFill>
                  </a:tcPr>
                </a:tc>
                <a:tc>
                  <a:txBody>
                    <a:bodyPr/>
                    <a:lstStyle/>
                    <a:p>
                      <a:pPr algn="ctr"/>
                      <a:r>
                        <a:rPr sz="1400" b="0">
                          <a:solidFill>
                            <a:srgbClr val="1F2937"/>
                          </a:solidFill>
                          <a:latin typeface="Calibri"/>
                        </a:rPr>
                        <a:t>Binaria</a:t>
                      </a:r>
                    </a:p>
                  </a:txBody>
                  <a:tcPr marL="64008" marR="64008" marT="27432" marB="27432" anchor="ctr">
                    <a:solidFill>
                      <a:srgbClr val="EEF3F9"/>
                    </a:solidFill>
                  </a:tcPr>
                </a:tc>
                <a:tc>
                  <a:txBody>
                    <a:bodyPr/>
                    <a:lstStyle/>
                    <a:p>
                      <a:pPr algn="l"/>
                      <a:r>
                        <a:rPr sz="1400" b="0">
                          <a:solidFill>
                            <a:srgbClr val="1F2937"/>
                          </a:solidFill>
                          <a:latin typeface="Calibri"/>
                        </a:rPr>
                        <a:t>1 si el dispositivo es nuevo para el cliente</a:t>
                      </a:r>
                    </a:p>
                  </a:txBody>
                  <a:tcPr marL="64008" marR="64008" marT="27432" marB="27432" anchor="ctr">
                    <a:solidFill>
                      <a:srgbClr val="EEF3F9"/>
                    </a:solidFill>
                  </a:tcPr>
                </a:tc>
                <a:tc>
                  <a:txBody>
                    <a:bodyPr/>
                    <a:lstStyle/>
                    <a:p>
                      <a:pPr algn="ctr"/>
                      <a:r>
                        <a:rPr sz="1400" b="0">
                          <a:solidFill>
                            <a:srgbClr val="1F2937"/>
                          </a:solidFill>
                          <a:latin typeface="Calibri"/>
                        </a:rPr>
                        <a:t>Predictora</a:t>
                      </a:r>
                    </a:p>
                  </a:txBody>
                  <a:tcPr marL="64008" marR="64008" marT="27432" marB="27432" anchor="ctr">
                    <a:solidFill>
                      <a:srgbClr val="EEF3F9"/>
                    </a:solidFill>
                  </a:tcPr>
                </a:tc>
              </a:tr>
              <a:tr h="374904">
                <a:tc>
                  <a:txBody>
                    <a:bodyPr/>
                    <a:lstStyle/>
                    <a:p>
                      <a:pPr algn="l"/>
                      <a:r>
                        <a:rPr sz="1400" b="0">
                          <a:solidFill>
                            <a:srgbClr val="1F2937"/>
                          </a:solidFill>
                          <a:latin typeface="Calibri"/>
                        </a:rPr>
                        <a:t>ip_risk_score</a:t>
                      </a:r>
                    </a:p>
                  </a:txBody>
                  <a:tcPr marL="64008" marR="64008" marT="27432" marB="27432" anchor="ctr">
                    <a:solidFill>
                      <a:srgbClr val="FFFFFF"/>
                    </a:solidFill>
                  </a:tcPr>
                </a:tc>
                <a:tc>
                  <a:txBody>
                    <a:bodyPr/>
                    <a:lstStyle/>
                    <a:p>
                      <a:pPr algn="ctr"/>
                      <a:r>
                        <a:rPr sz="1400" b="0">
                          <a:solidFill>
                            <a:srgbClr val="1F2937"/>
                          </a:solidFill>
                          <a:latin typeface="Calibri"/>
                        </a:rPr>
                        <a:t>Numérica</a:t>
                      </a:r>
                    </a:p>
                  </a:txBody>
                  <a:tcPr marL="64008" marR="64008" marT="27432" marB="27432" anchor="ctr">
                    <a:solidFill>
                      <a:srgbClr val="FFFFFF"/>
                    </a:solidFill>
                  </a:tcPr>
                </a:tc>
                <a:tc>
                  <a:txBody>
                    <a:bodyPr/>
                    <a:lstStyle/>
                    <a:p>
                      <a:pPr algn="l"/>
                      <a:r>
                        <a:rPr sz="1400" b="0">
                          <a:solidFill>
                            <a:srgbClr val="1F2937"/>
                          </a:solidFill>
                          <a:latin typeface="Calibri"/>
                        </a:rPr>
                        <a:t>Puntaje sintético de riesgo de IP (0 – 100)</a:t>
                      </a:r>
                    </a:p>
                  </a:txBody>
                  <a:tcPr marL="64008" marR="64008" marT="27432" marB="27432" anchor="ctr">
                    <a:solidFill>
                      <a:srgbClr val="FFFFFF"/>
                    </a:solidFill>
                  </a:tcPr>
                </a:tc>
                <a:tc>
                  <a:txBody>
                    <a:bodyPr/>
                    <a:lstStyle/>
                    <a:p>
                      <a:pPr algn="ctr"/>
                      <a:r>
                        <a:rPr sz="1400" b="0">
                          <a:solidFill>
                            <a:srgbClr val="1F2937"/>
                          </a:solidFill>
                          <a:latin typeface="Calibri"/>
                        </a:rPr>
                        <a:t>Predictora</a:t>
                      </a:r>
                    </a:p>
                  </a:txBody>
                  <a:tcPr marL="64008" marR="64008" marT="27432" marB="27432" anchor="ctr">
                    <a:solidFill>
                      <a:srgbClr val="FFFFFF"/>
                    </a:solidFill>
                  </a:tcPr>
                </a:tc>
              </a:tr>
              <a:tr h="374904">
                <a:tc>
                  <a:txBody>
                    <a:bodyPr/>
                    <a:lstStyle/>
                    <a:p>
                      <a:pPr algn="l"/>
                      <a:r>
                        <a:rPr sz="1400" b="1">
                          <a:solidFill>
                            <a:srgbClr val="1F2937"/>
                          </a:solidFill>
                          <a:latin typeface="Calibri"/>
                        </a:rPr>
                        <a:t>fraud</a:t>
                      </a:r>
                    </a:p>
                  </a:txBody>
                  <a:tcPr marL="64008" marR="64008" marT="27432" marB="27432" anchor="ctr">
                    <a:solidFill>
                      <a:srgbClr val="FBE7D9"/>
                    </a:solidFill>
                  </a:tcPr>
                </a:tc>
                <a:tc>
                  <a:txBody>
                    <a:bodyPr/>
                    <a:lstStyle/>
                    <a:p>
                      <a:pPr algn="ctr"/>
                      <a:r>
                        <a:rPr sz="1400" b="1">
                          <a:solidFill>
                            <a:srgbClr val="1F2937"/>
                          </a:solidFill>
                          <a:latin typeface="Calibri"/>
                        </a:rPr>
                        <a:t>Binaria</a:t>
                      </a:r>
                    </a:p>
                  </a:txBody>
                  <a:tcPr marL="64008" marR="64008" marT="27432" marB="27432" anchor="ctr">
                    <a:solidFill>
                      <a:srgbClr val="FBE7D9"/>
                    </a:solidFill>
                  </a:tcPr>
                </a:tc>
                <a:tc>
                  <a:txBody>
                    <a:bodyPr/>
                    <a:lstStyle/>
                    <a:p>
                      <a:pPr algn="l"/>
                      <a:r>
                        <a:rPr sz="1400" b="1">
                          <a:solidFill>
                            <a:srgbClr val="1F2937"/>
                          </a:solidFill>
                          <a:latin typeface="Calibri"/>
                        </a:rPr>
                        <a:t>1 = fraude; 0 = legítima</a:t>
                      </a:r>
                    </a:p>
                  </a:txBody>
                  <a:tcPr marL="64008" marR="64008" marT="27432" marB="27432" anchor="ctr">
                    <a:solidFill>
                      <a:srgbClr val="FBE7D9"/>
                    </a:solidFill>
                  </a:tcPr>
                </a:tc>
                <a:tc>
                  <a:txBody>
                    <a:bodyPr/>
                    <a:lstStyle/>
                    <a:p>
                      <a:pPr algn="ctr"/>
                      <a:r>
                        <a:rPr sz="1400" b="1">
                          <a:solidFill>
                            <a:srgbClr val="1F2937"/>
                          </a:solidFill>
                          <a:latin typeface="Calibri"/>
                        </a:rPr>
                        <a:t>Variable objetivo</a:t>
                      </a:r>
                    </a:p>
                  </a:txBody>
                  <a:tcPr marL="64008" marR="64008" marT="27432" marB="27432" anchor="ctr">
                    <a:solidFill>
                      <a:srgbClr val="FBE7D9"/>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LOS DATOS</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50,000 transacciones, solo 909 son fraude</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6</a:t>
            </a:r>
          </a:p>
        </p:txBody>
      </p:sp>
      <p:sp>
        <p:nvSpPr>
          <p:cNvPr id="5" name="Rounded Rectangle 4"/>
          <p:cNvSpPr/>
          <p:nvPr/>
        </p:nvSpPr>
        <p:spPr>
          <a:xfrm>
            <a:off x="548640" y="1920240"/>
            <a:ext cx="6492240" cy="219456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2_target.png"/>
          <p:cNvPicPr>
            <a:picLocks noChangeAspect="1"/>
          </p:cNvPicPr>
          <p:nvPr/>
        </p:nvPicPr>
        <p:blipFill>
          <a:blip r:embed="rId2"/>
          <a:stretch>
            <a:fillRect/>
          </a:stretch>
        </p:blipFill>
        <p:spPr>
          <a:xfrm>
            <a:off x="2261556" y="2011680"/>
            <a:ext cx="3066407" cy="2011679"/>
          </a:xfrm>
          <a:prstGeom prst="rect">
            <a:avLst/>
          </a:prstGeom>
        </p:spPr>
      </p:pic>
      <p:sp>
        <p:nvSpPr>
          <p:cNvPr id="7" name="Rounded Rectangle 6"/>
          <p:cNvSpPr/>
          <p:nvPr/>
        </p:nvSpPr>
        <p:spPr>
          <a:xfrm>
            <a:off x="548640" y="4297680"/>
            <a:ext cx="2057400" cy="155448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70832"/>
            <a:ext cx="1837943" cy="1408176"/>
          </a:xfrm>
          <a:prstGeom prst="rect">
            <a:avLst/>
          </a:prstGeom>
          <a:noFill/>
        </p:spPr>
        <p:txBody>
          <a:bodyPr wrap="square" anchor="t" lIns="36576" rIns="36576" tIns="36576" bIns="36576">
            <a:spAutoFit/>
          </a:bodyPr>
          <a:lstStyle/>
          <a:p>
            <a:pPr algn="l">
              <a:spcAft>
                <a:spcPts val="200"/>
              </a:spcAft>
            </a:pPr>
            <a:r>
              <a:rPr sz="3000" b="1" i="0">
                <a:solidFill>
                  <a:srgbClr val="103F77"/>
                </a:solidFill>
                <a:latin typeface="Calibri"/>
              </a:rPr>
              <a:t>50,000</a:t>
            </a:r>
          </a:p>
          <a:p>
            <a:pPr algn="l">
              <a:spcAft>
                <a:spcPts val="400"/>
              </a:spcAft>
            </a:pPr>
            <a:r>
              <a:rPr sz="1300" b="0" i="0">
                <a:solidFill>
                  <a:srgbClr val="4B5563"/>
                </a:solidFill>
                <a:latin typeface="Calibri"/>
              </a:rPr>
              <a:t>transacciones · 20 variables</a:t>
            </a:r>
          </a:p>
        </p:txBody>
      </p:sp>
      <p:sp>
        <p:nvSpPr>
          <p:cNvPr id="9" name="Rounded Rectangle 8"/>
          <p:cNvSpPr/>
          <p:nvPr/>
        </p:nvSpPr>
        <p:spPr>
          <a:xfrm>
            <a:off x="2761488" y="4297680"/>
            <a:ext cx="2057400" cy="155448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71216" y="4370832"/>
            <a:ext cx="1837943" cy="1408176"/>
          </a:xfrm>
          <a:prstGeom prst="rect">
            <a:avLst/>
          </a:prstGeom>
          <a:noFill/>
        </p:spPr>
        <p:txBody>
          <a:bodyPr wrap="square" anchor="t" lIns="36576" rIns="36576" tIns="36576" bIns="36576">
            <a:spAutoFit/>
          </a:bodyPr>
          <a:lstStyle/>
          <a:p>
            <a:pPr algn="l">
              <a:spcAft>
                <a:spcPts val="200"/>
              </a:spcAft>
            </a:pPr>
            <a:r>
              <a:rPr sz="3000" b="1" i="0">
                <a:solidFill>
                  <a:srgbClr val="286099"/>
                </a:solidFill>
                <a:latin typeface="Calibri"/>
              </a:rPr>
              <a:t>49,091</a:t>
            </a:r>
          </a:p>
          <a:p>
            <a:pPr algn="l">
              <a:spcAft>
                <a:spcPts val="400"/>
              </a:spcAft>
            </a:pPr>
            <a:r>
              <a:rPr sz="1300" b="0" i="0">
                <a:solidFill>
                  <a:srgbClr val="4B5563"/>
                </a:solidFill>
                <a:latin typeface="Calibri"/>
              </a:rPr>
              <a:t>legítimas (98.18%)</a:t>
            </a:r>
          </a:p>
        </p:txBody>
      </p:sp>
      <p:sp>
        <p:nvSpPr>
          <p:cNvPr id="11" name="Rounded Rectangle 10"/>
          <p:cNvSpPr/>
          <p:nvPr/>
        </p:nvSpPr>
        <p:spPr>
          <a:xfrm>
            <a:off x="4983480" y="4297680"/>
            <a:ext cx="2057400" cy="155448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3208" y="4370832"/>
            <a:ext cx="1837943" cy="1408176"/>
          </a:xfrm>
          <a:prstGeom prst="rect">
            <a:avLst/>
          </a:prstGeom>
          <a:noFill/>
        </p:spPr>
        <p:txBody>
          <a:bodyPr wrap="square" anchor="t" lIns="36576" rIns="36576" tIns="36576" bIns="36576">
            <a:spAutoFit/>
          </a:bodyPr>
          <a:lstStyle/>
          <a:p>
            <a:pPr algn="l">
              <a:spcAft>
                <a:spcPts val="200"/>
              </a:spcAft>
            </a:pPr>
            <a:r>
              <a:rPr sz="3000" b="1" i="0">
                <a:solidFill>
                  <a:srgbClr val="A71C21"/>
                </a:solidFill>
                <a:latin typeface="Calibri"/>
              </a:rPr>
              <a:t>909</a:t>
            </a:r>
          </a:p>
          <a:p>
            <a:pPr algn="l">
              <a:spcAft>
                <a:spcPts val="400"/>
              </a:spcAft>
            </a:pPr>
            <a:r>
              <a:rPr sz="1300" b="0" i="0">
                <a:solidFill>
                  <a:srgbClr val="4B5563"/>
                </a:solidFill>
                <a:latin typeface="Calibri"/>
              </a:rPr>
              <a:t>fraudes (1.82%)</a:t>
            </a:r>
          </a:p>
        </p:txBody>
      </p:sp>
      <p:sp>
        <p:nvSpPr>
          <p:cNvPr id="13" name="Rounded Rectangle 12"/>
          <p:cNvSpPr/>
          <p:nvPr/>
        </p:nvSpPr>
        <p:spPr>
          <a:xfrm>
            <a:off x="7315200" y="1920240"/>
            <a:ext cx="4343400" cy="132588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24927" y="1993392"/>
            <a:ext cx="4123944" cy="1179576"/>
          </a:xfrm>
          <a:prstGeom prst="rect">
            <a:avLst/>
          </a:prstGeom>
          <a:noFill/>
        </p:spPr>
        <p:txBody>
          <a:bodyPr wrap="square" anchor="t" lIns="36576" rIns="36576" tIns="36576" bIns="36576">
            <a:spAutoFit/>
          </a:bodyPr>
          <a:lstStyle/>
          <a:p>
            <a:pPr algn="l">
              <a:spcAft>
                <a:spcPts val="200"/>
              </a:spcAft>
            </a:pPr>
            <a:r>
              <a:rPr sz="3400" b="1" i="0">
                <a:solidFill>
                  <a:srgbClr val="D55E00"/>
                </a:solidFill>
                <a:latin typeface="Calibri"/>
              </a:rPr>
              <a:t>54 : 1</a:t>
            </a:r>
          </a:p>
          <a:p>
            <a:pPr algn="l">
              <a:spcAft>
                <a:spcPts val="400"/>
              </a:spcAft>
            </a:pPr>
            <a:r>
              <a:rPr sz="1300" b="0" i="0">
                <a:solidFill>
                  <a:srgbClr val="4B5563"/>
                </a:solidFill>
                <a:latin typeface="Calibri"/>
              </a:rPr>
              <a:t>legítimas por cada fraude</a:t>
            </a:r>
          </a:p>
        </p:txBody>
      </p:sp>
      <p:sp>
        <p:nvSpPr>
          <p:cNvPr id="15" name="TextBox 14"/>
          <p:cNvSpPr txBox="1"/>
          <p:nvPr/>
        </p:nvSpPr>
        <p:spPr>
          <a:xfrm>
            <a:off x="7315200" y="3383280"/>
            <a:ext cx="4343400" cy="1005840"/>
          </a:xfrm>
          <a:prstGeom prst="rect">
            <a:avLst/>
          </a:prstGeom>
          <a:noFill/>
        </p:spPr>
        <p:txBody>
          <a:bodyPr wrap="square" anchor="t" lIns="73152" rIns="73152" tIns="73152" bIns="73152">
            <a:spAutoFit/>
          </a:bodyPr>
          <a:lstStyle/>
          <a:p>
            <a:pPr algn="l">
              <a:spcAft>
                <a:spcPts val="400"/>
              </a:spcAft>
            </a:pPr>
            <a:r>
              <a:rPr sz="1600" b="0" i="0">
                <a:solidFill>
                  <a:srgbClr val="1F2937"/>
                </a:solidFill>
                <a:latin typeface="Calibri"/>
              </a:rPr>
              <a:t>Decir «todo es legítimo» acierta el </a:t>
            </a:r>
            <a:r>
              <a:rPr sz="1600" b="1" i="0">
                <a:solidFill>
                  <a:srgbClr val="1F2937"/>
                </a:solidFill>
                <a:latin typeface="Calibri"/>
              </a:rPr>
              <a:t>98%</a:t>
            </a:r>
            <a:r>
              <a:rPr sz="1600" b="0" i="0">
                <a:solidFill>
                  <a:srgbClr val="1F2937"/>
                </a:solidFill>
                <a:latin typeface="Calibri"/>
              </a:rPr>
              <a:t> sin detectar un solo fraude: la exactitud no sirve.</a:t>
            </a:r>
          </a:p>
        </p:txBody>
      </p:sp>
      <p:sp>
        <p:nvSpPr>
          <p:cNvPr id="16" name="Rounded Rectangle 15"/>
          <p:cNvSpPr/>
          <p:nvPr/>
        </p:nvSpPr>
        <p:spPr>
          <a:xfrm>
            <a:off x="7315200" y="4434840"/>
            <a:ext cx="4343400" cy="1417320"/>
          </a:xfrm>
          <a:prstGeom prst="roundRect">
            <a:avLst>
              <a:gd name="adj" fmla="val 6000"/>
            </a:avLst>
          </a:prstGeom>
          <a:solidFill>
            <a:srgbClr val="103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79" y="4507992"/>
            <a:ext cx="4023360" cy="1280160"/>
          </a:xfrm>
          <a:prstGeom prst="rect">
            <a:avLst/>
          </a:prstGeom>
          <a:noFill/>
        </p:spPr>
        <p:txBody>
          <a:bodyPr wrap="square" anchor="t" lIns="73152" rIns="73152" tIns="73152" bIns="73152">
            <a:spAutoFit/>
          </a:bodyPr>
          <a:lstStyle/>
          <a:p>
            <a:pPr algn="l">
              <a:spcAft>
                <a:spcPts val="200"/>
              </a:spcAft>
            </a:pPr>
            <a:r>
              <a:rPr sz="1700" b="1" i="0">
                <a:solidFill>
                  <a:srgbClr val="F2A65A"/>
                </a:solidFill>
                <a:latin typeface="Calibri"/>
              </a:rPr>
              <a:t>Métrica principal: PR-AUC</a:t>
            </a:r>
          </a:p>
          <a:p>
            <a:pPr algn="l">
              <a:spcAft>
                <a:spcPts val="400"/>
              </a:spcAft>
            </a:pPr>
            <a:r>
              <a:rPr sz="1400" b="0" i="0">
                <a:solidFill>
                  <a:srgbClr val="FFFFFF"/>
                </a:solidFill>
                <a:latin typeface="Calibri"/>
              </a:rPr>
              <a:t>Mide qué tan bien se ordena el riesgo. Al azar vale 0.018. Sin faltantes ni duplicados.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ANÁLISIS EXPLORATORIO</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Medidas de las variables numéricas</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7</a:t>
            </a:r>
          </a:p>
        </p:txBody>
      </p:sp>
      <p:graphicFrame>
        <p:nvGraphicFramePr>
          <p:cNvPr id="5" name="Table 4"/>
          <p:cNvGraphicFramePr>
            <a:graphicFrameLocks noGrp="1"/>
          </p:cNvGraphicFramePr>
          <p:nvPr/>
        </p:nvGraphicFramePr>
        <p:xfrm>
          <a:off x="548640" y="1920240"/>
          <a:ext cx="7726680" cy="3867912"/>
        </p:xfrm>
        <a:graphic>
          <a:graphicData uri="http://schemas.openxmlformats.org/drawingml/2006/table">
            <a:tbl>
              <a:tblPr firstRow="1" bandRow="1">
                <a:tableStyleId>{5C22544A-7EE6-4342-B048-85BDC9FD1C3A}</a:tableStyleId>
              </a:tblPr>
              <a:tblGrid>
                <a:gridCol w="2240280"/>
                <a:gridCol w="777240"/>
                <a:gridCol w="822960"/>
                <a:gridCol w="914400"/>
                <a:gridCol w="914400"/>
                <a:gridCol w="1005840"/>
                <a:gridCol w="1051560"/>
              </a:tblGrid>
              <a:tr h="429768">
                <a:tc>
                  <a:txBody>
                    <a:bodyPr/>
                    <a:lstStyle/>
                    <a:p>
                      <a:pPr algn="l"/>
                      <a:r>
                        <a:rPr sz="1300" b="1">
                          <a:solidFill>
                            <a:srgbClr val="FFFFFF"/>
                          </a:solidFill>
                          <a:latin typeface="Calibri"/>
                        </a:rPr>
                        <a:t>Variable</a:t>
                      </a:r>
                    </a:p>
                  </a:txBody>
                  <a:tcPr marL="64008" marR="64008" marT="27432" marB="27432" anchor="ctr">
                    <a:solidFill>
                      <a:srgbClr val="103F77"/>
                    </a:solidFill>
                  </a:tcPr>
                </a:tc>
                <a:tc>
                  <a:txBody>
                    <a:bodyPr/>
                    <a:lstStyle/>
                    <a:p>
                      <a:pPr algn="ctr"/>
                      <a:r>
                        <a:rPr sz="1300" b="1">
                          <a:solidFill>
                            <a:srgbClr val="FFFFFF"/>
                          </a:solidFill>
                          <a:latin typeface="Calibri"/>
                        </a:rPr>
                        <a:t>Mínimo</a:t>
                      </a:r>
                    </a:p>
                  </a:txBody>
                  <a:tcPr marL="64008" marR="64008" marT="27432" marB="27432" anchor="ctr">
                    <a:solidFill>
                      <a:srgbClr val="103F77"/>
                    </a:solidFill>
                  </a:tcPr>
                </a:tc>
                <a:tc>
                  <a:txBody>
                    <a:bodyPr/>
                    <a:lstStyle/>
                    <a:p>
                      <a:pPr algn="ctr"/>
                      <a:r>
                        <a:rPr sz="1300" b="1">
                          <a:solidFill>
                            <a:srgbClr val="FFFFFF"/>
                          </a:solidFill>
                          <a:latin typeface="Calibri"/>
                        </a:rPr>
                        <a:t>Máximo</a:t>
                      </a:r>
                    </a:p>
                  </a:txBody>
                  <a:tcPr marL="64008" marR="64008" marT="27432" marB="27432" anchor="ctr">
                    <a:solidFill>
                      <a:srgbClr val="103F77"/>
                    </a:solidFill>
                  </a:tcPr>
                </a:tc>
                <a:tc>
                  <a:txBody>
                    <a:bodyPr/>
                    <a:lstStyle/>
                    <a:p>
                      <a:pPr algn="ctr"/>
                      <a:r>
                        <a:rPr sz="1300" b="1">
                          <a:solidFill>
                            <a:srgbClr val="FFFFFF"/>
                          </a:solidFill>
                          <a:latin typeface="Calibri"/>
                        </a:rPr>
                        <a:t>Promedio</a:t>
                      </a:r>
                    </a:p>
                  </a:txBody>
                  <a:tcPr marL="64008" marR="64008" marT="27432" marB="27432" anchor="ctr">
                    <a:solidFill>
                      <a:srgbClr val="103F77"/>
                    </a:solidFill>
                  </a:tcPr>
                </a:tc>
                <a:tc>
                  <a:txBody>
                    <a:bodyPr/>
                    <a:lstStyle/>
                    <a:p>
                      <a:pPr algn="ctr"/>
                      <a:r>
                        <a:rPr sz="1300" b="1">
                          <a:solidFill>
                            <a:srgbClr val="FFFFFF"/>
                          </a:solidFill>
                          <a:latin typeface="Calibri"/>
                        </a:rPr>
                        <a:t>Mediana</a:t>
                      </a:r>
                    </a:p>
                  </a:txBody>
                  <a:tcPr marL="64008" marR="64008" marT="27432" marB="27432" anchor="ctr">
                    <a:solidFill>
                      <a:srgbClr val="103F77"/>
                    </a:solidFill>
                  </a:tcPr>
                </a:tc>
                <a:tc>
                  <a:txBody>
                    <a:bodyPr/>
                    <a:lstStyle/>
                    <a:p>
                      <a:pPr algn="ctr"/>
                      <a:r>
                        <a:rPr sz="1300" b="1">
                          <a:solidFill>
                            <a:srgbClr val="FFFFFF"/>
                          </a:solidFill>
                          <a:latin typeface="Calibri"/>
                        </a:rPr>
                        <a:t>Prom. fraude</a:t>
                      </a:r>
                    </a:p>
                  </a:txBody>
                  <a:tcPr marL="64008" marR="64008" marT="27432" marB="27432" anchor="ctr">
                    <a:solidFill>
                      <a:srgbClr val="103F77"/>
                    </a:solidFill>
                  </a:tcPr>
                </a:tc>
                <a:tc>
                  <a:txBody>
                    <a:bodyPr/>
                    <a:lstStyle/>
                    <a:p>
                      <a:pPr algn="ctr"/>
                      <a:r>
                        <a:rPr sz="1300" b="1">
                          <a:solidFill>
                            <a:srgbClr val="FFFFFF"/>
                          </a:solidFill>
                          <a:latin typeface="Calibri"/>
                        </a:rPr>
                        <a:t>Prom. legítima</a:t>
                      </a:r>
                    </a:p>
                  </a:txBody>
                  <a:tcPr marL="64008" marR="64008" marT="27432" marB="27432" anchor="ctr">
                    <a:solidFill>
                      <a:srgbClr val="103F77"/>
                    </a:solidFill>
                  </a:tcPr>
                </a:tc>
              </a:tr>
              <a:tr h="429768">
                <a:tc>
                  <a:txBody>
                    <a:bodyPr/>
                    <a:lstStyle/>
                    <a:p>
                      <a:pPr algn="l"/>
                      <a:r>
                        <a:rPr sz="1300" b="1">
                          <a:solidFill>
                            <a:srgbClr val="1F2937"/>
                          </a:solidFill>
                          <a:latin typeface="Calibri"/>
                        </a:rPr>
                        <a:t>amount_usd (USD)</a:t>
                      </a:r>
                    </a:p>
                  </a:txBody>
                  <a:tcPr marL="64008" marR="64008" marT="27432" marB="27432" anchor="ctr">
                    <a:solidFill>
                      <a:srgbClr val="FBE7D9"/>
                    </a:solidFill>
                  </a:tcPr>
                </a:tc>
                <a:tc>
                  <a:txBody>
                    <a:bodyPr/>
                    <a:lstStyle/>
                    <a:p>
                      <a:pPr algn="ctr"/>
                      <a:r>
                        <a:rPr sz="1300" b="1">
                          <a:solidFill>
                            <a:srgbClr val="1F2937"/>
                          </a:solidFill>
                          <a:latin typeface="Calibri"/>
                        </a:rPr>
                        <a:t>0.50</a:t>
                      </a:r>
                    </a:p>
                  </a:txBody>
                  <a:tcPr marL="64008" marR="64008" marT="27432" marB="27432" anchor="ctr">
                    <a:solidFill>
                      <a:srgbClr val="FBE7D9"/>
                    </a:solidFill>
                  </a:tcPr>
                </a:tc>
                <a:tc>
                  <a:txBody>
                    <a:bodyPr/>
                    <a:lstStyle/>
                    <a:p>
                      <a:pPr algn="ctr"/>
                      <a:r>
                        <a:rPr sz="1300" b="1">
                          <a:solidFill>
                            <a:srgbClr val="1F2937"/>
                          </a:solidFill>
                          <a:latin typeface="Calibri"/>
                        </a:rPr>
                        <a:t>5,000</a:t>
                      </a:r>
                    </a:p>
                  </a:txBody>
                  <a:tcPr marL="64008" marR="64008" marT="27432" marB="27432" anchor="ctr">
                    <a:solidFill>
                      <a:srgbClr val="FBE7D9"/>
                    </a:solidFill>
                  </a:tcPr>
                </a:tc>
                <a:tc>
                  <a:txBody>
                    <a:bodyPr/>
                    <a:lstStyle/>
                    <a:p>
                      <a:pPr algn="ctr"/>
                      <a:r>
                        <a:rPr sz="1300" b="1">
                          <a:solidFill>
                            <a:srgbClr val="1F2937"/>
                          </a:solidFill>
                          <a:latin typeface="Calibri"/>
                        </a:rPr>
                        <a:t>106.52</a:t>
                      </a:r>
                    </a:p>
                  </a:txBody>
                  <a:tcPr marL="64008" marR="64008" marT="27432" marB="27432" anchor="ctr">
                    <a:solidFill>
                      <a:srgbClr val="FBE7D9"/>
                    </a:solidFill>
                  </a:tcPr>
                </a:tc>
                <a:tc>
                  <a:txBody>
                    <a:bodyPr/>
                    <a:lstStyle/>
                    <a:p>
                      <a:pPr algn="ctr"/>
                      <a:r>
                        <a:rPr sz="1300" b="1">
                          <a:solidFill>
                            <a:srgbClr val="1F2937"/>
                          </a:solidFill>
                          <a:latin typeface="Calibri"/>
                        </a:rPr>
                        <a:t>54.60</a:t>
                      </a:r>
                    </a:p>
                  </a:txBody>
                  <a:tcPr marL="64008" marR="64008" marT="27432" marB="27432" anchor="ctr">
                    <a:solidFill>
                      <a:srgbClr val="FBE7D9"/>
                    </a:solidFill>
                  </a:tcPr>
                </a:tc>
                <a:tc>
                  <a:txBody>
                    <a:bodyPr/>
                    <a:lstStyle/>
                    <a:p>
                      <a:pPr algn="ctr"/>
                      <a:r>
                        <a:rPr sz="1300" b="1">
                          <a:solidFill>
                            <a:srgbClr val="1F2937"/>
                          </a:solidFill>
                          <a:latin typeface="Calibri"/>
                        </a:rPr>
                        <a:t>174.75</a:t>
                      </a:r>
                    </a:p>
                  </a:txBody>
                  <a:tcPr marL="64008" marR="64008" marT="27432" marB="27432" anchor="ctr">
                    <a:solidFill>
                      <a:srgbClr val="FBE7D9"/>
                    </a:solidFill>
                  </a:tcPr>
                </a:tc>
                <a:tc>
                  <a:txBody>
                    <a:bodyPr/>
                    <a:lstStyle/>
                    <a:p>
                      <a:pPr algn="ctr"/>
                      <a:r>
                        <a:rPr sz="1300" b="1">
                          <a:solidFill>
                            <a:srgbClr val="1F2937"/>
                          </a:solidFill>
                          <a:latin typeface="Calibri"/>
                        </a:rPr>
                        <a:t>105.26</a:t>
                      </a:r>
                    </a:p>
                  </a:txBody>
                  <a:tcPr marL="64008" marR="64008" marT="27432" marB="27432" anchor="ctr">
                    <a:solidFill>
                      <a:srgbClr val="FBE7D9"/>
                    </a:solidFill>
                  </a:tcPr>
                </a:tc>
              </a:tr>
              <a:tr h="429768">
                <a:tc>
                  <a:txBody>
                    <a:bodyPr/>
                    <a:lstStyle/>
                    <a:p>
                      <a:pPr algn="l"/>
                      <a:r>
                        <a:rPr sz="1300" b="1">
                          <a:solidFill>
                            <a:srgbClr val="1F2937"/>
                          </a:solidFill>
                          <a:latin typeface="Calibri"/>
                        </a:rPr>
                        <a:t>amount_vs_avg (veces)</a:t>
                      </a:r>
                    </a:p>
                  </a:txBody>
                  <a:tcPr marL="64008" marR="64008" marT="27432" marB="27432" anchor="ctr">
                    <a:solidFill>
                      <a:srgbClr val="FBE7D9"/>
                    </a:solidFill>
                  </a:tcPr>
                </a:tc>
                <a:tc>
                  <a:txBody>
                    <a:bodyPr/>
                    <a:lstStyle/>
                    <a:p>
                      <a:pPr algn="ctr"/>
                      <a:r>
                        <a:rPr sz="1300" b="1">
                          <a:solidFill>
                            <a:srgbClr val="1F2937"/>
                          </a:solidFill>
                          <a:latin typeface="Calibri"/>
                        </a:rPr>
                        <a:t>0.004</a:t>
                      </a:r>
                    </a:p>
                  </a:txBody>
                  <a:tcPr marL="64008" marR="64008" marT="27432" marB="27432" anchor="ctr">
                    <a:solidFill>
                      <a:srgbClr val="FBE7D9"/>
                    </a:solidFill>
                  </a:tcPr>
                </a:tc>
                <a:tc>
                  <a:txBody>
                    <a:bodyPr/>
                    <a:lstStyle/>
                    <a:p>
                      <a:pPr algn="ctr"/>
                      <a:r>
                        <a:rPr sz="1300" b="1">
                          <a:solidFill>
                            <a:srgbClr val="1F2937"/>
                          </a:solidFill>
                          <a:latin typeface="Calibri"/>
                        </a:rPr>
                        <a:t>506</a:t>
                      </a:r>
                    </a:p>
                  </a:txBody>
                  <a:tcPr marL="64008" marR="64008" marT="27432" marB="27432" anchor="ctr">
                    <a:solidFill>
                      <a:srgbClr val="FBE7D9"/>
                    </a:solidFill>
                  </a:tcPr>
                </a:tc>
                <a:tc>
                  <a:txBody>
                    <a:bodyPr/>
                    <a:lstStyle/>
                    <a:p>
                      <a:pPr algn="ctr"/>
                      <a:r>
                        <a:rPr sz="1300" b="1">
                          <a:solidFill>
                            <a:srgbClr val="1F2937"/>
                          </a:solidFill>
                          <a:latin typeface="Calibri"/>
                        </a:rPr>
                        <a:t>3.29</a:t>
                      </a:r>
                    </a:p>
                  </a:txBody>
                  <a:tcPr marL="64008" marR="64008" marT="27432" marB="27432" anchor="ctr">
                    <a:solidFill>
                      <a:srgbClr val="FBE7D9"/>
                    </a:solidFill>
                  </a:tcPr>
                </a:tc>
                <a:tc>
                  <a:txBody>
                    <a:bodyPr/>
                    <a:lstStyle/>
                    <a:p>
                      <a:pPr algn="ctr"/>
                      <a:r>
                        <a:rPr sz="1300" b="1">
                          <a:solidFill>
                            <a:srgbClr val="1F2937"/>
                          </a:solidFill>
                          <a:latin typeface="Calibri"/>
                        </a:rPr>
                        <a:t>1.24</a:t>
                      </a:r>
                    </a:p>
                  </a:txBody>
                  <a:tcPr marL="64008" marR="64008" marT="27432" marB="27432" anchor="ctr">
                    <a:solidFill>
                      <a:srgbClr val="FBE7D9"/>
                    </a:solidFill>
                  </a:tcPr>
                </a:tc>
                <a:tc>
                  <a:txBody>
                    <a:bodyPr/>
                    <a:lstStyle/>
                    <a:p>
                      <a:pPr algn="ctr"/>
                      <a:r>
                        <a:rPr sz="1300" b="1">
                          <a:solidFill>
                            <a:srgbClr val="1F2937"/>
                          </a:solidFill>
                          <a:latin typeface="Calibri"/>
                        </a:rPr>
                        <a:t>5.37</a:t>
                      </a:r>
                    </a:p>
                  </a:txBody>
                  <a:tcPr marL="64008" marR="64008" marT="27432" marB="27432" anchor="ctr">
                    <a:solidFill>
                      <a:srgbClr val="FBE7D9"/>
                    </a:solidFill>
                  </a:tcPr>
                </a:tc>
                <a:tc>
                  <a:txBody>
                    <a:bodyPr/>
                    <a:lstStyle/>
                    <a:p>
                      <a:pPr algn="ctr"/>
                      <a:r>
                        <a:rPr sz="1300" b="1">
                          <a:solidFill>
                            <a:srgbClr val="1F2937"/>
                          </a:solidFill>
                          <a:latin typeface="Calibri"/>
                        </a:rPr>
                        <a:t>3.26</a:t>
                      </a:r>
                    </a:p>
                  </a:txBody>
                  <a:tcPr marL="64008" marR="64008" marT="27432" marB="27432" anchor="ctr">
                    <a:solidFill>
                      <a:srgbClr val="FBE7D9"/>
                    </a:solidFill>
                  </a:tcPr>
                </a:tc>
              </a:tr>
              <a:tr h="429768">
                <a:tc>
                  <a:txBody>
                    <a:bodyPr/>
                    <a:lstStyle/>
                    <a:p>
                      <a:pPr algn="l"/>
                      <a:r>
                        <a:rPr sz="1300" b="0">
                          <a:solidFill>
                            <a:srgbClr val="1F2937"/>
                          </a:solidFill>
                          <a:latin typeface="Calibri"/>
                        </a:rPr>
                        <a:t>avg_amount_30d (USD)</a:t>
                      </a:r>
                    </a:p>
                  </a:txBody>
                  <a:tcPr marL="64008" marR="64008" marT="27432" marB="27432" anchor="ctr">
                    <a:solidFill>
                      <a:srgbClr val="FFFFFF"/>
                    </a:solidFill>
                  </a:tcPr>
                </a:tc>
                <a:tc>
                  <a:txBody>
                    <a:bodyPr/>
                    <a:lstStyle/>
                    <a:p>
                      <a:pPr algn="ctr"/>
                      <a:r>
                        <a:rPr sz="1300" b="0">
                          <a:solidFill>
                            <a:srgbClr val="1F2937"/>
                          </a:solidFill>
                          <a:latin typeface="Calibri"/>
                        </a:rPr>
                        <a:t>1.00</a:t>
                      </a:r>
                    </a:p>
                  </a:txBody>
                  <a:tcPr marL="64008" marR="64008" marT="27432" marB="27432" anchor="ctr">
                    <a:solidFill>
                      <a:srgbClr val="FFFFFF"/>
                    </a:solidFill>
                  </a:tcPr>
                </a:tc>
                <a:tc>
                  <a:txBody>
                    <a:bodyPr/>
                    <a:lstStyle/>
                    <a:p>
                      <a:pPr algn="ctr"/>
                      <a:r>
                        <a:rPr sz="1300" b="0">
                          <a:solidFill>
                            <a:srgbClr val="1F2937"/>
                          </a:solidFill>
                          <a:latin typeface="Calibri"/>
                        </a:rPr>
                        <a:t>2,198</a:t>
                      </a:r>
                    </a:p>
                  </a:txBody>
                  <a:tcPr marL="64008" marR="64008" marT="27432" marB="27432" anchor="ctr">
                    <a:solidFill>
                      <a:srgbClr val="FFFFFF"/>
                    </a:solidFill>
                  </a:tcPr>
                </a:tc>
                <a:tc>
                  <a:txBody>
                    <a:bodyPr/>
                    <a:lstStyle/>
                    <a:p>
                      <a:pPr algn="ctr"/>
                      <a:r>
                        <a:rPr sz="1300" b="0">
                          <a:solidFill>
                            <a:srgbClr val="1F2937"/>
                          </a:solidFill>
                          <a:latin typeface="Calibri"/>
                        </a:rPr>
                        <a:t>61.55</a:t>
                      </a:r>
                    </a:p>
                  </a:txBody>
                  <a:tcPr marL="64008" marR="64008" marT="27432" marB="27432" anchor="ctr">
                    <a:solidFill>
                      <a:srgbClr val="FFFFFF"/>
                    </a:solidFill>
                  </a:tcPr>
                </a:tc>
                <a:tc>
                  <a:txBody>
                    <a:bodyPr/>
                    <a:lstStyle/>
                    <a:p>
                      <a:pPr algn="ctr"/>
                      <a:r>
                        <a:rPr sz="1300" b="0">
                          <a:solidFill>
                            <a:srgbClr val="1F2937"/>
                          </a:solidFill>
                          <a:latin typeface="Calibri"/>
                        </a:rPr>
                        <a:t>44.53</a:t>
                      </a:r>
                    </a:p>
                  </a:txBody>
                  <a:tcPr marL="64008" marR="64008" marT="27432" marB="27432" anchor="ctr">
                    <a:solidFill>
                      <a:srgbClr val="FFFFFF"/>
                    </a:solidFill>
                  </a:tcPr>
                </a:tc>
                <a:tc>
                  <a:txBody>
                    <a:bodyPr/>
                    <a:lstStyle/>
                    <a:p>
                      <a:pPr algn="ctr"/>
                      <a:r>
                        <a:rPr sz="1300" b="0">
                          <a:solidFill>
                            <a:srgbClr val="1F2937"/>
                          </a:solidFill>
                          <a:latin typeface="Calibri"/>
                        </a:rPr>
                        <a:t>58.81</a:t>
                      </a:r>
                    </a:p>
                  </a:txBody>
                  <a:tcPr marL="64008" marR="64008" marT="27432" marB="27432" anchor="ctr">
                    <a:solidFill>
                      <a:srgbClr val="FFFFFF"/>
                    </a:solidFill>
                  </a:tcPr>
                </a:tc>
                <a:tc>
                  <a:txBody>
                    <a:bodyPr/>
                    <a:lstStyle/>
                    <a:p>
                      <a:pPr algn="ctr"/>
                      <a:r>
                        <a:rPr sz="1300" b="0">
                          <a:solidFill>
                            <a:srgbClr val="1F2937"/>
                          </a:solidFill>
                          <a:latin typeface="Calibri"/>
                        </a:rPr>
                        <a:t>61.60</a:t>
                      </a:r>
                    </a:p>
                  </a:txBody>
                  <a:tcPr marL="64008" marR="64008" marT="27432" marB="27432" anchor="ctr">
                    <a:solidFill>
                      <a:srgbClr val="FFFFFF"/>
                    </a:solidFill>
                  </a:tcPr>
                </a:tc>
              </a:tr>
              <a:tr h="429768">
                <a:tc>
                  <a:txBody>
                    <a:bodyPr/>
                    <a:lstStyle/>
                    <a:p>
                      <a:pPr algn="l"/>
                      <a:r>
                        <a:rPr sz="1300" b="0">
                          <a:solidFill>
                            <a:srgbClr val="1F2937"/>
                          </a:solidFill>
                          <a:latin typeface="Calibri"/>
                        </a:rPr>
                        <a:t>distance_home_km</a:t>
                      </a:r>
                    </a:p>
                  </a:txBody>
                  <a:tcPr marL="64008" marR="64008" marT="27432" marB="27432" anchor="ctr">
                    <a:solidFill>
                      <a:srgbClr val="EEF3F9"/>
                    </a:solidFill>
                  </a:tcPr>
                </a:tc>
                <a:tc>
                  <a:txBody>
                    <a:bodyPr/>
                    <a:lstStyle/>
                    <a:p>
                      <a:pPr algn="ctr"/>
                      <a:r>
                        <a:rPr sz="1300" b="0">
                          <a:solidFill>
                            <a:srgbClr val="1F2937"/>
                          </a:solidFill>
                          <a:latin typeface="Calibri"/>
                        </a:rPr>
                        <a:t>0.05</a:t>
                      </a:r>
                    </a:p>
                  </a:txBody>
                  <a:tcPr marL="64008" marR="64008" marT="27432" marB="27432" anchor="ctr">
                    <a:solidFill>
                      <a:srgbClr val="EEF3F9"/>
                    </a:solidFill>
                  </a:tcPr>
                </a:tc>
                <a:tc>
                  <a:txBody>
                    <a:bodyPr/>
                    <a:lstStyle/>
                    <a:p>
                      <a:pPr algn="ctr"/>
                      <a:r>
                        <a:rPr sz="1300" b="0">
                          <a:solidFill>
                            <a:srgbClr val="1F2937"/>
                          </a:solidFill>
                          <a:latin typeface="Calibri"/>
                        </a:rPr>
                        <a:t>174</a:t>
                      </a:r>
                    </a:p>
                  </a:txBody>
                  <a:tcPr marL="64008" marR="64008" marT="27432" marB="27432" anchor="ctr">
                    <a:solidFill>
                      <a:srgbClr val="EEF3F9"/>
                    </a:solidFill>
                  </a:tcPr>
                </a:tc>
                <a:tc>
                  <a:txBody>
                    <a:bodyPr/>
                    <a:lstStyle/>
                    <a:p>
                      <a:pPr algn="ctr"/>
                      <a:r>
                        <a:rPr sz="1300" b="0">
                          <a:solidFill>
                            <a:srgbClr val="1F2937"/>
                          </a:solidFill>
                          <a:latin typeface="Calibri"/>
                        </a:rPr>
                        <a:t>23.99</a:t>
                      </a:r>
                    </a:p>
                  </a:txBody>
                  <a:tcPr marL="64008" marR="64008" marT="27432" marB="27432" anchor="ctr">
                    <a:solidFill>
                      <a:srgbClr val="EEF3F9"/>
                    </a:solidFill>
                  </a:tcPr>
                </a:tc>
                <a:tc>
                  <a:txBody>
                    <a:bodyPr/>
                    <a:lstStyle/>
                    <a:p>
                      <a:pPr algn="ctr"/>
                      <a:r>
                        <a:rPr sz="1300" b="0">
                          <a:solidFill>
                            <a:srgbClr val="1F2937"/>
                          </a:solidFill>
                          <a:latin typeface="Calibri"/>
                        </a:rPr>
                        <a:t>20.12</a:t>
                      </a:r>
                    </a:p>
                  </a:txBody>
                  <a:tcPr marL="64008" marR="64008" marT="27432" marB="27432" anchor="ctr">
                    <a:solidFill>
                      <a:srgbClr val="EEF3F9"/>
                    </a:solidFill>
                  </a:tcPr>
                </a:tc>
                <a:tc>
                  <a:txBody>
                    <a:bodyPr/>
                    <a:lstStyle/>
                    <a:p>
                      <a:pPr algn="ctr"/>
                      <a:r>
                        <a:rPr sz="1300" b="0">
                          <a:solidFill>
                            <a:srgbClr val="1F2937"/>
                          </a:solidFill>
                          <a:latin typeface="Calibri"/>
                        </a:rPr>
                        <a:t>23.88</a:t>
                      </a:r>
                    </a:p>
                  </a:txBody>
                  <a:tcPr marL="64008" marR="64008" marT="27432" marB="27432" anchor="ctr">
                    <a:solidFill>
                      <a:srgbClr val="EEF3F9"/>
                    </a:solidFill>
                  </a:tcPr>
                </a:tc>
                <a:tc>
                  <a:txBody>
                    <a:bodyPr/>
                    <a:lstStyle/>
                    <a:p>
                      <a:pPr algn="ctr"/>
                      <a:r>
                        <a:rPr sz="1300" b="0">
                          <a:solidFill>
                            <a:srgbClr val="1F2937"/>
                          </a:solidFill>
                          <a:latin typeface="Calibri"/>
                        </a:rPr>
                        <a:t>23.99</a:t>
                      </a:r>
                    </a:p>
                  </a:txBody>
                  <a:tcPr marL="64008" marR="64008" marT="27432" marB="27432" anchor="ctr">
                    <a:solidFill>
                      <a:srgbClr val="EEF3F9"/>
                    </a:solidFill>
                  </a:tcPr>
                </a:tc>
              </a:tr>
              <a:tr h="429768">
                <a:tc>
                  <a:txBody>
                    <a:bodyPr/>
                    <a:lstStyle/>
                    <a:p>
                      <a:pPr algn="l"/>
                      <a:r>
                        <a:rPr sz="1300" b="0">
                          <a:solidFill>
                            <a:srgbClr val="1F2937"/>
                          </a:solidFill>
                          <a:latin typeface="Calibri"/>
                        </a:rPr>
                        <a:t>transactions_24h</a:t>
                      </a:r>
                    </a:p>
                  </a:txBody>
                  <a:tcPr marL="64008" marR="64008" marT="27432" marB="27432" anchor="ctr">
                    <a:solidFill>
                      <a:srgbClr val="FFFFFF"/>
                    </a:solidFill>
                  </a:tcPr>
                </a:tc>
                <a:tc>
                  <a:txBody>
                    <a:bodyPr/>
                    <a:lstStyle/>
                    <a:p>
                      <a:pPr algn="ctr"/>
                      <a:r>
                        <a:rPr sz="1300" b="0">
                          <a:solidFill>
                            <a:srgbClr val="1F2937"/>
                          </a:solidFill>
                          <a:latin typeface="Calibri"/>
                        </a:rPr>
                        <a:t>1</a:t>
                      </a:r>
                    </a:p>
                  </a:txBody>
                  <a:tcPr marL="64008" marR="64008" marT="27432" marB="27432" anchor="ctr">
                    <a:solidFill>
                      <a:srgbClr val="FFFFFF"/>
                    </a:solidFill>
                  </a:tcPr>
                </a:tc>
                <a:tc>
                  <a:txBody>
                    <a:bodyPr/>
                    <a:lstStyle/>
                    <a:p>
                      <a:pPr algn="ctr"/>
                      <a:r>
                        <a:rPr sz="1300" b="0">
                          <a:solidFill>
                            <a:srgbClr val="1F2937"/>
                          </a:solidFill>
                          <a:latin typeface="Calibri"/>
                        </a:rPr>
                        <a:t>15</a:t>
                      </a:r>
                    </a:p>
                  </a:txBody>
                  <a:tcPr marL="64008" marR="64008" marT="27432" marB="27432" anchor="ctr">
                    <a:solidFill>
                      <a:srgbClr val="FFFFFF"/>
                    </a:solidFill>
                  </a:tcPr>
                </a:tc>
                <a:tc>
                  <a:txBody>
                    <a:bodyPr/>
                    <a:lstStyle/>
                    <a:p>
                      <a:pPr algn="ctr"/>
                      <a:r>
                        <a:rPr sz="1300" b="0">
                          <a:solidFill>
                            <a:srgbClr val="1F2937"/>
                          </a:solidFill>
                          <a:latin typeface="Calibri"/>
                        </a:rPr>
                        <a:t>4.19</a:t>
                      </a:r>
                    </a:p>
                  </a:txBody>
                  <a:tcPr marL="64008" marR="64008" marT="27432" marB="27432" anchor="ctr">
                    <a:solidFill>
                      <a:srgbClr val="FFFFFF"/>
                    </a:solidFill>
                  </a:tcPr>
                </a:tc>
                <a:tc>
                  <a:txBody>
                    <a:bodyPr/>
                    <a:lstStyle/>
                    <a:p>
                      <a:pPr algn="ctr"/>
                      <a:r>
                        <a:rPr sz="1300" b="0">
                          <a:solidFill>
                            <a:srgbClr val="1F2937"/>
                          </a:solidFill>
                          <a:latin typeface="Calibri"/>
                        </a:rPr>
                        <a:t>4</a:t>
                      </a:r>
                    </a:p>
                  </a:txBody>
                  <a:tcPr marL="64008" marR="64008" marT="27432" marB="27432" anchor="ctr">
                    <a:solidFill>
                      <a:srgbClr val="FFFFFF"/>
                    </a:solidFill>
                  </a:tcPr>
                </a:tc>
                <a:tc>
                  <a:txBody>
                    <a:bodyPr/>
                    <a:lstStyle/>
                    <a:p>
                      <a:pPr algn="ctr"/>
                      <a:r>
                        <a:rPr sz="1300" b="0">
                          <a:solidFill>
                            <a:srgbClr val="1F2937"/>
                          </a:solidFill>
                          <a:latin typeface="Calibri"/>
                        </a:rPr>
                        <a:t>4.38</a:t>
                      </a:r>
                    </a:p>
                  </a:txBody>
                  <a:tcPr marL="64008" marR="64008" marT="27432" marB="27432" anchor="ctr">
                    <a:solidFill>
                      <a:srgbClr val="FFFFFF"/>
                    </a:solidFill>
                  </a:tcPr>
                </a:tc>
                <a:tc>
                  <a:txBody>
                    <a:bodyPr/>
                    <a:lstStyle/>
                    <a:p>
                      <a:pPr algn="ctr"/>
                      <a:r>
                        <a:rPr sz="1300" b="0">
                          <a:solidFill>
                            <a:srgbClr val="1F2937"/>
                          </a:solidFill>
                          <a:latin typeface="Calibri"/>
                        </a:rPr>
                        <a:t>4.19</a:t>
                      </a:r>
                    </a:p>
                  </a:txBody>
                  <a:tcPr marL="64008" marR="64008" marT="27432" marB="27432" anchor="ctr">
                    <a:solidFill>
                      <a:srgbClr val="FFFFFF"/>
                    </a:solidFill>
                  </a:tcPr>
                </a:tc>
              </a:tr>
              <a:tr h="429768">
                <a:tc>
                  <a:txBody>
                    <a:bodyPr/>
                    <a:lstStyle/>
                    <a:p>
                      <a:pPr algn="l"/>
                      <a:r>
                        <a:rPr sz="1300" b="0">
                          <a:solidFill>
                            <a:srgbClr val="1F2937"/>
                          </a:solidFill>
                          <a:latin typeface="Calibri"/>
                        </a:rPr>
                        <a:t>ip_risk_score</a:t>
                      </a:r>
                    </a:p>
                  </a:txBody>
                  <a:tcPr marL="64008" marR="64008" marT="27432" marB="27432" anchor="ctr">
                    <a:solidFill>
                      <a:srgbClr val="EEF3F9"/>
                    </a:solidFill>
                  </a:tcPr>
                </a:tc>
                <a:tc>
                  <a:txBody>
                    <a:bodyPr/>
                    <a:lstStyle/>
                    <a:p>
                      <a:pPr algn="ctr"/>
                      <a:r>
                        <a:rPr sz="1300" b="0">
                          <a:solidFill>
                            <a:srgbClr val="1F2937"/>
                          </a:solidFill>
                          <a:latin typeface="Calibri"/>
                        </a:rPr>
                        <a:t>0</a:t>
                      </a:r>
                    </a:p>
                  </a:txBody>
                  <a:tcPr marL="64008" marR="64008" marT="27432" marB="27432" anchor="ctr">
                    <a:solidFill>
                      <a:srgbClr val="EEF3F9"/>
                    </a:solidFill>
                  </a:tcPr>
                </a:tc>
                <a:tc>
                  <a:txBody>
                    <a:bodyPr/>
                    <a:lstStyle/>
                    <a:p>
                      <a:pPr algn="ctr"/>
                      <a:r>
                        <a:rPr sz="1300" b="0">
                          <a:solidFill>
                            <a:srgbClr val="1F2937"/>
                          </a:solidFill>
                          <a:latin typeface="Calibri"/>
                        </a:rPr>
                        <a:t>88</a:t>
                      </a:r>
                    </a:p>
                  </a:txBody>
                  <a:tcPr marL="64008" marR="64008" marT="27432" marB="27432" anchor="ctr">
                    <a:solidFill>
                      <a:srgbClr val="EEF3F9"/>
                    </a:solidFill>
                  </a:tcPr>
                </a:tc>
                <a:tc>
                  <a:txBody>
                    <a:bodyPr/>
                    <a:lstStyle/>
                    <a:p>
                      <a:pPr algn="ctr"/>
                      <a:r>
                        <a:rPr sz="1300" b="0">
                          <a:solidFill>
                            <a:srgbClr val="1F2937"/>
                          </a:solidFill>
                          <a:latin typeface="Calibri"/>
                        </a:rPr>
                        <a:t>23.63</a:t>
                      </a:r>
                    </a:p>
                  </a:txBody>
                  <a:tcPr marL="64008" marR="64008" marT="27432" marB="27432" anchor="ctr">
                    <a:solidFill>
                      <a:srgbClr val="EEF3F9"/>
                    </a:solidFill>
                  </a:tcPr>
                </a:tc>
                <a:tc>
                  <a:txBody>
                    <a:bodyPr/>
                    <a:lstStyle/>
                    <a:p>
                      <a:pPr algn="ctr"/>
                      <a:r>
                        <a:rPr sz="1300" b="0">
                          <a:solidFill>
                            <a:srgbClr val="1F2937"/>
                          </a:solidFill>
                          <a:latin typeface="Calibri"/>
                        </a:rPr>
                        <a:t>21.10</a:t>
                      </a:r>
                    </a:p>
                  </a:txBody>
                  <a:tcPr marL="64008" marR="64008" marT="27432" marB="27432" anchor="ctr">
                    <a:solidFill>
                      <a:srgbClr val="EEF3F9"/>
                    </a:solidFill>
                  </a:tcPr>
                </a:tc>
                <a:tc>
                  <a:txBody>
                    <a:bodyPr/>
                    <a:lstStyle/>
                    <a:p>
                      <a:pPr algn="ctr"/>
                      <a:r>
                        <a:rPr sz="1300" b="0">
                          <a:solidFill>
                            <a:srgbClr val="1F2937"/>
                          </a:solidFill>
                          <a:latin typeface="Calibri"/>
                        </a:rPr>
                        <a:t>23.87</a:t>
                      </a:r>
                    </a:p>
                  </a:txBody>
                  <a:tcPr marL="64008" marR="64008" marT="27432" marB="27432" anchor="ctr">
                    <a:solidFill>
                      <a:srgbClr val="EEF3F9"/>
                    </a:solidFill>
                  </a:tcPr>
                </a:tc>
                <a:tc>
                  <a:txBody>
                    <a:bodyPr/>
                    <a:lstStyle/>
                    <a:p>
                      <a:pPr algn="ctr"/>
                      <a:r>
                        <a:rPr sz="1300" b="0">
                          <a:solidFill>
                            <a:srgbClr val="1F2937"/>
                          </a:solidFill>
                          <a:latin typeface="Calibri"/>
                        </a:rPr>
                        <a:t>23.62</a:t>
                      </a:r>
                    </a:p>
                  </a:txBody>
                  <a:tcPr marL="64008" marR="64008" marT="27432" marB="27432" anchor="ctr">
                    <a:solidFill>
                      <a:srgbClr val="EEF3F9"/>
                    </a:solidFill>
                  </a:tcPr>
                </a:tc>
              </a:tr>
              <a:tr h="429768">
                <a:tc>
                  <a:txBody>
                    <a:bodyPr/>
                    <a:lstStyle/>
                    <a:p>
                      <a:pPr algn="l"/>
                      <a:r>
                        <a:rPr sz="1300" b="0">
                          <a:solidFill>
                            <a:srgbClr val="1F2937"/>
                          </a:solidFill>
                          <a:latin typeface="Calibri"/>
                        </a:rPr>
                        <a:t>account_age_days</a:t>
                      </a:r>
                    </a:p>
                  </a:txBody>
                  <a:tcPr marL="64008" marR="64008" marT="27432" marB="27432" anchor="ctr">
                    <a:solidFill>
                      <a:srgbClr val="FFFFFF"/>
                    </a:solidFill>
                  </a:tcPr>
                </a:tc>
                <a:tc>
                  <a:txBody>
                    <a:bodyPr/>
                    <a:lstStyle/>
                    <a:p>
                      <a:pPr algn="ctr"/>
                      <a:r>
                        <a:rPr sz="1300" b="0">
                          <a:solidFill>
                            <a:srgbClr val="1F2937"/>
                          </a:solidFill>
                          <a:latin typeface="Calibri"/>
                        </a:rPr>
                        <a:t>5</a:t>
                      </a:r>
                    </a:p>
                  </a:txBody>
                  <a:tcPr marL="64008" marR="64008" marT="27432" marB="27432" anchor="ctr">
                    <a:solidFill>
                      <a:srgbClr val="FFFFFF"/>
                    </a:solidFill>
                  </a:tcPr>
                </a:tc>
                <a:tc>
                  <a:txBody>
                    <a:bodyPr/>
                    <a:lstStyle/>
                    <a:p>
                      <a:pPr algn="ctr"/>
                      <a:r>
                        <a:rPr sz="1300" b="0">
                          <a:solidFill>
                            <a:srgbClr val="1F2937"/>
                          </a:solidFill>
                          <a:latin typeface="Calibri"/>
                        </a:rPr>
                        <a:t>4,999</a:t>
                      </a:r>
                    </a:p>
                  </a:txBody>
                  <a:tcPr marL="64008" marR="64008" marT="27432" marB="27432" anchor="ctr">
                    <a:solidFill>
                      <a:srgbClr val="FFFFFF"/>
                    </a:solidFill>
                  </a:tcPr>
                </a:tc>
                <a:tc>
                  <a:txBody>
                    <a:bodyPr/>
                    <a:lstStyle/>
                    <a:p>
                      <a:pPr algn="ctr"/>
                      <a:r>
                        <a:rPr sz="1300" b="0">
                          <a:solidFill>
                            <a:srgbClr val="1F2937"/>
                          </a:solidFill>
                          <a:latin typeface="Calibri"/>
                        </a:rPr>
                        <a:t>2,499</a:t>
                      </a:r>
                    </a:p>
                  </a:txBody>
                  <a:tcPr marL="64008" marR="64008" marT="27432" marB="27432" anchor="ctr">
                    <a:solidFill>
                      <a:srgbClr val="FFFFFF"/>
                    </a:solidFill>
                  </a:tcPr>
                </a:tc>
                <a:tc>
                  <a:txBody>
                    <a:bodyPr/>
                    <a:lstStyle/>
                    <a:p>
                      <a:pPr algn="ctr"/>
                      <a:r>
                        <a:rPr sz="1300" b="0">
                          <a:solidFill>
                            <a:srgbClr val="1F2937"/>
                          </a:solidFill>
                          <a:latin typeface="Calibri"/>
                        </a:rPr>
                        <a:t>2,499</a:t>
                      </a:r>
                    </a:p>
                  </a:txBody>
                  <a:tcPr marL="64008" marR="64008" marT="27432" marB="27432" anchor="ctr">
                    <a:solidFill>
                      <a:srgbClr val="FFFFFF"/>
                    </a:solidFill>
                  </a:tcPr>
                </a:tc>
                <a:tc>
                  <a:txBody>
                    <a:bodyPr/>
                    <a:lstStyle/>
                    <a:p>
                      <a:pPr algn="ctr"/>
                      <a:r>
                        <a:rPr sz="1300" b="0">
                          <a:solidFill>
                            <a:srgbClr val="1F2937"/>
                          </a:solidFill>
                          <a:latin typeface="Calibri"/>
                        </a:rPr>
                        <a:t>2,571</a:t>
                      </a:r>
                    </a:p>
                  </a:txBody>
                  <a:tcPr marL="64008" marR="64008" marT="27432" marB="27432" anchor="ctr">
                    <a:solidFill>
                      <a:srgbClr val="FFFFFF"/>
                    </a:solidFill>
                  </a:tcPr>
                </a:tc>
                <a:tc>
                  <a:txBody>
                    <a:bodyPr/>
                    <a:lstStyle/>
                    <a:p>
                      <a:pPr algn="ctr"/>
                      <a:r>
                        <a:rPr sz="1300" b="0">
                          <a:solidFill>
                            <a:srgbClr val="1F2937"/>
                          </a:solidFill>
                          <a:latin typeface="Calibri"/>
                        </a:rPr>
                        <a:t>2,498</a:t>
                      </a:r>
                    </a:p>
                  </a:txBody>
                  <a:tcPr marL="64008" marR="64008" marT="27432" marB="27432" anchor="ctr">
                    <a:solidFill>
                      <a:srgbClr val="FFFFFF"/>
                    </a:solidFill>
                  </a:tcPr>
                </a:tc>
              </a:tr>
              <a:tr h="429768">
                <a:tc>
                  <a:txBody>
                    <a:bodyPr/>
                    <a:lstStyle/>
                    <a:p>
                      <a:pPr algn="l"/>
                      <a:r>
                        <a:rPr sz="1300" b="0">
                          <a:solidFill>
                            <a:srgbClr val="1F2937"/>
                          </a:solidFill>
                          <a:latin typeface="Calibri"/>
                        </a:rPr>
                        <a:t>failed_attempts_24h</a:t>
                      </a:r>
                    </a:p>
                  </a:txBody>
                  <a:tcPr marL="64008" marR="64008" marT="27432" marB="27432" anchor="ctr">
                    <a:solidFill>
                      <a:srgbClr val="EEF3F9"/>
                    </a:solidFill>
                  </a:tcPr>
                </a:tc>
                <a:tc>
                  <a:txBody>
                    <a:bodyPr/>
                    <a:lstStyle/>
                    <a:p>
                      <a:pPr algn="ctr"/>
                      <a:r>
                        <a:rPr sz="1300" b="0">
                          <a:solidFill>
                            <a:srgbClr val="1F2937"/>
                          </a:solidFill>
                          <a:latin typeface="Calibri"/>
                        </a:rPr>
                        <a:t>0</a:t>
                      </a:r>
                    </a:p>
                  </a:txBody>
                  <a:tcPr marL="64008" marR="64008" marT="27432" marB="27432" anchor="ctr">
                    <a:solidFill>
                      <a:srgbClr val="EEF3F9"/>
                    </a:solidFill>
                  </a:tcPr>
                </a:tc>
                <a:tc>
                  <a:txBody>
                    <a:bodyPr/>
                    <a:lstStyle/>
                    <a:p>
                      <a:pPr algn="ctr"/>
                      <a:r>
                        <a:rPr sz="1300" b="0">
                          <a:solidFill>
                            <a:srgbClr val="1F2937"/>
                          </a:solidFill>
                          <a:latin typeface="Calibri"/>
                        </a:rPr>
                        <a:t>4</a:t>
                      </a:r>
                    </a:p>
                  </a:txBody>
                  <a:tcPr marL="64008" marR="64008" marT="27432" marB="27432" anchor="ctr">
                    <a:solidFill>
                      <a:srgbClr val="EEF3F9"/>
                    </a:solidFill>
                  </a:tcPr>
                </a:tc>
                <a:tc>
                  <a:txBody>
                    <a:bodyPr/>
                    <a:lstStyle/>
                    <a:p>
                      <a:pPr algn="ctr"/>
                      <a:r>
                        <a:rPr sz="1300" b="0">
                          <a:solidFill>
                            <a:srgbClr val="1F2937"/>
                          </a:solidFill>
                          <a:latin typeface="Calibri"/>
                        </a:rPr>
                        <a:t>0.25</a:t>
                      </a:r>
                    </a:p>
                  </a:txBody>
                  <a:tcPr marL="64008" marR="64008" marT="27432" marB="27432" anchor="ctr">
                    <a:solidFill>
                      <a:srgbClr val="EEF3F9"/>
                    </a:solidFill>
                  </a:tcPr>
                </a:tc>
                <a:tc>
                  <a:txBody>
                    <a:bodyPr/>
                    <a:lstStyle/>
                    <a:p>
                      <a:pPr algn="ctr"/>
                      <a:r>
                        <a:rPr sz="1300" b="0">
                          <a:solidFill>
                            <a:srgbClr val="1F2937"/>
                          </a:solidFill>
                          <a:latin typeface="Calibri"/>
                        </a:rPr>
                        <a:t>0</a:t>
                      </a:r>
                    </a:p>
                  </a:txBody>
                  <a:tcPr marL="64008" marR="64008" marT="27432" marB="27432" anchor="ctr">
                    <a:solidFill>
                      <a:srgbClr val="EEF3F9"/>
                    </a:solidFill>
                  </a:tcPr>
                </a:tc>
                <a:tc>
                  <a:txBody>
                    <a:bodyPr/>
                    <a:lstStyle/>
                    <a:p>
                      <a:pPr algn="ctr"/>
                      <a:r>
                        <a:rPr sz="1300" b="0">
                          <a:solidFill>
                            <a:srgbClr val="1F2937"/>
                          </a:solidFill>
                          <a:latin typeface="Calibri"/>
                        </a:rPr>
                        <a:t>0.29</a:t>
                      </a:r>
                    </a:p>
                  </a:txBody>
                  <a:tcPr marL="64008" marR="64008" marT="27432" marB="27432" anchor="ctr">
                    <a:solidFill>
                      <a:srgbClr val="EEF3F9"/>
                    </a:solidFill>
                  </a:tcPr>
                </a:tc>
                <a:tc>
                  <a:txBody>
                    <a:bodyPr/>
                    <a:lstStyle/>
                    <a:p>
                      <a:pPr algn="ctr"/>
                      <a:r>
                        <a:rPr sz="1300" b="0">
                          <a:solidFill>
                            <a:srgbClr val="1F2937"/>
                          </a:solidFill>
                          <a:latin typeface="Calibri"/>
                        </a:rPr>
                        <a:t>0.25</a:t>
                      </a:r>
                    </a:p>
                  </a:txBody>
                  <a:tcPr marL="64008" marR="64008" marT="27432" marB="27432" anchor="ctr">
                    <a:solidFill>
                      <a:srgbClr val="EEF3F9"/>
                    </a:solidFill>
                  </a:tcPr>
                </a:tc>
              </a:tr>
            </a:tbl>
          </a:graphicData>
        </a:graphic>
      </p:graphicFrame>
      <p:sp>
        <p:nvSpPr>
          <p:cNvPr id="6" name="Rounded Rectangle 5"/>
          <p:cNvSpPr/>
          <p:nvPr/>
        </p:nvSpPr>
        <p:spPr>
          <a:xfrm>
            <a:off x="8458200" y="1920240"/>
            <a:ext cx="3200400" cy="39319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0" y="1993392"/>
            <a:ext cx="2926080" cy="3785615"/>
          </a:xfrm>
          <a:prstGeom prst="rect">
            <a:avLst/>
          </a:prstGeom>
          <a:noFill/>
        </p:spPr>
        <p:txBody>
          <a:bodyPr wrap="square" anchor="t" lIns="36576" rIns="36576" tIns="36576" bIns="36576">
            <a:spAutoFit/>
          </a:bodyPr>
          <a:lstStyle/>
          <a:p>
            <a:pPr algn="l">
              <a:spcAft>
                <a:spcPts val="500"/>
              </a:spcAft>
            </a:pPr>
            <a:r>
              <a:rPr sz="1600" b="1" i="0">
                <a:solidFill>
                  <a:srgbClr val="103F77"/>
                </a:solidFill>
                <a:latin typeface="Calibri"/>
              </a:rPr>
              <a:t>Lo que dicen</a:t>
            </a:r>
          </a:p>
          <a:p>
            <a:pPr algn="l" marL="228600" indent="-182880">
              <a:spcAft>
                <a:spcPts val="300"/>
              </a:spcAft>
              <a:buChar char="•"/>
            </a:pPr>
            <a:r>
              <a:rPr sz="1300" b="0" i="0">
                <a:solidFill>
                  <a:srgbClr val="1F2937"/>
                </a:solidFill>
                <a:latin typeface="Calibri"/>
              </a:rPr>
              <a:t>Un fraude promedio es de </a:t>
            </a:r>
            <a:r>
              <a:rPr sz="1300" b="1" i="0">
                <a:solidFill>
                  <a:srgbClr val="1F2937"/>
                </a:solidFill>
                <a:latin typeface="Calibri"/>
              </a:rPr>
              <a:t>USD 175</a:t>
            </a:r>
            <a:r>
              <a:rPr sz="1300" b="0" i="0">
                <a:solidFill>
                  <a:srgbClr val="1F2937"/>
                </a:solidFill>
                <a:latin typeface="Calibri"/>
              </a:rPr>
              <a:t> frente a USD 105 de una legítima</a:t>
            </a:r>
          </a:p>
          <a:p>
            <a:pPr algn="l" marL="228600" indent="-182880">
              <a:spcAft>
                <a:spcPts val="300"/>
              </a:spcAft>
              <a:buChar char="•"/>
            </a:pPr>
            <a:r>
              <a:rPr sz="1300" b="0" i="0">
                <a:solidFill>
                  <a:srgbClr val="1F2937"/>
                </a:solidFill>
                <a:latin typeface="Calibri"/>
              </a:rPr>
              <a:t>En un fraude se gasta </a:t>
            </a:r>
            <a:r>
              <a:rPr sz="1300" b="1" i="0">
                <a:solidFill>
                  <a:srgbClr val="1F2937"/>
                </a:solidFill>
                <a:latin typeface="Calibri"/>
              </a:rPr>
              <a:t>5.4 veces</a:t>
            </a:r>
            <a:r>
              <a:rPr sz="1300" b="0" i="0">
                <a:solidFill>
                  <a:srgbClr val="1F2937"/>
                </a:solidFill>
                <a:latin typeface="Calibri"/>
              </a:rPr>
              <a:t> lo habitual; en una legítima, 3.3</a:t>
            </a:r>
          </a:p>
          <a:p>
            <a:pPr algn="l" marL="228600" indent="-182880">
              <a:spcAft>
                <a:spcPts val="300"/>
              </a:spcAft>
              <a:buChar char="•"/>
            </a:pPr>
            <a:r>
              <a:rPr sz="1300" b="0" i="0">
                <a:solidFill>
                  <a:srgbClr val="1F2937"/>
                </a:solidFill>
                <a:latin typeface="Calibri"/>
              </a:rPr>
              <a:t>Promedio mayor que la mediana: </a:t>
            </a:r>
            <a:r>
              <a:rPr sz="1300" b="1" i="0">
                <a:solidFill>
                  <a:srgbClr val="1F2937"/>
                </a:solidFill>
                <a:latin typeface="Calibri"/>
              </a:rPr>
              <a:t>pocas transacciones muy grandes</a:t>
            </a:r>
            <a:r>
              <a:rPr sz="1300" b="0" i="0">
                <a:solidFill>
                  <a:srgbClr val="1F2937"/>
                </a:solidFill>
                <a:latin typeface="Calibri"/>
              </a:rPr>
              <a:t> (asimetría)</a:t>
            </a:r>
          </a:p>
          <a:p>
            <a:pPr algn="l" marL="228600" indent="-182880">
              <a:spcAft>
                <a:spcPts val="300"/>
              </a:spcAft>
              <a:buChar char="•"/>
            </a:pPr>
            <a:r>
              <a:rPr sz="1300" b="0" i="0">
                <a:solidFill>
                  <a:srgbClr val="1F2937"/>
                </a:solidFill>
                <a:latin typeface="Calibri"/>
              </a:rPr>
              <a:t>Distancia, IP y antigüedad casi no cambian entre clases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VALORES ATÍPICOS</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Diagrama de caja y bigotes</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8</a:t>
            </a:r>
          </a:p>
        </p:txBody>
      </p:sp>
      <p:sp>
        <p:nvSpPr>
          <p:cNvPr id="5" name="Rounded Rectangle 4"/>
          <p:cNvSpPr/>
          <p:nvPr/>
        </p:nvSpPr>
        <p:spPr>
          <a:xfrm>
            <a:off x="548640" y="1874519"/>
            <a:ext cx="7589520" cy="329184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5_boxplots.png"/>
          <p:cNvPicPr>
            <a:picLocks noChangeAspect="1"/>
          </p:cNvPicPr>
          <p:nvPr/>
        </p:nvPicPr>
        <p:blipFill>
          <a:blip r:embed="rId2"/>
          <a:stretch>
            <a:fillRect/>
          </a:stretch>
        </p:blipFill>
        <p:spPr>
          <a:xfrm>
            <a:off x="640080" y="2022848"/>
            <a:ext cx="7406640" cy="2995182"/>
          </a:xfrm>
          <a:prstGeom prst="rect">
            <a:avLst/>
          </a:prstGeom>
        </p:spPr>
      </p:pic>
      <p:sp>
        <p:nvSpPr>
          <p:cNvPr id="7" name="TextBox 6"/>
          <p:cNvSpPr txBox="1"/>
          <p:nvPr/>
        </p:nvSpPr>
        <p:spPr>
          <a:xfrm>
            <a:off x="548640" y="5257800"/>
            <a:ext cx="7589520" cy="594360"/>
          </a:xfrm>
          <a:prstGeom prst="rect">
            <a:avLst/>
          </a:prstGeom>
          <a:noFill/>
        </p:spPr>
        <p:txBody>
          <a:bodyPr wrap="square" anchor="t" lIns="73152" rIns="73152" tIns="73152" bIns="73152">
            <a:spAutoFit/>
          </a:bodyPr>
          <a:lstStyle/>
          <a:p>
            <a:pPr algn="l">
              <a:spcAft>
                <a:spcPts val="400"/>
              </a:spcAft>
            </a:pPr>
            <a:r>
              <a:rPr sz="1300" b="0" i="0">
                <a:solidFill>
                  <a:srgbClr val="4B5563"/>
                </a:solidFill>
                <a:latin typeface="Calibri"/>
              </a:rPr>
              <a:t>Puntos naranjas: valores atípicos (regla IQR 1.5×). Se concentran en montos, gasto frente al habitual y distancia.</a:t>
            </a:r>
          </a:p>
        </p:txBody>
      </p:sp>
      <p:sp>
        <p:nvSpPr>
          <p:cNvPr id="8" name="Rounded Rectangle 7"/>
          <p:cNvSpPr/>
          <p:nvPr/>
        </p:nvSpPr>
        <p:spPr>
          <a:xfrm>
            <a:off x="8366760" y="1874519"/>
            <a:ext cx="3291840" cy="123444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76488" y="1947672"/>
            <a:ext cx="3072384" cy="1088136"/>
          </a:xfrm>
          <a:prstGeom prst="rect">
            <a:avLst/>
          </a:prstGeom>
          <a:noFill/>
        </p:spPr>
        <p:txBody>
          <a:bodyPr wrap="square" anchor="t" lIns="36576" rIns="36576" tIns="36576" bIns="36576">
            <a:spAutoFit/>
          </a:bodyPr>
          <a:lstStyle/>
          <a:p>
            <a:pPr algn="l">
              <a:spcAft>
                <a:spcPts val="200"/>
              </a:spcAft>
            </a:pPr>
            <a:r>
              <a:rPr sz="3400" b="1" i="0">
                <a:solidFill>
                  <a:srgbClr val="A71C21"/>
                </a:solidFill>
                <a:latin typeface="Calibri"/>
              </a:rPr>
              <a:t>49.2%</a:t>
            </a:r>
          </a:p>
          <a:p>
            <a:pPr algn="l">
              <a:spcAft>
                <a:spcPts val="400"/>
              </a:spcAft>
            </a:pPr>
            <a:r>
              <a:rPr sz="1300" b="0" i="0">
                <a:solidFill>
                  <a:srgbClr val="4B5563"/>
                </a:solidFill>
                <a:latin typeface="Calibri"/>
              </a:rPr>
              <a:t>de los fraudes se perderían (447 de 909)</a:t>
            </a:r>
          </a:p>
        </p:txBody>
      </p:sp>
      <p:sp>
        <p:nvSpPr>
          <p:cNvPr id="10" name="Rounded Rectangle 9"/>
          <p:cNvSpPr/>
          <p:nvPr/>
        </p:nvSpPr>
        <p:spPr>
          <a:xfrm>
            <a:off x="8366760" y="3246120"/>
            <a:ext cx="3291840" cy="123444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76488" y="3319272"/>
            <a:ext cx="3072384" cy="1088136"/>
          </a:xfrm>
          <a:prstGeom prst="rect">
            <a:avLst/>
          </a:prstGeom>
          <a:noFill/>
        </p:spPr>
        <p:txBody>
          <a:bodyPr wrap="square" anchor="t" lIns="36576" rIns="36576" tIns="36576" bIns="36576">
            <a:spAutoFit/>
          </a:bodyPr>
          <a:lstStyle/>
          <a:p>
            <a:pPr algn="l">
              <a:spcAft>
                <a:spcPts val="200"/>
              </a:spcAft>
            </a:pPr>
            <a:r>
              <a:rPr sz="3400" b="1" i="0">
                <a:solidFill>
                  <a:srgbClr val="D55E00"/>
                </a:solidFill>
                <a:latin typeface="Calibri"/>
              </a:rPr>
              <a:t>41.1%</a:t>
            </a:r>
          </a:p>
          <a:p>
            <a:pPr algn="l">
              <a:spcAft>
                <a:spcPts val="400"/>
              </a:spcAft>
            </a:pPr>
            <a:r>
              <a:rPr sz="1300" b="0" i="0">
                <a:solidFill>
                  <a:srgbClr val="4B5563"/>
                </a:solidFill>
                <a:latin typeface="Calibri"/>
              </a:rPr>
              <a:t>de las transacciones se eliminarían (20,538)</a:t>
            </a:r>
          </a:p>
        </p:txBody>
      </p:sp>
      <p:sp>
        <p:nvSpPr>
          <p:cNvPr id="12" name="Rounded Rectangle 11"/>
          <p:cNvSpPr/>
          <p:nvPr/>
        </p:nvSpPr>
        <p:spPr>
          <a:xfrm>
            <a:off x="8366760" y="4617720"/>
            <a:ext cx="3291840" cy="1234440"/>
          </a:xfrm>
          <a:prstGeom prst="roundRect">
            <a:avLst>
              <a:gd name="adj" fmla="val 6000"/>
            </a:avLst>
          </a:prstGeom>
          <a:solidFill>
            <a:srgbClr val="103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4663440"/>
            <a:ext cx="3017520" cy="1143000"/>
          </a:xfrm>
          <a:prstGeom prst="rect">
            <a:avLst/>
          </a:prstGeom>
          <a:noFill/>
        </p:spPr>
        <p:txBody>
          <a:bodyPr wrap="square" anchor="t" lIns="73152" rIns="73152" tIns="73152" bIns="73152">
            <a:spAutoFit/>
          </a:bodyPr>
          <a:lstStyle/>
          <a:p>
            <a:pPr algn="l">
              <a:spcAft>
                <a:spcPts val="200"/>
              </a:spcAft>
            </a:pPr>
            <a:r>
              <a:rPr sz="1600" b="1" i="0">
                <a:solidFill>
                  <a:srgbClr val="F2A65A"/>
                </a:solidFill>
                <a:latin typeface="Calibri"/>
              </a:rPr>
              <a:t>Decisión: conservarlos</a:t>
            </a:r>
          </a:p>
          <a:p>
            <a:pPr algn="l">
              <a:spcAft>
                <a:spcPts val="400"/>
              </a:spcAft>
            </a:pPr>
            <a:r>
              <a:rPr sz="1300" b="0" i="0">
                <a:solidFill>
                  <a:srgbClr val="FFFFFF"/>
                </a:solidFill>
                <a:latin typeface="Calibri"/>
              </a:rPr>
              <a:t>Los atípicos tienen de 2 a 2.5 veces más fraude: son la señal.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ANÁLISIS EXPLORATORIO</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Dónde se concentra el fraude</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9</a:t>
            </a:r>
          </a:p>
        </p:txBody>
      </p:sp>
      <p:sp>
        <p:nvSpPr>
          <p:cNvPr id="5" name="Rounded Rectangle 4"/>
          <p:cNvSpPr/>
          <p:nvPr/>
        </p:nvSpPr>
        <p:spPr>
          <a:xfrm>
            <a:off x="548640" y="1965960"/>
            <a:ext cx="3566160" cy="150876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057400"/>
            <a:ext cx="3291840" cy="1325880"/>
          </a:xfrm>
          <a:prstGeom prst="rect">
            <a:avLst/>
          </a:prstGeom>
          <a:noFill/>
        </p:spPr>
        <p:txBody>
          <a:bodyPr wrap="square" anchor="t" lIns="73152" rIns="73152" tIns="73152" bIns="73152">
            <a:spAutoFit/>
          </a:bodyPr>
          <a:lstStyle/>
          <a:p>
            <a:pPr algn="l">
              <a:spcAft>
                <a:spcPts val="200"/>
              </a:spcAft>
            </a:pPr>
            <a:r>
              <a:rPr sz="1500" b="1" i="0">
                <a:solidFill>
                  <a:srgbClr val="4B5563"/>
                </a:solidFill>
                <a:latin typeface="Calibri"/>
              </a:rPr>
              <a:t>Fuera de Ecuador</a:t>
            </a:r>
          </a:p>
          <a:p>
            <a:pPr algn="l">
              <a:spcAft>
                <a:spcPts val="200"/>
              </a:spcAft>
            </a:pPr>
            <a:r>
              <a:rPr sz="3000" b="1" i="0">
                <a:solidFill>
                  <a:srgbClr val="D55E00"/>
                </a:solidFill>
                <a:latin typeface="Calibri"/>
              </a:rPr>
              <a:t>2.5–3.9%</a:t>
            </a:r>
          </a:p>
          <a:p>
            <a:pPr algn="l">
              <a:spcAft>
                <a:spcPts val="400"/>
              </a:spcAft>
            </a:pPr>
            <a:r>
              <a:rPr sz="1400" b="0" i="0">
                <a:solidFill>
                  <a:srgbClr val="4B5563"/>
                </a:solidFill>
                <a:latin typeface="Calibri"/>
              </a:rPr>
              <a:t>frente a 1.4% en Ecuador</a:t>
            </a:r>
          </a:p>
        </p:txBody>
      </p:sp>
      <p:sp>
        <p:nvSpPr>
          <p:cNvPr id="7" name="Rounded Rectangle 6"/>
          <p:cNvSpPr/>
          <p:nvPr/>
        </p:nvSpPr>
        <p:spPr>
          <a:xfrm>
            <a:off x="4297679" y="1965960"/>
            <a:ext cx="3566160" cy="150876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4840" y="2057400"/>
            <a:ext cx="3291840" cy="1325880"/>
          </a:xfrm>
          <a:prstGeom prst="rect">
            <a:avLst/>
          </a:prstGeom>
          <a:noFill/>
        </p:spPr>
        <p:txBody>
          <a:bodyPr wrap="square" anchor="t" lIns="73152" rIns="73152" tIns="73152" bIns="73152">
            <a:spAutoFit/>
          </a:bodyPr>
          <a:lstStyle/>
          <a:p>
            <a:pPr algn="l">
              <a:spcAft>
                <a:spcPts val="200"/>
              </a:spcAft>
            </a:pPr>
            <a:r>
              <a:rPr sz="1500" b="1" i="0">
                <a:solidFill>
                  <a:srgbClr val="4B5563"/>
                </a:solidFill>
                <a:latin typeface="Calibri"/>
              </a:rPr>
              <a:t>Tarjeta no presente</a:t>
            </a:r>
          </a:p>
          <a:p>
            <a:pPr algn="l">
              <a:spcAft>
                <a:spcPts val="200"/>
              </a:spcAft>
            </a:pPr>
            <a:r>
              <a:rPr sz="3000" b="1" i="0">
                <a:solidFill>
                  <a:srgbClr val="D55E00"/>
                </a:solidFill>
                <a:latin typeface="Calibri"/>
              </a:rPr>
              <a:t>2.4%</a:t>
            </a:r>
          </a:p>
          <a:p>
            <a:pPr algn="l">
              <a:spcAft>
                <a:spcPts val="400"/>
              </a:spcAft>
            </a:pPr>
            <a:r>
              <a:rPr sz="1400" b="0" i="0">
                <a:solidFill>
                  <a:srgbClr val="4B5563"/>
                </a:solidFill>
                <a:latin typeface="Calibri"/>
              </a:rPr>
              <a:t>frente a 1.2% con tarjeta</a:t>
            </a:r>
          </a:p>
        </p:txBody>
      </p:sp>
      <p:sp>
        <p:nvSpPr>
          <p:cNvPr id="9" name="Rounded Rectangle 8"/>
          <p:cNvSpPr/>
          <p:nvPr/>
        </p:nvSpPr>
        <p:spPr>
          <a:xfrm>
            <a:off x="8046719" y="1965960"/>
            <a:ext cx="3566160" cy="150876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2057400"/>
            <a:ext cx="3291840" cy="1325880"/>
          </a:xfrm>
          <a:prstGeom prst="rect">
            <a:avLst/>
          </a:prstGeom>
          <a:noFill/>
        </p:spPr>
        <p:txBody>
          <a:bodyPr wrap="square" anchor="t" lIns="73152" rIns="73152" tIns="73152" bIns="73152">
            <a:spAutoFit/>
          </a:bodyPr>
          <a:lstStyle/>
          <a:p>
            <a:pPr algn="l">
              <a:spcAft>
                <a:spcPts val="200"/>
              </a:spcAft>
            </a:pPr>
            <a:r>
              <a:rPr sz="1500" b="1" i="0">
                <a:solidFill>
                  <a:srgbClr val="4B5563"/>
                </a:solidFill>
                <a:latin typeface="Calibri"/>
              </a:rPr>
              <a:t>Canales WEB y APP</a:t>
            </a:r>
          </a:p>
          <a:p>
            <a:pPr algn="l">
              <a:spcAft>
                <a:spcPts val="200"/>
              </a:spcAft>
            </a:pPr>
            <a:r>
              <a:rPr sz="3000" b="1" i="0">
                <a:solidFill>
                  <a:srgbClr val="D55E00"/>
                </a:solidFill>
                <a:latin typeface="Calibri"/>
              </a:rPr>
              <a:t>2.4%</a:t>
            </a:r>
          </a:p>
          <a:p>
            <a:pPr algn="l">
              <a:spcAft>
                <a:spcPts val="400"/>
              </a:spcAft>
            </a:pPr>
            <a:r>
              <a:rPr sz="1400" b="0" i="0">
                <a:solidFill>
                  <a:srgbClr val="4B5563"/>
                </a:solidFill>
                <a:latin typeface="Calibri"/>
              </a:rPr>
              <a:t>frente a 1.2% en POS</a:t>
            </a:r>
          </a:p>
        </p:txBody>
      </p:sp>
      <p:sp>
        <p:nvSpPr>
          <p:cNvPr id="11" name="Rounded Rectangle 10"/>
          <p:cNvSpPr/>
          <p:nvPr/>
        </p:nvSpPr>
        <p:spPr>
          <a:xfrm>
            <a:off x="548640" y="3657600"/>
            <a:ext cx="3566160" cy="150876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49039"/>
            <a:ext cx="3291840" cy="1325880"/>
          </a:xfrm>
          <a:prstGeom prst="rect">
            <a:avLst/>
          </a:prstGeom>
          <a:noFill/>
        </p:spPr>
        <p:txBody>
          <a:bodyPr wrap="square" anchor="t" lIns="73152" rIns="73152" tIns="73152" bIns="73152">
            <a:spAutoFit/>
          </a:bodyPr>
          <a:lstStyle/>
          <a:p>
            <a:pPr algn="l">
              <a:spcAft>
                <a:spcPts val="200"/>
              </a:spcAft>
            </a:pPr>
            <a:r>
              <a:rPr sz="1500" b="1" i="0">
                <a:solidFill>
                  <a:srgbClr val="4B5563"/>
                </a:solidFill>
                <a:latin typeface="Calibri"/>
              </a:rPr>
              <a:t>Dispositivo nuevo</a:t>
            </a:r>
          </a:p>
          <a:p>
            <a:pPr algn="l">
              <a:spcAft>
                <a:spcPts val="200"/>
              </a:spcAft>
            </a:pPr>
            <a:r>
              <a:rPr sz="3000" b="1" i="0">
                <a:solidFill>
                  <a:srgbClr val="D55E00"/>
                </a:solidFill>
                <a:latin typeface="Calibri"/>
              </a:rPr>
              <a:t>3.0%</a:t>
            </a:r>
          </a:p>
          <a:p>
            <a:pPr algn="l">
              <a:spcAft>
                <a:spcPts val="400"/>
              </a:spcAft>
            </a:pPr>
            <a:r>
              <a:rPr sz="1400" b="0" i="0">
                <a:solidFill>
                  <a:srgbClr val="4B5563"/>
                </a:solidFill>
                <a:latin typeface="Calibri"/>
              </a:rPr>
              <a:t>frente a 1.7% con uno conocido</a:t>
            </a:r>
          </a:p>
        </p:txBody>
      </p:sp>
      <p:sp>
        <p:nvSpPr>
          <p:cNvPr id="13" name="Rounded Rectangle 12"/>
          <p:cNvSpPr/>
          <p:nvPr/>
        </p:nvSpPr>
        <p:spPr>
          <a:xfrm>
            <a:off x="4297679" y="3657600"/>
            <a:ext cx="3566160" cy="150876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3749039"/>
            <a:ext cx="3291840" cy="1325880"/>
          </a:xfrm>
          <a:prstGeom prst="rect">
            <a:avLst/>
          </a:prstGeom>
          <a:noFill/>
        </p:spPr>
        <p:txBody>
          <a:bodyPr wrap="square" anchor="t" lIns="73152" rIns="73152" tIns="73152" bIns="73152">
            <a:spAutoFit/>
          </a:bodyPr>
          <a:lstStyle/>
          <a:p>
            <a:pPr algn="l">
              <a:spcAft>
                <a:spcPts val="200"/>
              </a:spcAft>
            </a:pPr>
            <a:r>
              <a:rPr sz="1500" b="1" i="0">
                <a:solidFill>
                  <a:srgbClr val="4B5563"/>
                </a:solidFill>
                <a:latin typeface="Calibri"/>
              </a:rPr>
              <a:t>Categoría viajes</a:t>
            </a:r>
          </a:p>
          <a:p>
            <a:pPr algn="l">
              <a:spcAft>
                <a:spcPts val="200"/>
              </a:spcAft>
            </a:pPr>
            <a:r>
              <a:rPr sz="3000" b="1" i="0">
                <a:solidFill>
                  <a:srgbClr val="D55E00"/>
                </a:solidFill>
                <a:latin typeface="Calibri"/>
              </a:rPr>
              <a:t>3.5%</a:t>
            </a:r>
          </a:p>
          <a:p>
            <a:pPr algn="l">
              <a:spcAft>
                <a:spcPts val="400"/>
              </a:spcAft>
            </a:pPr>
            <a:r>
              <a:rPr sz="1400" b="0" i="0">
                <a:solidFill>
                  <a:srgbClr val="4B5563"/>
                </a:solidFill>
                <a:latin typeface="Calibri"/>
              </a:rPr>
              <a:t>la categoría más riesgosa</a:t>
            </a:r>
          </a:p>
        </p:txBody>
      </p:sp>
      <p:sp>
        <p:nvSpPr>
          <p:cNvPr id="15" name="Rounded Rectangle 14"/>
          <p:cNvSpPr/>
          <p:nvPr/>
        </p:nvSpPr>
        <p:spPr>
          <a:xfrm>
            <a:off x="8046719" y="3657600"/>
            <a:ext cx="3566160" cy="150876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79" y="3749039"/>
            <a:ext cx="3291840" cy="1325880"/>
          </a:xfrm>
          <a:prstGeom prst="rect">
            <a:avLst/>
          </a:prstGeom>
          <a:noFill/>
        </p:spPr>
        <p:txBody>
          <a:bodyPr wrap="square" anchor="t" lIns="73152" rIns="73152" tIns="73152" bIns="73152">
            <a:spAutoFit/>
          </a:bodyPr>
          <a:lstStyle/>
          <a:p>
            <a:pPr algn="l">
              <a:spcAft>
                <a:spcPts val="200"/>
              </a:spcAft>
            </a:pPr>
            <a:r>
              <a:rPr sz="1500" b="1" i="0">
                <a:solidFill>
                  <a:srgbClr val="4B5563"/>
                </a:solidFill>
                <a:latin typeface="Calibri"/>
              </a:rPr>
              <a:t>Madrugada (23:00–04:00)</a:t>
            </a:r>
          </a:p>
          <a:p>
            <a:pPr algn="l">
              <a:spcAft>
                <a:spcPts val="200"/>
              </a:spcAft>
            </a:pPr>
            <a:r>
              <a:rPr sz="3000" b="1" i="0">
                <a:solidFill>
                  <a:srgbClr val="D55E00"/>
                </a:solidFill>
                <a:latin typeface="Calibri"/>
              </a:rPr>
              <a:t>≈ 2.5–3%</a:t>
            </a:r>
          </a:p>
          <a:p>
            <a:pPr algn="l">
              <a:spcAft>
                <a:spcPts val="400"/>
              </a:spcAft>
            </a:pPr>
            <a:r>
              <a:rPr sz="1400" b="0" i="0">
                <a:solidFill>
                  <a:srgbClr val="4B5563"/>
                </a:solidFill>
                <a:latin typeface="Calibri"/>
              </a:rPr>
              <a:t>frente a 1.8% global</a:t>
            </a:r>
          </a:p>
        </p:txBody>
      </p:sp>
      <p:sp>
        <p:nvSpPr>
          <p:cNvPr id="17" name="TextBox 16"/>
          <p:cNvSpPr txBox="1"/>
          <p:nvPr/>
        </p:nvSpPr>
        <p:spPr>
          <a:xfrm>
            <a:off x="548640" y="5440680"/>
            <a:ext cx="11109960" cy="640080"/>
          </a:xfrm>
          <a:prstGeom prst="rect">
            <a:avLst/>
          </a:prstGeom>
          <a:noFill/>
        </p:spPr>
        <p:txBody>
          <a:bodyPr wrap="square" anchor="t" lIns="73152" rIns="73152" tIns="73152" bIns="73152">
            <a:spAutoFit/>
          </a:bodyPr>
          <a:lstStyle/>
          <a:p>
            <a:pPr algn="l">
              <a:spcAft>
                <a:spcPts val="400"/>
              </a:spcAft>
            </a:pPr>
            <a:r>
              <a:rPr sz="1500" b="1" i="0">
                <a:solidFill>
                  <a:srgbClr val="1F2937"/>
                </a:solidFill>
                <a:latin typeface="Calibri"/>
              </a:rPr>
              <a:t>Relación real y significativa (chi-cuadrado, p &lt; 10⁻⁸), </a:t>
            </a:r>
            <a:r>
              <a:rPr sz="1500" b="0" i="0">
                <a:solidFill>
                  <a:srgbClr val="1F2937"/>
                </a:solidFill>
                <a:latin typeface="Calibri"/>
              </a:rPr>
              <a:t>pero son diferencias de pocos puntos: la señal existe y es débil. El tipo de dispositivo no influye (p = 0.45).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MATRIZ DE CORRELACIÓN</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Variables casi independientes y señal débil</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10</a:t>
            </a:r>
          </a:p>
        </p:txBody>
      </p:sp>
      <p:sp>
        <p:nvSpPr>
          <p:cNvPr id="5" name="Rounded Rectangle 4"/>
          <p:cNvSpPr/>
          <p:nvPr/>
        </p:nvSpPr>
        <p:spPr>
          <a:xfrm>
            <a:off x="548640" y="1874519"/>
            <a:ext cx="4937760" cy="402336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9_correlacion.png"/>
          <p:cNvPicPr>
            <a:picLocks noChangeAspect="1"/>
          </p:cNvPicPr>
          <p:nvPr/>
        </p:nvPicPr>
        <p:blipFill>
          <a:blip r:embed="rId2"/>
          <a:stretch>
            <a:fillRect/>
          </a:stretch>
        </p:blipFill>
        <p:spPr>
          <a:xfrm>
            <a:off x="918339" y="1965960"/>
            <a:ext cx="4198360" cy="3840480"/>
          </a:xfrm>
          <a:prstGeom prst="rect">
            <a:avLst/>
          </a:prstGeom>
        </p:spPr>
      </p:pic>
      <p:sp>
        <p:nvSpPr>
          <p:cNvPr id="7" name="Rounded Rectangle 6"/>
          <p:cNvSpPr/>
          <p:nvPr/>
        </p:nvSpPr>
        <p:spPr>
          <a:xfrm>
            <a:off x="5715000" y="1874519"/>
            <a:ext cx="5943600" cy="123444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947672"/>
            <a:ext cx="5669280" cy="1088136"/>
          </a:xfrm>
          <a:prstGeom prst="rect">
            <a:avLst/>
          </a:prstGeom>
          <a:noFill/>
        </p:spPr>
        <p:txBody>
          <a:bodyPr wrap="square" anchor="t" lIns="36576" rIns="36576" tIns="36576" bIns="36576">
            <a:spAutoFit/>
          </a:bodyPr>
          <a:lstStyle/>
          <a:p>
            <a:pPr algn="l">
              <a:spcAft>
                <a:spcPts val="500"/>
              </a:spcAft>
            </a:pPr>
            <a:r>
              <a:rPr sz="1600" b="1" i="0">
                <a:solidFill>
                  <a:srgbClr val="A71C21"/>
                </a:solidFill>
                <a:latin typeface="Calibri"/>
              </a:rPr>
              <a:t>Correlación máxima con fraude: 0.055</a:t>
            </a:r>
          </a:p>
          <a:p>
            <a:pPr algn="l" marL="228600" indent="-182880">
              <a:spcAft>
                <a:spcPts val="300"/>
              </a:spcAft>
              <a:buChar char="•"/>
            </a:pPr>
            <a:r>
              <a:rPr sz="1400" b="0" i="0">
                <a:solidFill>
                  <a:srgbClr val="1F2937"/>
                </a:solidFill>
                <a:latin typeface="Calibri"/>
              </a:rPr>
              <a:t>Ninguna variable sola explica el fraude; la señal está repartida en muchas variables débiles</a:t>
            </a:r>
          </a:p>
        </p:txBody>
      </p:sp>
      <p:sp>
        <p:nvSpPr>
          <p:cNvPr id="9" name="Rounded Rectangle 8"/>
          <p:cNvSpPr/>
          <p:nvPr/>
        </p:nvSpPr>
        <p:spPr>
          <a:xfrm>
            <a:off x="5715000" y="3200400"/>
            <a:ext cx="5943600" cy="123444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3273552"/>
            <a:ext cx="5669280" cy="1088136"/>
          </a:xfrm>
          <a:prstGeom prst="rect">
            <a:avLst/>
          </a:prstGeom>
          <a:noFill/>
        </p:spPr>
        <p:txBody>
          <a:bodyPr wrap="square" anchor="t" lIns="36576" rIns="36576" tIns="36576" bIns="36576">
            <a:spAutoFit/>
          </a:bodyPr>
          <a:lstStyle/>
          <a:p>
            <a:pPr algn="l">
              <a:spcAft>
                <a:spcPts val="500"/>
              </a:spcAft>
            </a:pPr>
            <a:r>
              <a:rPr sz="1600" b="1" i="0">
                <a:solidFill>
                  <a:srgbClr val="103F77"/>
                </a:solidFill>
                <a:latin typeface="Calibri"/>
              </a:rPr>
              <a:t>Predictoras casi independientes entre sí</a:t>
            </a:r>
          </a:p>
          <a:p>
            <a:pPr algn="l" marL="228600" indent="-182880">
              <a:spcAft>
                <a:spcPts val="300"/>
              </a:spcAft>
              <a:buChar char="•"/>
            </a:pPr>
            <a:r>
              <a:rPr sz="1400" b="0" i="0">
                <a:solidFill>
                  <a:srgbClr val="1F2937"/>
                </a:solidFill>
                <a:latin typeface="Calibri"/>
              </a:rPr>
              <a:t>Típico de datos generados sintéticamente: cada variable parece creada por separado</a:t>
            </a:r>
          </a:p>
        </p:txBody>
      </p:sp>
      <p:sp>
        <p:nvSpPr>
          <p:cNvPr id="11" name="Rounded Rectangle 10"/>
          <p:cNvSpPr/>
          <p:nvPr/>
        </p:nvSpPr>
        <p:spPr>
          <a:xfrm>
            <a:off x="5715000" y="4526280"/>
            <a:ext cx="5943600" cy="132588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0" y="4599432"/>
            <a:ext cx="5669280" cy="1179576"/>
          </a:xfrm>
          <a:prstGeom prst="rect">
            <a:avLst/>
          </a:prstGeom>
          <a:noFill/>
        </p:spPr>
        <p:txBody>
          <a:bodyPr wrap="square" anchor="t" lIns="36576" rIns="36576" tIns="36576" bIns="36576">
            <a:spAutoFit/>
          </a:bodyPr>
          <a:lstStyle/>
          <a:p>
            <a:pPr algn="l">
              <a:spcAft>
                <a:spcPts val="500"/>
              </a:spcAft>
            </a:pPr>
            <a:r>
              <a:rPr sz="1600" b="1" i="0">
                <a:solidFill>
                  <a:srgbClr val="286099"/>
                </a:solidFill>
                <a:latin typeface="Calibri"/>
              </a:rPr>
              <a:t>Dos redundancias, excluidas</a:t>
            </a:r>
          </a:p>
          <a:p>
            <a:pPr algn="l" marL="228600" indent="-182880">
              <a:spcAft>
                <a:spcPts val="300"/>
              </a:spcAft>
              <a:buChar char="•"/>
            </a:pPr>
            <a:r>
              <a:rPr sz="1400" b="1" i="0">
                <a:solidFill>
                  <a:srgbClr val="1F2937"/>
                </a:solidFill>
                <a:latin typeface="Calibri"/>
              </a:rPr>
              <a:t>is_international ↔ country_EC: </a:t>
            </a:r>
            <a:r>
              <a:rPr sz="1400" b="0" i="0">
                <a:solidFill>
                  <a:srgbClr val="1F2937"/>
                </a:solidFill>
                <a:latin typeface="Calibri"/>
              </a:rPr>
              <a:t>−1.00</a:t>
            </a:r>
          </a:p>
          <a:p>
            <a:pPr algn="l" marL="228600" indent="-182880">
              <a:spcAft>
                <a:spcPts val="300"/>
              </a:spcAft>
              <a:buChar char="•"/>
            </a:pPr>
            <a:r>
              <a:rPr sz="1400" b="1" i="0">
                <a:solidFill>
                  <a:srgbClr val="1F2937"/>
                </a:solidFill>
                <a:latin typeface="Calibri"/>
              </a:rPr>
              <a:t>amount_vs_avg = amount_usd ÷ avg_amount_30d</a:t>
            </a:r>
            <a:r>
              <a:rPr sz="1400" b="0" i="0">
                <a:solidFill>
                  <a:srgbClr val="1F2937"/>
                </a:solidFill>
                <a:latin typeface="Calibri"/>
              </a:rPr>
              <a:t> (cociente exacto)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METODOLOGÍA</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Cómo se entrenaron los modelos</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11</a:t>
            </a:r>
          </a:p>
        </p:txBody>
      </p:sp>
      <p:sp>
        <p:nvSpPr>
          <p:cNvPr id="5" name="Rounded Rectangle 4"/>
          <p:cNvSpPr/>
          <p:nvPr/>
        </p:nvSpPr>
        <p:spPr>
          <a:xfrm>
            <a:off x="548640" y="1874519"/>
            <a:ext cx="6766560" cy="402336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nforme_flujo_metodologico.png"/>
          <p:cNvPicPr>
            <a:picLocks noChangeAspect="1"/>
          </p:cNvPicPr>
          <p:nvPr/>
        </p:nvPicPr>
        <p:blipFill>
          <a:blip r:embed="rId2"/>
          <a:stretch>
            <a:fillRect/>
          </a:stretch>
        </p:blipFill>
        <p:spPr>
          <a:xfrm>
            <a:off x="675125" y="1965960"/>
            <a:ext cx="6513589" cy="3840480"/>
          </a:xfrm>
          <a:prstGeom prst="rect">
            <a:avLst/>
          </a:prstGeom>
        </p:spPr>
      </p:pic>
      <p:sp>
        <p:nvSpPr>
          <p:cNvPr id="7" name="Rounded Rectangle 6"/>
          <p:cNvSpPr/>
          <p:nvPr/>
        </p:nvSpPr>
        <p:spPr>
          <a:xfrm>
            <a:off x="7543800" y="1874519"/>
            <a:ext cx="4114800" cy="402336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947672"/>
            <a:ext cx="3840480" cy="3877056"/>
          </a:xfrm>
          <a:prstGeom prst="rect">
            <a:avLst/>
          </a:prstGeom>
          <a:noFill/>
        </p:spPr>
        <p:txBody>
          <a:bodyPr wrap="square" anchor="t" lIns="36576" rIns="36576" tIns="36576" bIns="36576">
            <a:spAutoFit/>
          </a:bodyPr>
          <a:lstStyle/>
          <a:p>
            <a:pPr algn="l">
              <a:spcAft>
                <a:spcPts val="500"/>
              </a:spcAft>
            </a:pPr>
            <a:r>
              <a:rPr sz="1600" b="1" i="0">
                <a:solidFill>
                  <a:srgbClr val="103F77"/>
                </a:solidFill>
                <a:latin typeface="Calibri"/>
              </a:rPr>
              <a:t>Reglas para todos los modelos</a:t>
            </a:r>
          </a:p>
          <a:p>
            <a:pPr algn="l" marL="228600" indent="-182880">
              <a:spcAft>
                <a:spcPts val="300"/>
              </a:spcAft>
              <a:buChar char="•"/>
            </a:pPr>
            <a:r>
              <a:rPr sz="1400" b="1" i="0">
                <a:solidFill>
                  <a:srgbClr val="1F2937"/>
                </a:solidFill>
                <a:latin typeface="Calibri"/>
              </a:rPr>
              <a:t>Test aislado: </a:t>
            </a:r>
            <a:r>
              <a:rPr sz="1400" b="0" i="0">
                <a:solidFill>
                  <a:srgbClr val="1F2937"/>
                </a:solidFill>
                <a:latin typeface="Calibri"/>
              </a:rPr>
              <a:t>80/20 estratificado; el 20% solo se abre al final</a:t>
            </a:r>
          </a:p>
          <a:p>
            <a:pPr algn="l" marL="228600" indent="-182880">
              <a:spcAft>
                <a:spcPts val="300"/>
              </a:spcAft>
              <a:buChar char="•"/>
            </a:pPr>
            <a:r>
              <a:rPr sz="1400" b="1" i="0">
                <a:solidFill>
                  <a:srgbClr val="1F2937"/>
                </a:solidFill>
                <a:latin typeface="Calibri"/>
              </a:rPr>
              <a:t>Pipeline: </a:t>
            </a:r>
            <a:r>
              <a:rPr sz="1400" b="0" i="0">
                <a:solidFill>
                  <a:srgbClr val="1F2937"/>
                </a:solidFill>
                <a:latin typeface="Calibri"/>
              </a:rPr>
              <a:t>One-Hot; logaritmo y escalado solo en Regresión Logística</a:t>
            </a:r>
          </a:p>
          <a:p>
            <a:pPr algn="l" marL="228600" indent="-182880">
              <a:spcAft>
                <a:spcPts val="300"/>
              </a:spcAft>
              <a:buChar char="•"/>
            </a:pPr>
            <a:r>
              <a:rPr sz="1400" b="1" i="0">
                <a:solidFill>
                  <a:srgbClr val="1F2937"/>
                </a:solidFill>
                <a:latin typeface="Calibri"/>
              </a:rPr>
              <a:t>Validación cruzada: </a:t>
            </a:r>
            <a:r>
              <a:rPr sz="1400" b="0" i="0">
                <a:solidFill>
                  <a:srgbClr val="1F2937"/>
                </a:solidFill>
                <a:latin typeface="Calibri"/>
              </a:rPr>
              <a:t>5 particiones estratificadas, las mismas para todos</a:t>
            </a:r>
          </a:p>
          <a:p>
            <a:pPr algn="l" marL="228600" indent="-182880">
              <a:spcAft>
                <a:spcPts val="300"/>
              </a:spcAft>
              <a:buChar char="•"/>
            </a:pPr>
            <a:r>
              <a:rPr sz="1400" b="1" i="0">
                <a:solidFill>
                  <a:srgbClr val="1F2937"/>
                </a:solidFill>
                <a:latin typeface="Calibri"/>
              </a:rPr>
              <a:t>Desbalance: </a:t>
            </a:r>
            <a:r>
              <a:rPr sz="1400" b="0" i="0">
                <a:solidFill>
                  <a:srgbClr val="1F2937"/>
                </a:solidFill>
                <a:latin typeface="Calibri"/>
              </a:rPr>
              <a:t>más peso a los fraudes (class_weight)</a:t>
            </a:r>
          </a:p>
          <a:p>
            <a:pPr algn="l" marL="228600" indent="-182880">
              <a:spcAft>
                <a:spcPts val="300"/>
              </a:spcAft>
              <a:buChar char="•"/>
            </a:pPr>
            <a:r>
              <a:rPr sz="1400" b="1" i="0">
                <a:solidFill>
                  <a:srgbClr val="1F2937"/>
                </a:solidFill>
                <a:latin typeface="Calibri"/>
              </a:rPr>
              <a:t>Selección: </a:t>
            </a:r>
            <a:r>
              <a:rPr sz="1400" b="0" i="0">
                <a:solidFill>
                  <a:srgbClr val="1F2937"/>
                </a:solidFill>
                <a:latin typeface="Calibri"/>
              </a:rPr>
              <a:t>PR-AUC y Recall de fraude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MODELO 1</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Regresión Logística</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12</a:t>
            </a:r>
          </a:p>
        </p:txBody>
      </p:sp>
      <p:sp>
        <p:nvSpPr>
          <p:cNvPr id="5" name="Rounded Rectangle 4"/>
          <p:cNvSpPr/>
          <p:nvPr/>
        </p:nvSpPr>
        <p:spPr>
          <a:xfrm>
            <a:off x="548640" y="1874519"/>
            <a:ext cx="3520440" cy="224028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47672"/>
            <a:ext cx="3246120" cy="2093976"/>
          </a:xfrm>
          <a:prstGeom prst="rect">
            <a:avLst/>
          </a:prstGeom>
          <a:noFill/>
        </p:spPr>
        <p:txBody>
          <a:bodyPr wrap="square" anchor="t" lIns="36576" rIns="36576" tIns="36576" bIns="36576">
            <a:spAutoFit/>
          </a:bodyPr>
          <a:lstStyle/>
          <a:p>
            <a:pPr algn="l">
              <a:spcAft>
                <a:spcPts val="500"/>
              </a:spcAft>
            </a:pPr>
            <a:r>
              <a:rPr sz="1500" b="1" i="0">
                <a:solidFill>
                  <a:srgbClr val="4B5563"/>
                </a:solidFill>
                <a:latin typeface="Calibri"/>
              </a:rPr>
              <a:t>Inicial · PR-AUC 0.048</a:t>
            </a:r>
          </a:p>
          <a:p>
            <a:pPr algn="l" marL="228600" indent="-182880">
              <a:spcAft>
                <a:spcPts val="300"/>
              </a:spcAft>
              <a:buChar char="•"/>
            </a:pPr>
            <a:r>
              <a:rPr sz="1300" b="0" i="0">
                <a:solidFill>
                  <a:srgbClr val="1F2937"/>
                </a:solidFill>
                <a:latin typeface="Calibri"/>
              </a:rPr>
              <a:t>C = 1 (regularización por defecto)</a:t>
            </a:r>
          </a:p>
          <a:p>
            <a:pPr algn="l" marL="228600" indent="-182880">
              <a:spcAft>
                <a:spcPts val="300"/>
              </a:spcAft>
              <a:buChar char="•"/>
            </a:pPr>
            <a:r>
              <a:rPr sz="1300" b="0" i="0">
                <a:solidFill>
                  <a:srgbClr val="1F2937"/>
                </a:solidFill>
                <a:latin typeface="Calibri"/>
              </a:rPr>
              <a:t>Pesos balanceados (fraude ≈ ×54)</a:t>
            </a:r>
          </a:p>
          <a:p>
            <a:pPr algn="l" marL="228600" indent="-182880">
              <a:spcAft>
                <a:spcPts val="300"/>
              </a:spcAft>
              <a:buChar char="•"/>
            </a:pPr>
            <a:r>
              <a:rPr sz="1300" b="0" i="0">
                <a:solidFill>
                  <a:srgbClr val="1F2937"/>
                </a:solidFill>
                <a:latin typeface="Calibri"/>
              </a:rPr>
              <a:t>Log + escalado de montos</a:t>
            </a:r>
          </a:p>
        </p:txBody>
      </p:sp>
      <p:sp>
        <p:nvSpPr>
          <p:cNvPr id="7" name="TextBox 6"/>
          <p:cNvSpPr txBox="1"/>
          <p:nvPr/>
        </p:nvSpPr>
        <p:spPr>
          <a:xfrm>
            <a:off x="4069080" y="2606040"/>
            <a:ext cx="457200" cy="548640"/>
          </a:xfrm>
          <a:prstGeom prst="rect">
            <a:avLst/>
          </a:prstGeom>
          <a:noFill/>
        </p:spPr>
        <p:txBody>
          <a:bodyPr wrap="square" anchor="t" lIns="73152" rIns="73152" tIns="73152" bIns="73152">
            <a:spAutoFit/>
          </a:bodyPr>
          <a:lstStyle/>
          <a:p>
            <a:pPr algn="ctr">
              <a:spcAft>
                <a:spcPts val="400"/>
              </a:spcAft>
            </a:pPr>
            <a:r>
              <a:rPr sz="3200" b="1" i="0">
                <a:solidFill>
                  <a:srgbClr val="286099"/>
                </a:solidFill>
                <a:latin typeface="Calibri"/>
              </a:rPr>
              <a:t>→</a:t>
            </a:r>
          </a:p>
        </p:txBody>
      </p:sp>
      <p:sp>
        <p:nvSpPr>
          <p:cNvPr id="8" name="Rounded Rectangle 7"/>
          <p:cNvSpPr/>
          <p:nvPr/>
        </p:nvSpPr>
        <p:spPr>
          <a:xfrm>
            <a:off x="4526280" y="1874519"/>
            <a:ext cx="3520440" cy="2240280"/>
          </a:xfrm>
          <a:prstGeom prst="roundRect">
            <a:avLst>
              <a:gd name="adj" fmla="val 6000"/>
            </a:avLst>
          </a:prstGeom>
          <a:solidFill>
            <a:srgbClr val="FFFFFF"/>
          </a:solidFill>
          <a:ln w="12700">
            <a:solidFill>
              <a:srgbClr val="2860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947672"/>
            <a:ext cx="3246120" cy="2093976"/>
          </a:xfrm>
          <a:prstGeom prst="rect">
            <a:avLst/>
          </a:prstGeom>
          <a:noFill/>
        </p:spPr>
        <p:txBody>
          <a:bodyPr wrap="square" anchor="t" lIns="36576" rIns="36576" tIns="36576" bIns="36576">
            <a:spAutoFit/>
          </a:bodyPr>
          <a:lstStyle/>
          <a:p>
            <a:pPr algn="l">
              <a:spcAft>
                <a:spcPts val="500"/>
              </a:spcAft>
            </a:pPr>
            <a:r>
              <a:rPr sz="1500" b="1" i="0">
                <a:solidFill>
                  <a:srgbClr val="286099"/>
                </a:solidFill>
                <a:latin typeface="Calibri"/>
              </a:rPr>
              <a:t>Mejorado · PR-AUC 0.051</a:t>
            </a:r>
          </a:p>
          <a:p>
            <a:pPr algn="l" marL="228600" indent="-182880">
              <a:spcAft>
                <a:spcPts val="300"/>
              </a:spcAft>
              <a:buChar char="•"/>
            </a:pPr>
            <a:r>
              <a:rPr sz="1300" b="0" i="0">
                <a:solidFill>
                  <a:srgbClr val="1F2937"/>
                </a:solidFill>
                <a:latin typeface="Calibri"/>
              </a:rPr>
              <a:t>C = 0.001: regularización fuerte</a:t>
            </a:r>
          </a:p>
          <a:p>
            <a:pPr algn="l" marL="228600" indent="-182880">
              <a:spcAft>
                <a:spcPts val="300"/>
              </a:spcAft>
              <a:buChar char="•"/>
            </a:pPr>
            <a:r>
              <a:rPr sz="1300" b="0" i="0">
                <a:solidFill>
                  <a:srgbClr val="1F2937"/>
                </a:solidFill>
                <a:latin typeface="Calibri"/>
              </a:rPr>
              <a:t>Pesos balanceados</a:t>
            </a:r>
          </a:p>
          <a:p>
            <a:pPr algn="l" marL="228600" indent="-182880">
              <a:spcAft>
                <a:spcPts val="300"/>
              </a:spcAft>
              <a:buChar char="•"/>
            </a:pPr>
            <a:r>
              <a:rPr sz="1300" b="0" i="0">
                <a:solidFill>
                  <a:srgbClr val="1F2937"/>
                </a:solidFill>
                <a:latin typeface="Calibri"/>
              </a:rPr>
              <a:t>Log + escalado; One-Hot</a:t>
            </a:r>
          </a:p>
        </p:txBody>
      </p:sp>
      <p:sp>
        <p:nvSpPr>
          <p:cNvPr id="10" name="Rounded Rectangle 9"/>
          <p:cNvSpPr/>
          <p:nvPr/>
        </p:nvSpPr>
        <p:spPr>
          <a:xfrm>
            <a:off x="8275320" y="1874519"/>
            <a:ext cx="3383280" cy="224028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1947672"/>
            <a:ext cx="3108960" cy="2093976"/>
          </a:xfrm>
          <a:prstGeom prst="rect">
            <a:avLst/>
          </a:prstGeom>
          <a:noFill/>
        </p:spPr>
        <p:txBody>
          <a:bodyPr wrap="square" anchor="t" lIns="36576" rIns="36576" tIns="36576" bIns="36576">
            <a:spAutoFit/>
          </a:bodyPr>
          <a:lstStyle/>
          <a:p>
            <a:pPr algn="l">
              <a:spcAft>
                <a:spcPts val="500"/>
              </a:spcAft>
            </a:pPr>
            <a:r>
              <a:rPr sz="1500" b="1" i="0">
                <a:solidFill>
                  <a:srgbClr val="103F77"/>
                </a:solidFill>
                <a:latin typeface="Calibri"/>
              </a:rPr>
              <a:t>Cómo se mejoró</a:t>
            </a:r>
          </a:p>
          <a:p>
            <a:pPr algn="l" marL="228600" indent="-182880">
              <a:spcAft>
                <a:spcPts val="300"/>
              </a:spcAft>
              <a:buChar char="•"/>
            </a:pPr>
            <a:r>
              <a:rPr sz="1300" b="0" i="0">
                <a:solidFill>
                  <a:srgbClr val="1F2937"/>
                </a:solidFill>
                <a:latin typeface="Calibri"/>
              </a:rPr>
              <a:t>Se probaron 7 valores de C; C = 0.001 fue el mejor</a:t>
            </a:r>
          </a:p>
          <a:p>
            <a:pPr algn="l" marL="228600" indent="-182880">
              <a:spcAft>
                <a:spcPts val="300"/>
              </a:spcAft>
              <a:buChar char="•"/>
            </a:pPr>
            <a:r>
              <a:rPr sz="1300" b="0" i="0">
                <a:solidFill>
                  <a:srgbClr val="1F2937"/>
                </a:solidFill>
                <a:latin typeface="Calibri"/>
              </a:rPr>
              <a:t>Se probó hora cíclica + interacciones + L1 (703 columnas): solo +0.004, se descartó</a:t>
            </a:r>
          </a:p>
        </p:txBody>
      </p:sp>
      <p:sp>
        <p:nvSpPr>
          <p:cNvPr id="12" name="Rounded Rectangle 11"/>
          <p:cNvSpPr/>
          <p:nvPr/>
        </p:nvSpPr>
        <p:spPr>
          <a:xfrm>
            <a:off x="548640"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286099"/>
                </a:solidFill>
                <a:latin typeface="Calibri"/>
              </a:rPr>
              <a:t>0.051</a:t>
            </a:r>
          </a:p>
          <a:p>
            <a:pPr algn="l">
              <a:spcAft>
                <a:spcPts val="400"/>
              </a:spcAft>
            </a:pPr>
            <a:r>
              <a:rPr sz="1200" b="0" i="0">
                <a:solidFill>
                  <a:srgbClr val="4B5563"/>
                </a:solidFill>
                <a:latin typeface="Calibri"/>
              </a:rPr>
              <a:t>PR-AUC</a:t>
            </a:r>
          </a:p>
        </p:txBody>
      </p:sp>
      <p:sp>
        <p:nvSpPr>
          <p:cNvPr id="14" name="Rounded Rectangle 13"/>
          <p:cNvSpPr/>
          <p:nvPr/>
        </p:nvSpPr>
        <p:spPr>
          <a:xfrm>
            <a:off x="2414016"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23744"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0.681</a:t>
            </a:r>
          </a:p>
          <a:p>
            <a:pPr algn="l">
              <a:spcAft>
                <a:spcPts val="400"/>
              </a:spcAft>
            </a:pPr>
            <a:r>
              <a:rPr sz="1200" b="0" i="0">
                <a:solidFill>
                  <a:srgbClr val="4B5563"/>
                </a:solidFill>
                <a:latin typeface="Calibri"/>
              </a:rPr>
              <a:t>ROC-AUC</a:t>
            </a:r>
          </a:p>
        </p:txBody>
      </p:sp>
      <p:sp>
        <p:nvSpPr>
          <p:cNvPr id="16" name="Rounded Rectangle 15"/>
          <p:cNvSpPr/>
          <p:nvPr/>
        </p:nvSpPr>
        <p:spPr>
          <a:xfrm>
            <a:off x="4279392"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0.063</a:t>
            </a:r>
          </a:p>
          <a:p>
            <a:pPr algn="l">
              <a:spcAft>
                <a:spcPts val="400"/>
              </a:spcAft>
            </a:pPr>
            <a:r>
              <a:rPr sz="1200" b="0" i="0">
                <a:solidFill>
                  <a:srgbClr val="4B5563"/>
                </a:solidFill>
                <a:latin typeface="Calibri"/>
              </a:rPr>
              <a:t>Precision</a:t>
            </a:r>
          </a:p>
        </p:txBody>
      </p:sp>
      <p:sp>
        <p:nvSpPr>
          <p:cNvPr id="18" name="Rounded Rectangle 17"/>
          <p:cNvSpPr/>
          <p:nvPr/>
        </p:nvSpPr>
        <p:spPr>
          <a:xfrm>
            <a:off x="6144768"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4496"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0.216</a:t>
            </a:r>
          </a:p>
          <a:p>
            <a:pPr algn="l">
              <a:spcAft>
                <a:spcPts val="400"/>
              </a:spcAft>
            </a:pPr>
            <a:r>
              <a:rPr sz="1200" b="0" i="0">
                <a:solidFill>
                  <a:srgbClr val="4B5563"/>
                </a:solidFill>
                <a:latin typeface="Calibri"/>
              </a:rPr>
              <a:t>Recall</a:t>
            </a:r>
          </a:p>
        </p:txBody>
      </p:sp>
      <p:sp>
        <p:nvSpPr>
          <p:cNvPr id="20" name="Rounded Rectangle 19"/>
          <p:cNvSpPr/>
          <p:nvPr/>
        </p:nvSpPr>
        <p:spPr>
          <a:xfrm>
            <a:off x="8010144"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9871"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0.097</a:t>
            </a:r>
          </a:p>
          <a:p>
            <a:pPr algn="l">
              <a:spcAft>
                <a:spcPts val="400"/>
              </a:spcAft>
            </a:pPr>
            <a:r>
              <a:rPr sz="1200" b="0" i="0">
                <a:solidFill>
                  <a:srgbClr val="4B5563"/>
                </a:solidFill>
                <a:latin typeface="Calibri"/>
              </a:rPr>
              <a:t>F1</a:t>
            </a:r>
          </a:p>
        </p:txBody>
      </p:sp>
      <p:sp>
        <p:nvSpPr>
          <p:cNvPr id="22" name="Rounded Rectangle 21"/>
          <p:cNvSpPr/>
          <p:nvPr/>
        </p:nvSpPr>
        <p:spPr>
          <a:xfrm>
            <a:off x="9875519"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85247"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27.7%</a:t>
            </a:r>
          </a:p>
          <a:p>
            <a:pPr algn="l">
              <a:spcAft>
                <a:spcPts val="400"/>
              </a:spcAft>
            </a:pPr>
            <a:r>
              <a:rPr sz="1200" b="0" i="0">
                <a:solidFill>
                  <a:srgbClr val="4B5563"/>
                </a:solidFill>
                <a:latin typeface="Calibri"/>
              </a:rPr>
              <a:t>fraudes en el top 10%</a:t>
            </a:r>
          </a:p>
        </p:txBody>
      </p:sp>
      <p:sp>
        <p:nvSpPr>
          <p:cNvPr id="24" name="TextBox 23"/>
          <p:cNvSpPr txBox="1"/>
          <p:nvPr/>
        </p:nvSpPr>
        <p:spPr>
          <a:xfrm>
            <a:off x="548640" y="5596128"/>
            <a:ext cx="11109960" cy="320040"/>
          </a:xfrm>
          <a:prstGeom prst="rect">
            <a:avLst/>
          </a:prstGeom>
          <a:noFill/>
        </p:spPr>
        <p:txBody>
          <a:bodyPr wrap="square" anchor="t" lIns="73152" rIns="73152" tIns="73152" bIns="73152">
            <a:spAutoFit/>
          </a:bodyPr>
          <a:lstStyle/>
          <a:p>
            <a:pPr algn="l">
              <a:spcAft>
                <a:spcPts val="400"/>
              </a:spcAft>
            </a:pPr>
            <a:r>
              <a:rPr sz="1100" b="0" i="0">
                <a:solidFill>
                  <a:srgbClr val="4B5563"/>
                </a:solidFill>
                <a:latin typeface="Calibri"/>
              </a:rPr>
              <a:t>Métricas de validación cruzada (5 particiones); Precision, Recall y F1 con el umbral que maximiza F1.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MODELO 2</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Árbol de Decisión</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13</a:t>
            </a:r>
          </a:p>
        </p:txBody>
      </p:sp>
      <p:sp>
        <p:nvSpPr>
          <p:cNvPr id="5" name="Rounded Rectangle 4"/>
          <p:cNvSpPr/>
          <p:nvPr/>
        </p:nvSpPr>
        <p:spPr>
          <a:xfrm>
            <a:off x="548640" y="1874519"/>
            <a:ext cx="3520440" cy="224028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47672"/>
            <a:ext cx="3246120" cy="2093976"/>
          </a:xfrm>
          <a:prstGeom prst="rect">
            <a:avLst/>
          </a:prstGeom>
          <a:noFill/>
        </p:spPr>
        <p:txBody>
          <a:bodyPr wrap="square" anchor="t" lIns="36576" rIns="36576" tIns="36576" bIns="36576">
            <a:spAutoFit/>
          </a:bodyPr>
          <a:lstStyle/>
          <a:p>
            <a:pPr algn="l">
              <a:spcAft>
                <a:spcPts val="500"/>
              </a:spcAft>
            </a:pPr>
            <a:r>
              <a:rPr sz="1500" b="1" i="0">
                <a:solidFill>
                  <a:srgbClr val="4B5563"/>
                </a:solidFill>
                <a:latin typeface="Calibri"/>
              </a:rPr>
              <a:t>Inicial · PR-AUC 0.035</a:t>
            </a:r>
          </a:p>
          <a:p>
            <a:pPr algn="l" marL="228600" indent="-182880">
              <a:spcAft>
                <a:spcPts val="300"/>
              </a:spcAft>
              <a:buChar char="•"/>
            </a:pPr>
            <a:r>
              <a:rPr sz="1300" b="0" i="0">
                <a:solidFill>
                  <a:srgbClr val="1F2937"/>
                </a:solidFill>
                <a:latin typeface="Calibri"/>
              </a:rPr>
              <a:t>Profundidad 6, hojas de 100</a:t>
            </a:r>
          </a:p>
          <a:p>
            <a:pPr algn="l" marL="228600" indent="-182880">
              <a:spcAft>
                <a:spcPts val="300"/>
              </a:spcAft>
              <a:buChar char="•"/>
            </a:pPr>
            <a:r>
              <a:rPr sz="1300" b="0" i="0">
                <a:solidFill>
                  <a:srgbClr val="1F2937"/>
                </a:solidFill>
                <a:latin typeface="Calibri"/>
              </a:rPr>
              <a:t>Pesos balanceados (fraude ≈ ×54)</a:t>
            </a:r>
          </a:p>
          <a:p>
            <a:pPr algn="l" marL="228600" indent="-182880">
              <a:spcAft>
                <a:spcPts val="300"/>
              </a:spcAft>
              <a:buChar char="•"/>
            </a:pPr>
            <a:r>
              <a:rPr sz="1300" b="0" i="0">
                <a:solidFill>
                  <a:srgbClr val="1F2937"/>
                </a:solidFill>
                <a:latin typeface="Calibri"/>
              </a:rPr>
              <a:t>Sobreajuste: train/val 1.81</a:t>
            </a:r>
          </a:p>
        </p:txBody>
      </p:sp>
      <p:sp>
        <p:nvSpPr>
          <p:cNvPr id="7" name="TextBox 6"/>
          <p:cNvSpPr txBox="1"/>
          <p:nvPr/>
        </p:nvSpPr>
        <p:spPr>
          <a:xfrm>
            <a:off x="4069080" y="2606040"/>
            <a:ext cx="457200" cy="548640"/>
          </a:xfrm>
          <a:prstGeom prst="rect">
            <a:avLst/>
          </a:prstGeom>
          <a:noFill/>
        </p:spPr>
        <p:txBody>
          <a:bodyPr wrap="square" anchor="t" lIns="73152" rIns="73152" tIns="73152" bIns="73152">
            <a:spAutoFit/>
          </a:bodyPr>
          <a:lstStyle/>
          <a:p>
            <a:pPr algn="ctr">
              <a:spcAft>
                <a:spcPts val="400"/>
              </a:spcAft>
            </a:pPr>
            <a:r>
              <a:rPr sz="3200" b="1" i="0">
                <a:solidFill>
                  <a:srgbClr val="B07800"/>
                </a:solidFill>
                <a:latin typeface="Calibri"/>
              </a:rPr>
              <a:t>→</a:t>
            </a:r>
          </a:p>
        </p:txBody>
      </p:sp>
      <p:sp>
        <p:nvSpPr>
          <p:cNvPr id="8" name="Rounded Rectangle 7"/>
          <p:cNvSpPr/>
          <p:nvPr/>
        </p:nvSpPr>
        <p:spPr>
          <a:xfrm>
            <a:off x="4526280" y="1874519"/>
            <a:ext cx="3520440" cy="2240280"/>
          </a:xfrm>
          <a:prstGeom prst="roundRect">
            <a:avLst>
              <a:gd name="adj" fmla="val 6000"/>
            </a:avLst>
          </a:prstGeom>
          <a:solidFill>
            <a:srgbClr val="FFFFFF"/>
          </a:solidFill>
          <a:ln w="12700">
            <a:solidFill>
              <a:srgbClr val="B07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947672"/>
            <a:ext cx="3246120" cy="2093976"/>
          </a:xfrm>
          <a:prstGeom prst="rect">
            <a:avLst/>
          </a:prstGeom>
          <a:noFill/>
        </p:spPr>
        <p:txBody>
          <a:bodyPr wrap="square" anchor="t" lIns="36576" rIns="36576" tIns="36576" bIns="36576">
            <a:spAutoFit/>
          </a:bodyPr>
          <a:lstStyle/>
          <a:p>
            <a:pPr algn="l">
              <a:spcAft>
                <a:spcPts val="500"/>
              </a:spcAft>
            </a:pPr>
            <a:r>
              <a:rPr sz="1500" b="1" i="0">
                <a:solidFill>
                  <a:srgbClr val="B07800"/>
                </a:solidFill>
                <a:latin typeface="Calibri"/>
              </a:rPr>
              <a:t>Mejorado · PR-AUC 0.040</a:t>
            </a:r>
          </a:p>
          <a:p>
            <a:pPr algn="l" marL="228600" indent="-182880">
              <a:spcAft>
                <a:spcPts val="300"/>
              </a:spcAft>
              <a:buChar char="•"/>
            </a:pPr>
            <a:r>
              <a:rPr sz="1300" b="0" i="0">
                <a:solidFill>
                  <a:srgbClr val="1F2937"/>
                </a:solidFill>
                <a:latin typeface="Calibri"/>
              </a:rPr>
              <a:t>Profundidad 4, hojas de 50, Gini</a:t>
            </a:r>
          </a:p>
          <a:p>
            <a:pPr algn="l" marL="228600" indent="-182880">
              <a:spcAft>
                <a:spcPts val="300"/>
              </a:spcAft>
              <a:buChar char="•"/>
            </a:pPr>
            <a:r>
              <a:rPr sz="1300" b="0" i="0">
                <a:solidFill>
                  <a:srgbClr val="1F2937"/>
                </a:solidFill>
                <a:latin typeface="Calibri"/>
              </a:rPr>
              <a:t>Peso del fraude ×10</a:t>
            </a:r>
          </a:p>
          <a:p>
            <a:pPr algn="l" marL="228600" indent="-182880">
              <a:spcAft>
                <a:spcPts val="300"/>
              </a:spcAft>
              <a:buChar char="•"/>
            </a:pPr>
            <a:r>
              <a:rPr sz="1300" b="0" i="0">
                <a:solidFill>
                  <a:srgbClr val="1F2937"/>
                </a:solidFill>
                <a:latin typeface="Calibri"/>
              </a:rPr>
              <a:t>Sobreajuste: train/val 1.28</a:t>
            </a:r>
          </a:p>
        </p:txBody>
      </p:sp>
      <p:sp>
        <p:nvSpPr>
          <p:cNvPr id="10" name="Rounded Rectangle 9"/>
          <p:cNvSpPr/>
          <p:nvPr/>
        </p:nvSpPr>
        <p:spPr>
          <a:xfrm>
            <a:off x="8275320" y="1874519"/>
            <a:ext cx="3383280" cy="224028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1947672"/>
            <a:ext cx="3108960" cy="2093976"/>
          </a:xfrm>
          <a:prstGeom prst="rect">
            <a:avLst/>
          </a:prstGeom>
          <a:noFill/>
        </p:spPr>
        <p:txBody>
          <a:bodyPr wrap="square" anchor="t" lIns="36576" rIns="36576" tIns="36576" bIns="36576">
            <a:spAutoFit/>
          </a:bodyPr>
          <a:lstStyle/>
          <a:p>
            <a:pPr algn="l">
              <a:spcAft>
                <a:spcPts val="500"/>
              </a:spcAft>
            </a:pPr>
            <a:r>
              <a:rPr sz="1500" b="1" i="0">
                <a:solidFill>
                  <a:srgbClr val="103F77"/>
                </a:solidFill>
                <a:latin typeface="Calibri"/>
              </a:rPr>
              <a:t>Cómo se mejoró</a:t>
            </a:r>
          </a:p>
          <a:p>
            <a:pPr algn="l" marL="228600" indent="-182880">
              <a:spcAft>
                <a:spcPts val="300"/>
              </a:spcAft>
              <a:buChar char="•"/>
            </a:pPr>
            <a:r>
              <a:rPr sz="1300" b="0" i="0">
                <a:solidFill>
                  <a:srgbClr val="1F2937"/>
                </a:solidFill>
                <a:latin typeface="Calibri"/>
              </a:rPr>
              <a:t>Cerca de 500 configuraciones: poda, entropía, max_leaf_nodes</a:t>
            </a:r>
          </a:p>
          <a:p>
            <a:pPr algn="l" marL="228600" indent="-182880">
              <a:spcAft>
                <a:spcPts val="300"/>
              </a:spcAft>
              <a:buChar char="•"/>
            </a:pPr>
            <a:r>
              <a:rPr sz="1300" b="0" i="0">
                <a:solidFill>
                  <a:srgbClr val="1F2937"/>
                </a:solidFill>
                <a:latin typeface="Calibri"/>
              </a:rPr>
              <a:t>SMOTE en 3 variantes: empeoró (0.031–0.033)</a:t>
            </a:r>
          </a:p>
          <a:p>
            <a:pPr algn="l" marL="228600" indent="-182880">
              <a:spcAft>
                <a:spcPts val="300"/>
              </a:spcAft>
              <a:buChar char="•"/>
            </a:pPr>
            <a:r>
              <a:rPr sz="1300" b="0" i="0">
                <a:solidFill>
                  <a:srgbClr val="1F2937"/>
                </a:solidFill>
                <a:latin typeface="Calibri"/>
              </a:rPr>
              <a:t>Menos peso al fraude = cortes más estables</a:t>
            </a:r>
          </a:p>
        </p:txBody>
      </p:sp>
      <p:sp>
        <p:nvSpPr>
          <p:cNvPr id="12" name="Rounded Rectangle 11"/>
          <p:cNvSpPr/>
          <p:nvPr/>
        </p:nvSpPr>
        <p:spPr>
          <a:xfrm>
            <a:off x="548640"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B07800"/>
                </a:solidFill>
                <a:latin typeface="Calibri"/>
              </a:rPr>
              <a:t>0.040</a:t>
            </a:r>
          </a:p>
          <a:p>
            <a:pPr algn="l">
              <a:spcAft>
                <a:spcPts val="400"/>
              </a:spcAft>
            </a:pPr>
            <a:r>
              <a:rPr sz="1200" b="0" i="0">
                <a:solidFill>
                  <a:srgbClr val="4B5563"/>
                </a:solidFill>
                <a:latin typeface="Calibri"/>
              </a:rPr>
              <a:t>PR-AUC</a:t>
            </a:r>
          </a:p>
        </p:txBody>
      </p:sp>
      <p:sp>
        <p:nvSpPr>
          <p:cNvPr id="14" name="Rounded Rectangle 13"/>
          <p:cNvSpPr/>
          <p:nvPr/>
        </p:nvSpPr>
        <p:spPr>
          <a:xfrm>
            <a:off x="2414016"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23744"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0.672</a:t>
            </a:r>
          </a:p>
          <a:p>
            <a:pPr algn="l">
              <a:spcAft>
                <a:spcPts val="400"/>
              </a:spcAft>
            </a:pPr>
            <a:r>
              <a:rPr sz="1200" b="0" i="0">
                <a:solidFill>
                  <a:srgbClr val="4B5563"/>
                </a:solidFill>
                <a:latin typeface="Calibri"/>
              </a:rPr>
              <a:t>ROC-AUC</a:t>
            </a:r>
          </a:p>
        </p:txBody>
      </p:sp>
      <p:sp>
        <p:nvSpPr>
          <p:cNvPr id="16" name="Rounded Rectangle 15"/>
          <p:cNvSpPr/>
          <p:nvPr/>
        </p:nvSpPr>
        <p:spPr>
          <a:xfrm>
            <a:off x="4279392"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0.079</a:t>
            </a:r>
          </a:p>
          <a:p>
            <a:pPr algn="l">
              <a:spcAft>
                <a:spcPts val="400"/>
              </a:spcAft>
            </a:pPr>
            <a:r>
              <a:rPr sz="1200" b="0" i="0">
                <a:solidFill>
                  <a:srgbClr val="4B5563"/>
                </a:solidFill>
                <a:latin typeface="Calibri"/>
              </a:rPr>
              <a:t>Precision</a:t>
            </a:r>
          </a:p>
        </p:txBody>
      </p:sp>
      <p:sp>
        <p:nvSpPr>
          <p:cNvPr id="18" name="Rounded Rectangle 17"/>
          <p:cNvSpPr/>
          <p:nvPr/>
        </p:nvSpPr>
        <p:spPr>
          <a:xfrm>
            <a:off x="6144768"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4496"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0.120</a:t>
            </a:r>
          </a:p>
          <a:p>
            <a:pPr algn="l">
              <a:spcAft>
                <a:spcPts val="400"/>
              </a:spcAft>
            </a:pPr>
            <a:r>
              <a:rPr sz="1200" b="0" i="0">
                <a:solidFill>
                  <a:srgbClr val="4B5563"/>
                </a:solidFill>
                <a:latin typeface="Calibri"/>
              </a:rPr>
              <a:t>Recall</a:t>
            </a:r>
          </a:p>
        </p:txBody>
      </p:sp>
      <p:sp>
        <p:nvSpPr>
          <p:cNvPr id="20" name="Rounded Rectangle 19"/>
          <p:cNvSpPr/>
          <p:nvPr/>
        </p:nvSpPr>
        <p:spPr>
          <a:xfrm>
            <a:off x="8010144"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9871"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0.095</a:t>
            </a:r>
          </a:p>
          <a:p>
            <a:pPr algn="l">
              <a:spcAft>
                <a:spcPts val="400"/>
              </a:spcAft>
            </a:pPr>
            <a:r>
              <a:rPr sz="1200" b="0" i="0">
                <a:solidFill>
                  <a:srgbClr val="4B5563"/>
                </a:solidFill>
                <a:latin typeface="Calibri"/>
              </a:rPr>
              <a:t>F1</a:t>
            </a:r>
          </a:p>
        </p:txBody>
      </p:sp>
      <p:sp>
        <p:nvSpPr>
          <p:cNvPr id="22" name="Rounded Rectangle 21"/>
          <p:cNvSpPr/>
          <p:nvPr/>
        </p:nvSpPr>
        <p:spPr>
          <a:xfrm>
            <a:off x="9875519"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85247"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25.5%</a:t>
            </a:r>
          </a:p>
          <a:p>
            <a:pPr algn="l">
              <a:spcAft>
                <a:spcPts val="400"/>
              </a:spcAft>
            </a:pPr>
            <a:r>
              <a:rPr sz="1200" b="0" i="0">
                <a:solidFill>
                  <a:srgbClr val="4B5563"/>
                </a:solidFill>
                <a:latin typeface="Calibri"/>
              </a:rPr>
              <a:t>fraudes en el top 10%</a:t>
            </a:r>
          </a:p>
        </p:txBody>
      </p:sp>
      <p:sp>
        <p:nvSpPr>
          <p:cNvPr id="24" name="TextBox 23"/>
          <p:cNvSpPr txBox="1"/>
          <p:nvPr/>
        </p:nvSpPr>
        <p:spPr>
          <a:xfrm>
            <a:off x="548640" y="5596128"/>
            <a:ext cx="11109960" cy="320040"/>
          </a:xfrm>
          <a:prstGeom prst="rect">
            <a:avLst/>
          </a:prstGeom>
          <a:noFill/>
        </p:spPr>
        <p:txBody>
          <a:bodyPr wrap="square" anchor="t" lIns="73152" rIns="73152" tIns="73152" bIns="73152">
            <a:spAutoFit/>
          </a:bodyPr>
          <a:lstStyle/>
          <a:p>
            <a:pPr algn="l">
              <a:spcAft>
                <a:spcPts val="400"/>
              </a:spcAft>
            </a:pPr>
            <a:r>
              <a:rPr sz="1100" b="0" i="0">
                <a:solidFill>
                  <a:srgbClr val="4B5563"/>
                </a:solidFill>
                <a:latin typeface="Calibri"/>
              </a:rPr>
              <a:t>Métricas de validación cruzada (5 particiones); Precision, Recall y F1 con el umbral que maximiza F1.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MODELO 3</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Random Forest</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14</a:t>
            </a:r>
          </a:p>
        </p:txBody>
      </p:sp>
      <p:sp>
        <p:nvSpPr>
          <p:cNvPr id="5" name="Rounded Rectangle 4"/>
          <p:cNvSpPr/>
          <p:nvPr/>
        </p:nvSpPr>
        <p:spPr>
          <a:xfrm>
            <a:off x="548640" y="1874519"/>
            <a:ext cx="3520440" cy="224028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47672"/>
            <a:ext cx="3246120" cy="2093976"/>
          </a:xfrm>
          <a:prstGeom prst="rect">
            <a:avLst/>
          </a:prstGeom>
          <a:noFill/>
        </p:spPr>
        <p:txBody>
          <a:bodyPr wrap="square" anchor="t" lIns="36576" rIns="36576" tIns="36576" bIns="36576">
            <a:spAutoFit/>
          </a:bodyPr>
          <a:lstStyle/>
          <a:p>
            <a:pPr algn="l">
              <a:spcAft>
                <a:spcPts val="500"/>
              </a:spcAft>
            </a:pPr>
            <a:r>
              <a:rPr sz="1500" b="1" i="0">
                <a:solidFill>
                  <a:srgbClr val="4B5563"/>
                </a:solidFill>
                <a:latin typeface="Calibri"/>
              </a:rPr>
              <a:t>Inicial · PR-AUC 0.054</a:t>
            </a:r>
          </a:p>
          <a:p>
            <a:pPr algn="l" marL="228600" indent="-182880">
              <a:spcAft>
                <a:spcPts val="300"/>
              </a:spcAft>
              <a:buChar char="•"/>
            </a:pPr>
            <a:r>
              <a:rPr sz="1300" b="0" i="0">
                <a:solidFill>
                  <a:srgbClr val="1F2937"/>
                </a:solidFill>
                <a:latin typeface="Calibri"/>
              </a:rPr>
              <a:t>300 árboles de profundidad 6</a:t>
            </a:r>
          </a:p>
          <a:p>
            <a:pPr algn="l" marL="228600" indent="-182880">
              <a:spcAft>
                <a:spcPts val="300"/>
              </a:spcAft>
              <a:buChar char="•"/>
            </a:pPr>
            <a:r>
              <a:rPr sz="1300" b="0" i="0">
                <a:solidFill>
                  <a:srgbClr val="1F2937"/>
                </a:solidFill>
                <a:latin typeface="Calibri"/>
              </a:rPr>
              <a:t>Variables por corte: √n; hojas de 50</a:t>
            </a:r>
          </a:p>
          <a:p>
            <a:pPr algn="l" marL="228600" indent="-182880">
              <a:spcAft>
                <a:spcPts val="300"/>
              </a:spcAft>
              <a:buChar char="•"/>
            </a:pPr>
            <a:r>
              <a:rPr sz="1300" b="0" i="0">
                <a:solidFill>
                  <a:srgbClr val="1F2937"/>
                </a:solidFill>
                <a:latin typeface="Calibri"/>
              </a:rPr>
              <a:t>Sobreajuste: train/val 2.26</a:t>
            </a:r>
          </a:p>
        </p:txBody>
      </p:sp>
      <p:sp>
        <p:nvSpPr>
          <p:cNvPr id="7" name="TextBox 6"/>
          <p:cNvSpPr txBox="1"/>
          <p:nvPr/>
        </p:nvSpPr>
        <p:spPr>
          <a:xfrm>
            <a:off x="4069080" y="2606040"/>
            <a:ext cx="457200" cy="548640"/>
          </a:xfrm>
          <a:prstGeom prst="rect">
            <a:avLst/>
          </a:prstGeom>
          <a:noFill/>
        </p:spPr>
        <p:txBody>
          <a:bodyPr wrap="square" anchor="t" lIns="73152" rIns="73152" tIns="73152" bIns="73152">
            <a:spAutoFit/>
          </a:bodyPr>
          <a:lstStyle/>
          <a:p>
            <a:pPr algn="ctr">
              <a:spcAft>
                <a:spcPts val="400"/>
              </a:spcAft>
            </a:pPr>
            <a:r>
              <a:rPr sz="3200" b="1" i="0">
                <a:solidFill>
                  <a:srgbClr val="008A66"/>
                </a:solidFill>
                <a:latin typeface="Calibri"/>
              </a:rPr>
              <a:t>→</a:t>
            </a:r>
          </a:p>
        </p:txBody>
      </p:sp>
      <p:sp>
        <p:nvSpPr>
          <p:cNvPr id="8" name="Rounded Rectangle 7"/>
          <p:cNvSpPr/>
          <p:nvPr/>
        </p:nvSpPr>
        <p:spPr>
          <a:xfrm>
            <a:off x="4526280" y="1874519"/>
            <a:ext cx="3520440" cy="2240280"/>
          </a:xfrm>
          <a:prstGeom prst="roundRect">
            <a:avLst>
              <a:gd name="adj" fmla="val 6000"/>
            </a:avLst>
          </a:prstGeom>
          <a:solidFill>
            <a:srgbClr val="FFFFFF"/>
          </a:solidFill>
          <a:ln w="12700">
            <a:solidFill>
              <a:srgbClr val="008A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947672"/>
            <a:ext cx="3246120" cy="2093976"/>
          </a:xfrm>
          <a:prstGeom prst="rect">
            <a:avLst/>
          </a:prstGeom>
          <a:noFill/>
        </p:spPr>
        <p:txBody>
          <a:bodyPr wrap="square" anchor="t" lIns="36576" rIns="36576" tIns="36576" bIns="36576">
            <a:spAutoFit/>
          </a:bodyPr>
          <a:lstStyle/>
          <a:p>
            <a:pPr algn="l">
              <a:spcAft>
                <a:spcPts val="500"/>
              </a:spcAft>
            </a:pPr>
            <a:r>
              <a:rPr sz="1500" b="1" i="0">
                <a:solidFill>
                  <a:srgbClr val="008A66"/>
                </a:solidFill>
                <a:latin typeface="Calibri"/>
              </a:rPr>
              <a:t>Mejorado · PR-AUC 0.057</a:t>
            </a:r>
          </a:p>
          <a:p>
            <a:pPr algn="l" marL="228600" indent="-182880">
              <a:spcAft>
                <a:spcPts val="300"/>
              </a:spcAft>
              <a:buChar char="•"/>
            </a:pPr>
            <a:r>
              <a:rPr sz="1300" b="0" i="0">
                <a:solidFill>
                  <a:srgbClr val="1F2937"/>
                </a:solidFill>
                <a:latin typeface="Calibri"/>
              </a:rPr>
              <a:t>300 árboles de profundidad 3</a:t>
            </a:r>
          </a:p>
          <a:p>
            <a:pPr algn="l" marL="228600" indent="-182880">
              <a:spcAft>
                <a:spcPts val="300"/>
              </a:spcAft>
              <a:buChar char="•"/>
            </a:pPr>
            <a:r>
              <a:rPr sz="1300" b="0" i="0">
                <a:solidFill>
                  <a:srgbClr val="1F2937"/>
                </a:solidFill>
                <a:latin typeface="Calibri"/>
              </a:rPr>
              <a:t>Solo el 5% de variables por corte</a:t>
            </a:r>
          </a:p>
          <a:p>
            <a:pPr algn="l" marL="228600" indent="-182880">
              <a:spcAft>
                <a:spcPts val="300"/>
              </a:spcAft>
              <a:buChar char="•"/>
            </a:pPr>
            <a:r>
              <a:rPr sz="1300" b="0" i="0">
                <a:solidFill>
                  <a:srgbClr val="1F2937"/>
                </a:solidFill>
                <a:latin typeface="Calibri"/>
              </a:rPr>
              <a:t>Peso ×10; sobreajuste 1.32</a:t>
            </a:r>
          </a:p>
        </p:txBody>
      </p:sp>
      <p:sp>
        <p:nvSpPr>
          <p:cNvPr id="10" name="Rounded Rectangle 9"/>
          <p:cNvSpPr/>
          <p:nvPr/>
        </p:nvSpPr>
        <p:spPr>
          <a:xfrm>
            <a:off x="8275320" y="1874519"/>
            <a:ext cx="3383280" cy="224028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1947672"/>
            <a:ext cx="3108960" cy="2093976"/>
          </a:xfrm>
          <a:prstGeom prst="rect">
            <a:avLst/>
          </a:prstGeom>
          <a:noFill/>
        </p:spPr>
        <p:txBody>
          <a:bodyPr wrap="square" anchor="t" lIns="36576" rIns="36576" tIns="36576" bIns="36576">
            <a:spAutoFit/>
          </a:bodyPr>
          <a:lstStyle/>
          <a:p>
            <a:pPr algn="l">
              <a:spcAft>
                <a:spcPts val="500"/>
              </a:spcAft>
            </a:pPr>
            <a:r>
              <a:rPr sz="1500" b="1" i="0">
                <a:solidFill>
                  <a:srgbClr val="103F77"/>
                </a:solidFill>
                <a:latin typeface="Calibri"/>
              </a:rPr>
              <a:t>Cómo se mejoró</a:t>
            </a:r>
          </a:p>
          <a:p>
            <a:pPr algn="l" marL="228600" indent="-182880">
              <a:spcAft>
                <a:spcPts val="300"/>
              </a:spcAft>
              <a:buChar char="•"/>
            </a:pPr>
            <a:r>
              <a:rPr sz="1300" b="0" i="0">
                <a:solidFill>
                  <a:srgbClr val="1F2937"/>
                </a:solidFill>
                <a:latin typeface="Calibri"/>
              </a:rPr>
              <a:t>El óptimo estaba en el borde: se buscaron árboles más simples</a:t>
            </a:r>
          </a:p>
          <a:p>
            <a:pPr algn="l" marL="228600" indent="-182880">
              <a:spcAft>
                <a:spcPts val="300"/>
              </a:spcAft>
              <a:buChar char="•"/>
            </a:pPr>
            <a:r>
              <a:rPr sz="1300" b="0" i="0">
                <a:solidFill>
                  <a:srgbClr val="1F2937"/>
                </a:solidFill>
                <a:latin typeface="Calibri"/>
              </a:rPr>
              <a:t>Árboles cortos y diversos = promedio más estable</a:t>
            </a:r>
          </a:p>
          <a:p>
            <a:pPr algn="l" marL="228600" indent="-182880">
              <a:spcAft>
                <a:spcPts val="300"/>
              </a:spcAft>
              <a:buChar char="•"/>
            </a:pPr>
            <a:r>
              <a:rPr sz="1300" b="0" i="0">
                <a:solidFill>
                  <a:srgbClr val="1F2937"/>
                </a:solidFill>
                <a:latin typeface="Calibri"/>
              </a:rPr>
              <a:t>Variables clave: país, canal, monto, categoría</a:t>
            </a:r>
          </a:p>
        </p:txBody>
      </p:sp>
      <p:sp>
        <p:nvSpPr>
          <p:cNvPr id="12" name="Rounded Rectangle 11"/>
          <p:cNvSpPr/>
          <p:nvPr/>
        </p:nvSpPr>
        <p:spPr>
          <a:xfrm>
            <a:off x="548640"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008A66"/>
                </a:solidFill>
                <a:latin typeface="Calibri"/>
              </a:rPr>
              <a:t>0.057</a:t>
            </a:r>
          </a:p>
          <a:p>
            <a:pPr algn="l">
              <a:spcAft>
                <a:spcPts val="400"/>
              </a:spcAft>
            </a:pPr>
            <a:r>
              <a:rPr sz="1200" b="0" i="0">
                <a:solidFill>
                  <a:srgbClr val="4B5563"/>
                </a:solidFill>
                <a:latin typeface="Calibri"/>
              </a:rPr>
              <a:t>PR-AUC</a:t>
            </a:r>
          </a:p>
        </p:txBody>
      </p:sp>
      <p:sp>
        <p:nvSpPr>
          <p:cNvPr id="14" name="Rounded Rectangle 13"/>
          <p:cNvSpPr/>
          <p:nvPr/>
        </p:nvSpPr>
        <p:spPr>
          <a:xfrm>
            <a:off x="2414016"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23744"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0.701</a:t>
            </a:r>
          </a:p>
          <a:p>
            <a:pPr algn="l">
              <a:spcAft>
                <a:spcPts val="400"/>
              </a:spcAft>
            </a:pPr>
            <a:r>
              <a:rPr sz="1200" b="0" i="0">
                <a:solidFill>
                  <a:srgbClr val="4B5563"/>
                </a:solidFill>
                <a:latin typeface="Calibri"/>
              </a:rPr>
              <a:t>ROC-AUC</a:t>
            </a:r>
          </a:p>
        </p:txBody>
      </p:sp>
      <p:sp>
        <p:nvSpPr>
          <p:cNvPr id="16" name="Rounded Rectangle 15"/>
          <p:cNvSpPr/>
          <p:nvPr/>
        </p:nvSpPr>
        <p:spPr>
          <a:xfrm>
            <a:off x="4279392"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0.078</a:t>
            </a:r>
          </a:p>
          <a:p>
            <a:pPr algn="l">
              <a:spcAft>
                <a:spcPts val="400"/>
              </a:spcAft>
            </a:pPr>
            <a:r>
              <a:rPr sz="1200" b="0" i="0">
                <a:solidFill>
                  <a:srgbClr val="4B5563"/>
                </a:solidFill>
                <a:latin typeface="Calibri"/>
              </a:rPr>
              <a:t>Precision</a:t>
            </a:r>
          </a:p>
        </p:txBody>
      </p:sp>
      <p:sp>
        <p:nvSpPr>
          <p:cNvPr id="18" name="Rounded Rectangle 17"/>
          <p:cNvSpPr/>
          <p:nvPr/>
        </p:nvSpPr>
        <p:spPr>
          <a:xfrm>
            <a:off x="6144768"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4496"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0.154</a:t>
            </a:r>
          </a:p>
          <a:p>
            <a:pPr algn="l">
              <a:spcAft>
                <a:spcPts val="400"/>
              </a:spcAft>
            </a:pPr>
            <a:r>
              <a:rPr sz="1200" b="0" i="0">
                <a:solidFill>
                  <a:srgbClr val="4B5563"/>
                </a:solidFill>
                <a:latin typeface="Calibri"/>
              </a:rPr>
              <a:t>Recall</a:t>
            </a:r>
          </a:p>
        </p:txBody>
      </p:sp>
      <p:sp>
        <p:nvSpPr>
          <p:cNvPr id="20" name="Rounded Rectangle 19"/>
          <p:cNvSpPr/>
          <p:nvPr/>
        </p:nvSpPr>
        <p:spPr>
          <a:xfrm>
            <a:off x="8010144"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9871"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0.103</a:t>
            </a:r>
          </a:p>
          <a:p>
            <a:pPr algn="l">
              <a:spcAft>
                <a:spcPts val="400"/>
              </a:spcAft>
            </a:pPr>
            <a:r>
              <a:rPr sz="1200" b="0" i="0">
                <a:solidFill>
                  <a:srgbClr val="4B5563"/>
                </a:solidFill>
                <a:latin typeface="Calibri"/>
              </a:rPr>
              <a:t>F1</a:t>
            </a:r>
          </a:p>
        </p:txBody>
      </p:sp>
      <p:sp>
        <p:nvSpPr>
          <p:cNvPr id="22" name="Rounded Rectangle 21"/>
          <p:cNvSpPr/>
          <p:nvPr/>
        </p:nvSpPr>
        <p:spPr>
          <a:xfrm>
            <a:off x="9875519"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85247"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28.1%</a:t>
            </a:r>
          </a:p>
          <a:p>
            <a:pPr algn="l">
              <a:spcAft>
                <a:spcPts val="400"/>
              </a:spcAft>
            </a:pPr>
            <a:r>
              <a:rPr sz="1200" b="0" i="0">
                <a:solidFill>
                  <a:srgbClr val="4B5563"/>
                </a:solidFill>
                <a:latin typeface="Calibri"/>
              </a:rPr>
              <a:t>fraudes en el top 10%</a:t>
            </a:r>
          </a:p>
        </p:txBody>
      </p:sp>
      <p:sp>
        <p:nvSpPr>
          <p:cNvPr id="24" name="TextBox 23"/>
          <p:cNvSpPr txBox="1"/>
          <p:nvPr/>
        </p:nvSpPr>
        <p:spPr>
          <a:xfrm>
            <a:off x="548640" y="5596128"/>
            <a:ext cx="11109960" cy="320040"/>
          </a:xfrm>
          <a:prstGeom prst="rect">
            <a:avLst/>
          </a:prstGeom>
          <a:noFill/>
        </p:spPr>
        <p:txBody>
          <a:bodyPr wrap="square" anchor="t" lIns="73152" rIns="73152" tIns="73152" bIns="73152">
            <a:spAutoFit/>
          </a:bodyPr>
          <a:lstStyle/>
          <a:p>
            <a:pPr algn="l">
              <a:spcAft>
                <a:spcPts val="400"/>
              </a:spcAft>
            </a:pPr>
            <a:r>
              <a:rPr sz="1100" b="0" i="0">
                <a:solidFill>
                  <a:srgbClr val="4B5563"/>
                </a:solidFill>
                <a:latin typeface="Calibri"/>
              </a:rPr>
              <a:t>Métricas de validación cruzada (5 particiones); Precision, Recall y F1 con el umbral que maximiza F1.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MODELO 4</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Gradient Boosting</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15</a:t>
            </a:r>
          </a:p>
        </p:txBody>
      </p:sp>
      <p:sp>
        <p:nvSpPr>
          <p:cNvPr id="5" name="Rounded Rectangle 4"/>
          <p:cNvSpPr/>
          <p:nvPr/>
        </p:nvSpPr>
        <p:spPr>
          <a:xfrm>
            <a:off x="548640" y="1874519"/>
            <a:ext cx="3520440" cy="224028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947672"/>
            <a:ext cx="3246120" cy="2093976"/>
          </a:xfrm>
          <a:prstGeom prst="rect">
            <a:avLst/>
          </a:prstGeom>
          <a:noFill/>
        </p:spPr>
        <p:txBody>
          <a:bodyPr wrap="square" anchor="t" lIns="36576" rIns="36576" tIns="36576" bIns="36576">
            <a:spAutoFit/>
          </a:bodyPr>
          <a:lstStyle/>
          <a:p>
            <a:pPr algn="l">
              <a:spcAft>
                <a:spcPts val="500"/>
              </a:spcAft>
            </a:pPr>
            <a:r>
              <a:rPr sz="1500" b="1" i="0">
                <a:solidFill>
                  <a:srgbClr val="4B5563"/>
                </a:solidFill>
                <a:latin typeface="Calibri"/>
              </a:rPr>
              <a:t>Inicial · PR-AUC 0.059</a:t>
            </a:r>
          </a:p>
          <a:p>
            <a:pPr algn="l" marL="228600" indent="-182880">
              <a:spcAft>
                <a:spcPts val="300"/>
              </a:spcAft>
              <a:buChar char="•"/>
            </a:pPr>
            <a:r>
              <a:rPr sz="1300" b="0" i="0">
                <a:solidFill>
                  <a:srgbClr val="1F2937"/>
                </a:solidFill>
                <a:latin typeface="Calibri"/>
              </a:rPr>
              <a:t>Árboles de profundidad 2</a:t>
            </a:r>
          </a:p>
          <a:p>
            <a:pPr algn="l" marL="228600" indent="-182880">
              <a:spcAft>
                <a:spcPts val="300"/>
              </a:spcAft>
              <a:buChar char="•"/>
            </a:pPr>
            <a:r>
              <a:rPr sz="1300" b="0" i="0">
                <a:solidFill>
                  <a:srgbClr val="1F2937"/>
                </a:solidFill>
                <a:latin typeface="Calibri"/>
              </a:rPr>
              <a:t>Tasa 0.03, 400 iteraciones, hojas de 50</a:t>
            </a:r>
          </a:p>
          <a:p>
            <a:pPr algn="l" marL="228600" indent="-182880">
              <a:spcAft>
                <a:spcPts val="300"/>
              </a:spcAft>
              <a:buChar char="•"/>
            </a:pPr>
            <a:r>
              <a:rPr sz="1300" b="0" i="0">
                <a:solidFill>
                  <a:srgbClr val="1F2937"/>
                </a:solidFill>
                <a:latin typeface="Calibri"/>
              </a:rPr>
              <a:t>Peso ×10; sobreajuste 1.53</a:t>
            </a:r>
          </a:p>
        </p:txBody>
      </p:sp>
      <p:sp>
        <p:nvSpPr>
          <p:cNvPr id="7" name="TextBox 6"/>
          <p:cNvSpPr txBox="1"/>
          <p:nvPr/>
        </p:nvSpPr>
        <p:spPr>
          <a:xfrm>
            <a:off x="4069080" y="2606040"/>
            <a:ext cx="457200" cy="548640"/>
          </a:xfrm>
          <a:prstGeom prst="rect">
            <a:avLst/>
          </a:prstGeom>
          <a:noFill/>
        </p:spPr>
        <p:txBody>
          <a:bodyPr wrap="square" anchor="t" lIns="73152" rIns="73152" tIns="73152" bIns="73152">
            <a:spAutoFit/>
          </a:bodyPr>
          <a:lstStyle/>
          <a:p>
            <a:pPr algn="ctr">
              <a:spcAft>
                <a:spcPts val="400"/>
              </a:spcAft>
            </a:pPr>
            <a:r>
              <a:rPr sz="3200" b="1" i="0">
                <a:solidFill>
                  <a:srgbClr val="D55E00"/>
                </a:solidFill>
                <a:latin typeface="Calibri"/>
              </a:rPr>
              <a:t>→</a:t>
            </a:r>
          </a:p>
        </p:txBody>
      </p:sp>
      <p:sp>
        <p:nvSpPr>
          <p:cNvPr id="8" name="Rounded Rectangle 7"/>
          <p:cNvSpPr/>
          <p:nvPr/>
        </p:nvSpPr>
        <p:spPr>
          <a:xfrm>
            <a:off x="4526280" y="1874519"/>
            <a:ext cx="3520440" cy="2240280"/>
          </a:xfrm>
          <a:prstGeom prst="roundRect">
            <a:avLst>
              <a:gd name="adj" fmla="val 6000"/>
            </a:avLst>
          </a:prstGeom>
          <a:solidFill>
            <a:srgbClr val="FFFFFF"/>
          </a:solidFill>
          <a:ln w="1270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947672"/>
            <a:ext cx="3246120" cy="2093976"/>
          </a:xfrm>
          <a:prstGeom prst="rect">
            <a:avLst/>
          </a:prstGeom>
          <a:noFill/>
        </p:spPr>
        <p:txBody>
          <a:bodyPr wrap="square" anchor="t" lIns="36576" rIns="36576" tIns="36576" bIns="36576">
            <a:spAutoFit/>
          </a:bodyPr>
          <a:lstStyle/>
          <a:p>
            <a:pPr algn="l">
              <a:spcAft>
                <a:spcPts val="500"/>
              </a:spcAft>
            </a:pPr>
            <a:r>
              <a:rPr sz="1500" b="1" i="0">
                <a:solidFill>
                  <a:srgbClr val="D55E00"/>
                </a:solidFill>
                <a:latin typeface="Calibri"/>
              </a:rPr>
              <a:t>Mejorado · PR-AUC 0.062</a:t>
            </a:r>
          </a:p>
          <a:p>
            <a:pPr algn="l" marL="228600" indent="-182880">
              <a:spcAft>
                <a:spcPts val="300"/>
              </a:spcAft>
              <a:buChar char="•"/>
            </a:pPr>
            <a:r>
              <a:rPr sz="1300" b="0" i="0">
                <a:solidFill>
                  <a:srgbClr val="1F2937"/>
                </a:solidFill>
                <a:latin typeface="Calibri"/>
              </a:rPr>
              <a:t>Tocones: profundidad 1</a:t>
            </a:r>
          </a:p>
          <a:p>
            <a:pPr algn="l" marL="228600" indent="-182880">
              <a:spcAft>
                <a:spcPts val="300"/>
              </a:spcAft>
              <a:buChar char="•"/>
            </a:pPr>
            <a:r>
              <a:rPr sz="1300" b="0" i="0">
                <a:solidFill>
                  <a:srgbClr val="1F2937"/>
                </a:solidFill>
                <a:latin typeface="Calibri"/>
              </a:rPr>
              <a:t>Tasa 0.03, 400 iteraciones, hojas de 50</a:t>
            </a:r>
          </a:p>
          <a:p>
            <a:pPr algn="l" marL="228600" indent="-182880">
              <a:spcAft>
                <a:spcPts val="300"/>
              </a:spcAft>
              <a:buChar char="•"/>
            </a:pPr>
            <a:r>
              <a:rPr sz="1300" b="0" i="0">
                <a:solidFill>
                  <a:srgbClr val="1F2937"/>
                </a:solidFill>
                <a:latin typeface="Calibri"/>
              </a:rPr>
              <a:t>Peso ×10; sobreajuste 1.07</a:t>
            </a:r>
          </a:p>
        </p:txBody>
      </p:sp>
      <p:sp>
        <p:nvSpPr>
          <p:cNvPr id="10" name="Rounded Rectangle 9"/>
          <p:cNvSpPr/>
          <p:nvPr/>
        </p:nvSpPr>
        <p:spPr>
          <a:xfrm>
            <a:off x="8275320" y="1874519"/>
            <a:ext cx="3383280" cy="224028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1947672"/>
            <a:ext cx="3108960" cy="2093976"/>
          </a:xfrm>
          <a:prstGeom prst="rect">
            <a:avLst/>
          </a:prstGeom>
          <a:noFill/>
        </p:spPr>
        <p:txBody>
          <a:bodyPr wrap="square" anchor="t" lIns="36576" rIns="36576" tIns="36576" bIns="36576">
            <a:spAutoFit/>
          </a:bodyPr>
          <a:lstStyle/>
          <a:p>
            <a:pPr algn="l">
              <a:spcAft>
                <a:spcPts val="500"/>
              </a:spcAft>
            </a:pPr>
            <a:r>
              <a:rPr sz="1500" b="1" i="0">
                <a:solidFill>
                  <a:srgbClr val="103F77"/>
                </a:solidFill>
                <a:latin typeface="Calibri"/>
              </a:rPr>
              <a:t>Cómo se mejoró</a:t>
            </a:r>
          </a:p>
          <a:p>
            <a:pPr algn="l" marL="228600" indent="-182880">
              <a:spcAft>
                <a:spcPts val="300"/>
              </a:spcAft>
              <a:buChar char="•"/>
            </a:pPr>
            <a:r>
              <a:rPr sz="1300" b="0" i="0">
                <a:solidFill>
                  <a:srgbClr val="1F2937"/>
                </a:solidFill>
                <a:latin typeface="Calibri"/>
              </a:rPr>
              <a:t>Profundidad 1 &gt; 2 &gt; 3: combinar variables no ayuda</a:t>
            </a:r>
          </a:p>
          <a:p>
            <a:pPr algn="l" marL="228600" indent="-182880">
              <a:spcAft>
                <a:spcPts val="300"/>
              </a:spcAft>
              <a:buChar char="•"/>
            </a:pPr>
            <a:r>
              <a:rPr sz="1300" b="0" i="0">
                <a:solidFill>
                  <a:srgbClr val="1F2937"/>
                </a:solidFill>
                <a:latin typeface="Calibri"/>
              </a:rPr>
              <a:t>La señal es aditiva: cada variable suma riesgo por separado</a:t>
            </a:r>
          </a:p>
          <a:p>
            <a:pPr algn="l" marL="228600" indent="-182880">
              <a:spcAft>
                <a:spcPts val="300"/>
              </a:spcAft>
              <a:buChar char="•"/>
            </a:pPr>
            <a:r>
              <a:rPr sz="1300" b="0" i="0">
                <a:solidFill>
                  <a:srgbClr val="1F2937"/>
                </a:solidFill>
                <a:latin typeface="Calibri"/>
              </a:rPr>
              <a:t>Casi sin sobreajuste</a:t>
            </a:r>
          </a:p>
        </p:txBody>
      </p:sp>
      <p:sp>
        <p:nvSpPr>
          <p:cNvPr id="12" name="Rounded Rectangle 11"/>
          <p:cNvSpPr/>
          <p:nvPr/>
        </p:nvSpPr>
        <p:spPr>
          <a:xfrm>
            <a:off x="548640"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D55E00"/>
                </a:solidFill>
                <a:latin typeface="Calibri"/>
              </a:rPr>
              <a:t>0.062</a:t>
            </a:r>
          </a:p>
          <a:p>
            <a:pPr algn="l">
              <a:spcAft>
                <a:spcPts val="400"/>
              </a:spcAft>
            </a:pPr>
            <a:r>
              <a:rPr sz="1200" b="0" i="0">
                <a:solidFill>
                  <a:srgbClr val="4B5563"/>
                </a:solidFill>
                <a:latin typeface="Calibri"/>
              </a:rPr>
              <a:t>PR-AUC</a:t>
            </a:r>
          </a:p>
        </p:txBody>
      </p:sp>
      <p:sp>
        <p:nvSpPr>
          <p:cNvPr id="14" name="Rounded Rectangle 13"/>
          <p:cNvSpPr/>
          <p:nvPr/>
        </p:nvSpPr>
        <p:spPr>
          <a:xfrm>
            <a:off x="2414016"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23744"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0.706</a:t>
            </a:r>
          </a:p>
          <a:p>
            <a:pPr algn="l">
              <a:spcAft>
                <a:spcPts val="400"/>
              </a:spcAft>
            </a:pPr>
            <a:r>
              <a:rPr sz="1200" b="0" i="0">
                <a:solidFill>
                  <a:srgbClr val="4B5563"/>
                </a:solidFill>
                <a:latin typeface="Calibri"/>
              </a:rPr>
              <a:t>ROC-AUC</a:t>
            </a:r>
          </a:p>
        </p:txBody>
      </p:sp>
      <p:sp>
        <p:nvSpPr>
          <p:cNvPr id="16" name="Rounded Rectangle 15"/>
          <p:cNvSpPr/>
          <p:nvPr/>
        </p:nvSpPr>
        <p:spPr>
          <a:xfrm>
            <a:off x="4279392"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0.084</a:t>
            </a:r>
          </a:p>
          <a:p>
            <a:pPr algn="l">
              <a:spcAft>
                <a:spcPts val="400"/>
              </a:spcAft>
            </a:pPr>
            <a:r>
              <a:rPr sz="1200" b="0" i="0">
                <a:solidFill>
                  <a:srgbClr val="4B5563"/>
                </a:solidFill>
                <a:latin typeface="Calibri"/>
              </a:rPr>
              <a:t>Precision</a:t>
            </a:r>
          </a:p>
        </p:txBody>
      </p:sp>
      <p:sp>
        <p:nvSpPr>
          <p:cNvPr id="18" name="Rounded Rectangle 17"/>
          <p:cNvSpPr/>
          <p:nvPr/>
        </p:nvSpPr>
        <p:spPr>
          <a:xfrm>
            <a:off x="6144768"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4496"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0.147</a:t>
            </a:r>
          </a:p>
          <a:p>
            <a:pPr algn="l">
              <a:spcAft>
                <a:spcPts val="400"/>
              </a:spcAft>
            </a:pPr>
            <a:r>
              <a:rPr sz="1200" b="0" i="0">
                <a:solidFill>
                  <a:srgbClr val="4B5563"/>
                </a:solidFill>
                <a:latin typeface="Calibri"/>
              </a:rPr>
              <a:t>Recall</a:t>
            </a:r>
          </a:p>
        </p:txBody>
      </p:sp>
      <p:sp>
        <p:nvSpPr>
          <p:cNvPr id="20" name="Rounded Rectangle 19"/>
          <p:cNvSpPr/>
          <p:nvPr/>
        </p:nvSpPr>
        <p:spPr>
          <a:xfrm>
            <a:off x="8010144"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9871"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0.107</a:t>
            </a:r>
          </a:p>
          <a:p>
            <a:pPr algn="l">
              <a:spcAft>
                <a:spcPts val="400"/>
              </a:spcAft>
            </a:pPr>
            <a:r>
              <a:rPr sz="1200" b="0" i="0">
                <a:solidFill>
                  <a:srgbClr val="4B5563"/>
                </a:solidFill>
                <a:latin typeface="Calibri"/>
              </a:rPr>
              <a:t>F1</a:t>
            </a:r>
          </a:p>
        </p:txBody>
      </p:sp>
      <p:sp>
        <p:nvSpPr>
          <p:cNvPr id="22" name="Rounded Rectangle 21"/>
          <p:cNvSpPr/>
          <p:nvPr/>
        </p:nvSpPr>
        <p:spPr>
          <a:xfrm>
            <a:off x="9875519" y="4343400"/>
            <a:ext cx="1737360" cy="118872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85247" y="4416552"/>
            <a:ext cx="1517904" cy="1042416"/>
          </a:xfrm>
          <a:prstGeom prst="rect">
            <a:avLst/>
          </a:prstGeom>
          <a:noFill/>
        </p:spPr>
        <p:txBody>
          <a:bodyPr wrap="square" anchor="t" lIns="36576" rIns="36576" tIns="36576" bIns="36576">
            <a:spAutoFit/>
          </a:bodyPr>
          <a:lstStyle/>
          <a:p>
            <a:pPr algn="l">
              <a:spcAft>
                <a:spcPts val="200"/>
              </a:spcAft>
            </a:pPr>
            <a:r>
              <a:rPr sz="2600" b="1" i="0">
                <a:solidFill>
                  <a:srgbClr val="103F77"/>
                </a:solidFill>
                <a:latin typeface="Calibri"/>
              </a:rPr>
              <a:t>31.8%</a:t>
            </a:r>
          </a:p>
          <a:p>
            <a:pPr algn="l">
              <a:spcAft>
                <a:spcPts val="400"/>
              </a:spcAft>
            </a:pPr>
            <a:r>
              <a:rPr sz="1200" b="0" i="0">
                <a:solidFill>
                  <a:srgbClr val="4B5563"/>
                </a:solidFill>
                <a:latin typeface="Calibri"/>
              </a:rPr>
              <a:t>fraudes en el top 10%</a:t>
            </a:r>
          </a:p>
        </p:txBody>
      </p:sp>
      <p:sp>
        <p:nvSpPr>
          <p:cNvPr id="24" name="TextBox 23"/>
          <p:cNvSpPr txBox="1"/>
          <p:nvPr/>
        </p:nvSpPr>
        <p:spPr>
          <a:xfrm>
            <a:off x="548640" y="5596128"/>
            <a:ext cx="11109960" cy="320040"/>
          </a:xfrm>
          <a:prstGeom prst="rect">
            <a:avLst/>
          </a:prstGeom>
          <a:noFill/>
        </p:spPr>
        <p:txBody>
          <a:bodyPr wrap="square" anchor="t" lIns="73152" rIns="73152" tIns="73152" bIns="73152">
            <a:spAutoFit/>
          </a:bodyPr>
          <a:lstStyle/>
          <a:p>
            <a:pPr algn="l">
              <a:spcAft>
                <a:spcPts val="400"/>
              </a:spcAft>
            </a:pPr>
            <a:r>
              <a:rPr sz="1100" b="0" i="0">
                <a:solidFill>
                  <a:srgbClr val="4B5563"/>
                </a:solidFill>
                <a:latin typeface="Calibri"/>
              </a:rPr>
              <a:t>Métricas de validación cruzada (5 particiones); Precision, Recall y F1 con el umbral que maximiza F1.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COMPARACIÓN</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El podio de los cuatro modelos</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16</a:t>
            </a:r>
          </a:p>
        </p:txBody>
      </p:sp>
      <p:graphicFrame>
        <p:nvGraphicFramePr>
          <p:cNvPr id="5" name="Table 4"/>
          <p:cNvGraphicFramePr>
            <a:graphicFrameLocks noGrp="1"/>
          </p:cNvGraphicFramePr>
          <p:nvPr/>
        </p:nvGraphicFramePr>
        <p:xfrm>
          <a:off x="548640" y="1920240"/>
          <a:ext cx="6126480" cy="2633472"/>
        </p:xfrm>
        <a:graphic>
          <a:graphicData uri="http://schemas.openxmlformats.org/drawingml/2006/table">
            <a:tbl>
              <a:tblPr firstRow="1" bandRow="1">
                <a:tableStyleId>{5C22544A-7EE6-4342-B048-85BDC9FD1C3A}</a:tableStyleId>
              </a:tblPr>
              <a:tblGrid>
                <a:gridCol w="822960"/>
                <a:gridCol w="2377440"/>
                <a:gridCol w="960120"/>
                <a:gridCol w="1005840"/>
                <a:gridCol w="960120"/>
              </a:tblGrid>
              <a:tr h="438912">
                <a:tc>
                  <a:txBody>
                    <a:bodyPr/>
                    <a:lstStyle/>
                    <a:p>
                      <a:pPr algn="ctr"/>
                      <a:r>
                        <a:rPr sz="1500" b="1">
                          <a:solidFill>
                            <a:srgbClr val="FFFFFF"/>
                          </a:solidFill>
                          <a:latin typeface="Calibri"/>
                        </a:rPr>
                        <a:t>Puesto</a:t>
                      </a:r>
                    </a:p>
                  </a:txBody>
                  <a:tcPr marL="64008" marR="64008" marT="27432" marB="27432" anchor="ctr">
                    <a:solidFill>
                      <a:srgbClr val="103F77"/>
                    </a:solidFill>
                  </a:tcPr>
                </a:tc>
                <a:tc>
                  <a:txBody>
                    <a:bodyPr/>
                    <a:lstStyle/>
                    <a:p>
                      <a:pPr algn="l"/>
                      <a:r>
                        <a:rPr sz="1500" b="1">
                          <a:solidFill>
                            <a:srgbClr val="FFFFFF"/>
                          </a:solidFill>
                          <a:latin typeface="Calibri"/>
                        </a:rPr>
                        <a:t>Modelo</a:t>
                      </a:r>
                    </a:p>
                  </a:txBody>
                  <a:tcPr marL="64008" marR="64008" marT="27432" marB="27432" anchor="ctr">
                    <a:solidFill>
                      <a:srgbClr val="103F77"/>
                    </a:solidFill>
                  </a:tcPr>
                </a:tc>
                <a:tc>
                  <a:txBody>
                    <a:bodyPr/>
                    <a:lstStyle/>
                    <a:p>
                      <a:pPr algn="ctr"/>
                      <a:r>
                        <a:rPr sz="1500" b="1">
                          <a:solidFill>
                            <a:srgbClr val="FFFFFF"/>
                          </a:solidFill>
                          <a:latin typeface="Calibri"/>
                        </a:rPr>
                        <a:t>PR-AUC</a:t>
                      </a:r>
                    </a:p>
                  </a:txBody>
                  <a:tcPr marL="64008" marR="64008" marT="27432" marB="27432" anchor="ctr">
                    <a:solidFill>
                      <a:srgbClr val="103F77"/>
                    </a:solidFill>
                  </a:tcPr>
                </a:tc>
                <a:tc>
                  <a:txBody>
                    <a:bodyPr/>
                    <a:lstStyle/>
                    <a:p>
                      <a:pPr algn="ctr"/>
                      <a:r>
                        <a:rPr sz="1500" b="1">
                          <a:solidFill>
                            <a:srgbClr val="FFFFFF"/>
                          </a:solidFill>
                          <a:latin typeface="Calibri"/>
                        </a:rPr>
                        <a:t>ROC-AUC</a:t>
                      </a:r>
                    </a:p>
                  </a:txBody>
                  <a:tcPr marL="64008" marR="64008" marT="27432" marB="27432" anchor="ctr">
                    <a:solidFill>
                      <a:srgbClr val="103F77"/>
                    </a:solidFill>
                  </a:tcPr>
                </a:tc>
                <a:tc>
                  <a:txBody>
                    <a:bodyPr/>
                    <a:lstStyle/>
                    <a:p>
                      <a:pPr algn="ctr"/>
                      <a:r>
                        <a:rPr sz="1500" b="1">
                          <a:solidFill>
                            <a:srgbClr val="FFFFFF"/>
                          </a:solidFill>
                          <a:latin typeface="Calibri"/>
                        </a:rPr>
                        <a:t>Top 10%</a:t>
                      </a:r>
                    </a:p>
                  </a:txBody>
                  <a:tcPr marL="64008" marR="64008" marT="27432" marB="27432" anchor="ctr">
                    <a:solidFill>
                      <a:srgbClr val="103F77"/>
                    </a:solidFill>
                  </a:tcPr>
                </a:tc>
              </a:tr>
              <a:tr h="438912">
                <a:tc>
                  <a:txBody>
                    <a:bodyPr/>
                    <a:lstStyle/>
                    <a:p>
                      <a:pPr algn="ctr"/>
                      <a:r>
                        <a:rPr sz="1500" b="1">
                          <a:solidFill>
                            <a:srgbClr val="1F2937"/>
                          </a:solidFill>
                          <a:latin typeface="Calibri"/>
                        </a:rPr>
                        <a:t>1.º</a:t>
                      </a:r>
                    </a:p>
                  </a:txBody>
                  <a:tcPr marL="64008" marR="64008" marT="27432" marB="27432" anchor="ctr">
                    <a:solidFill>
                      <a:srgbClr val="FBE7D9"/>
                    </a:solidFill>
                  </a:tcPr>
                </a:tc>
                <a:tc>
                  <a:txBody>
                    <a:bodyPr/>
                    <a:lstStyle/>
                    <a:p>
                      <a:pPr algn="l"/>
                      <a:r>
                        <a:rPr sz="1500" b="1">
                          <a:solidFill>
                            <a:srgbClr val="1F2937"/>
                          </a:solidFill>
                          <a:latin typeface="Calibri"/>
                        </a:rPr>
                        <a:t>Gradient Boosting</a:t>
                      </a:r>
                    </a:p>
                  </a:txBody>
                  <a:tcPr marL="64008" marR="64008" marT="27432" marB="27432" anchor="ctr">
                    <a:solidFill>
                      <a:srgbClr val="FBE7D9"/>
                    </a:solidFill>
                  </a:tcPr>
                </a:tc>
                <a:tc>
                  <a:txBody>
                    <a:bodyPr/>
                    <a:lstStyle/>
                    <a:p>
                      <a:pPr algn="ctr"/>
                      <a:r>
                        <a:rPr sz="1500" b="1">
                          <a:solidFill>
                            <a:srgbClr val="1F2937"/>
                          </a:solidFill>
                          <a:latin typeface="Calibri"/>
                        </a:rPr>
                        <a:t>0.062</a:t>
                      </a:r>
                    </a:p>
                  </a:txBody>
                  <a:tcPr marL="64008" marR="64008" marT="27432" marB="27432" anchor="ctr">
                    <a:solidFill>
                      <a:srgbClr val="FBE7D9"/>
                    </a:solidFill>
                  </a:tcPr>
                </a:tc>
                <a:tc>
                  <a:txBody>
                    <a:bodyPr/>
                    <a:lstStyle/>
                    <a:p>
                      <a:pPr algn="ctr"/>
                      <a:r>
                        <a:rPr sz="1500" b="1">
                          <a:solidFill>
                            <a:srgbClr val="1F2937"/>
                          </a:solidFill>
                          <a:latin typeface="Calibri"/>
                        </a:rPr>
                        <a:t>0.706</a:t>
                      </a:r>
                    </a:p>
                  </a:txBody>
                  <a:tcPr marL="64008" marR="64008" marT="27432" marB="27432" anchor="ctr">
                    <a:solidFill>
                      <a:srgbClr val="FBE7D9"/>
                    </a:solidFill>
                  </a:tcPr>
                </a:tc>
                <a:tc>
                  <a:txBody>
                    <a:bodyPr/>
                    <a:lstStyle/>
                    <a:p>
                      <a:pPr algn="ctr"/>
                      <a:r>
                        <a:rPr sz="1500" b="1">
                          <a:solidFill>
                            <a:srgbClr val="1F2937"/>
                          </a:solidFill>
                          <a:latin typeface="Calibri"/>
                        </a:rPr>
                        <a:t>31.8%</a:t>
                      </a:r>
                    </a:p>
                  </a:txBody>
                  <a:tcPr marL="64008" marR="64008" marT="27432" marB="27432" anchor="ctr">
                    <a:solidFill>
                      <a:srgbClr val="FBE7D9"/>
                    </a:solidFill>
                  </a:tcPr>
                </a:tc>
              </a:tr>
              <a:tr h="438912">
                <a:tc>
                  <a:txBody>
                    <a:bodyPr/>
                    <a:lstStyle/>
                    <a:p>
                      <a:pPr algn="ctr"/>
                      <a:r>
                        <a:rPr sz="1500" b="0">
                          <a:solidFill>
                            <a:srgbClr val="1F2937"/>
                          </a:solidFill>
                          <a:latin typeface="Calibri"/>
                        </a:rPr>
                        <a:t>2.º</a:t>
                      </a:r>
                    </a:p>
                  </a:txBody>
                  <a:tcPr marL="64008" marR="64008" marT="27432" marB="27432" anchor="ctr">
                    <a:solidFill>
                      <a:srgbClr val="EEF3F9"/>
                    </a:solidFill>
                  </a:tcPr>
                </a:tc>
                <a:tc>
                  <a:txBody>
                    <a:bodyPr/>
                    <a:lstStyle/>
                    <a:p>
                      <a:pPr algn="l"/>
                      <a:r>
                        <a:rPr sz="1500" b="0">
                          <a:solidFill>
                            <a:srgbClr val="1F2937"/>
                          </a:solidFill>
                          <a:latin typeface="Calibri"/>
                        </a:rPr>
                        <a:t>Random Forest</a:t>
                      </a:r>
                    </a:p>
                  </a:txBody>
                  <a:tcPr marL="64008" marR="64008" marT="27432" marB="27432" anchor="ctr">
                    <a:solidFill>
                      <a:srgbClr val="EEF3F9"/>
                    </a:solidFill>
                  </a:tcPr>
                </a:tc>
                <a:tc>
                  <a:txBody>
                    <a:bodyPr/>
                    <a:lstStyle/>
                    <a:p>
                      <a:pPr algn="ctr"/>
                      <a:r>
                        <a:rPr sz="1500" b="0">
                          <a:solidFill>
                            <a:srgbClr val="1F2937"/>
                          </a:solidFill>
                          <a:latin typeface="Calibri"/>
                        </a:rPr>
                        <a:t>0.057</a:t>
                      </a:r>
                    </a:p>
                  </a:txBody>
                  <a:tcPr marL="64008" marR="64008" marT="27432" marB="27432" anchor="ctr">
                    <a:solidFill>
                      <a:srgbClr val="EEF3F9"/>
                    </a:solidFill>
                  </a:tcPr>
                </a:tc>
                <a:tc>
                  <a:txBody>
                    <a:bodyPr/>
                    <a:lstStyle/>
                    <a:p>
                      <a:pPr algn="ctr"/>
                      <a:r>
                        <a:rPr sz="1500" b="0">
                          <a:solidFill>
                            <a:srgbClr val="1F2937"/>
                          </a:solidFill>
                          <a:latin typeface="Calibri"/>
                        </a:rPr>
                        <a:t>0.701</a:t>
                      </a:r>
                    </a:p>
                  </a:txBody>
                  <a:tcPr marL="64008" marR="64008" marT="27432" marB="27432" anchor="ctr">
                    <a:solidFill>
                      <a:srgbClr val="EEF3F9"/>
                    </a:solidFill>
                  </a:tcPr>
                </a:tc>
                <a:tc>
                  <a:txBody>
                    <a:bodyPr/>
                    <a:lstStyle/>
                    <a:p>
                      <a:pPr algn="ctr"/>
                      <a:r>
                        <a:rPr sz="1500" b="0">
                          <a:solidFill>
                            <a:srgbClr val="1F2937"/>
                          </a:solidFill>
                          <a:latin typeface="Calibri"/>
                        </a:rPr>
                        <a:t>28.1%</a:t>
                      </a:r>
                    </a:p>
                  </a:txBody>
                  <a:tcPr marL="64008" marR="64008" marT="27432" marB="27432" anchor="ctr">
                    <a:solidFill>
                      <a:srgbClr val="EEF3F9"/>
                    </a:solidFill>
                  </a:tcPr>
                </a:tc>
              </a:tr>
              <a:tr h="438912">
                <a:tc>
                  <a:txBody>
                    <a:bodyPr/>
                    <a:lstStyle/>
                    <a:p>
                      <a:pPr algn="ctr"/>
                      <a:r>
                        <a:rPr sz="1500" b="0">
                          <a:solidFill>
                            <a:srgbClr val="1F2937"/>
                          </a:solidFill>
                          <a:latin typeface="Calibri"/>
                        </a:rPr>
                        <a:t>3.º</a:t>
                      </a:r>
                    </a:p>
                  </a:txBody>
                  <a:tcPr marL="64008" marR="64008" marT="27432" marB="27432" anchor="ctr">
                    <a:solidFill>
                      <a:srgbClr val="FFFFFF"/>
                    </a:solidFill>
                  </a:tcPr>
                </a:tc>
                <a:tc>
                  <a:txBody>
                    <a:bodyPr/>
                    <a:lstStyle/>
                    <a:p>
                      <a:pPr algn="l"/>
                      <a:r>
                        <a:rPr sz="1500" b="0">
                          <a:solidFill>
                            <a:srgbClr val="1F2937"/>
                          </a:solidFill>
                          <a:latin typeface="Calibri"/>
                        </a:rPr>
                        <a:t>Regresión Logística</a:t>
                      </a:r>
                    </a:p>
                  </a:txBody>
                  <a:tcPr marL="64008" marR="64008" marT="27432" marB="27432" anchor="ctr">
                    <a:solidFill>
                      <a:srgbClr val="FFFFFF"/>
                    </a:solidFill>
                  </a:tcPr>
                </a:tc>
                <a:tc>
                  <a:txBody>
                    <a:bodyPr/>
                    <a:lstStyle/>
                    <a:p>
                      <a:pPr algn="ctr"/>
                      <a:r>
                        <a:rPr sz="1500" b="0">
                          <a:solidFill>
                            <a:srgbClr val="1F2937"/>
                          </a:solidFill>
                          <a:latin typeface="Calibri"/>
                        </a:rPr>
                        <a:t>0.051</a:t>
                      </a:r>
                    </a:p>
                  </a:txBody>
                  <a:tcPr marL="64008" marR="64008" marT="27432" marB="27432" anchor="ctr">
                    <a:solidFill>
                      <a:srgbClr val="FFFFFF"/>
                    </a:solidFill>
                  </a:tcPr>
                </a:tc>
                <a:tc>
                  <a:txBody>
                    <a:bodyPr/>
                    <a:lstStyle/>
                    <a:p>
                      <a:pPr algn="ctr"/>
                      <a:r>
                        <a:rPr sz="1500" b="0">
                          <a:solidFill>
                            <a:srgbClr val="1F2937"/>
                          </a:solidFill>
                          <a:latin typeface="Calibri"/>
                        </a:rPr>
                        <a:t>0.681</a:t>
                      </a:r>
                    </a:p>
                  </a:txBody>
                  <a:tcPr marL="64008" marR="64008" marT="27432" marB="27432" anchor="ctr">
                    <a:solidFill>
                      <a:srgbClr val="FFFFFF"/>
                    </a:solidFill>
                  </a:tcPr>
                </a:tc>
                <a:tc>
                  <a:txBody>
                    <a:bodyPr/>
                    <a:lstStyle/>
                    <a:p>
                      <a:pPr algn="ctr"/>
                      <a:r>
                        <a:rPr sz="1500" b="0">
                          <a:solidFill>
                            <a:srgbClr val="1F2937"/>
                          </a:solidFill>
                          <a:latin typeface="Calibri"/>
                        </a:rPr>
                        <a:t>27.7%</a:t>
                      </a:r>
                    </a:p>
                  </a:txBody>
                  <a:tcPr marL="64008" marR="64008" marT="27432" marB="27432" anchor="ctr">
                    <a:solidFill>
                      <a:srgbClr val="FFFFFF"/>
                    </a:solidFill>
                  </a:tcPr>
                </a:tc>
              </a:tr>
              <a:tr h="438912">
                <a:tc>
                  <a:txBody>
                    <a:bodyPr/>
                    <a:lstStyle/>
                    <a:p>
                      <a:pPr algn="ctr"/>
                      <a:r>
                        <a:rPr sz="1500" b="0">
                          <a:solidFill>
                            <a:srgbClr val="1F2937"/>
                          </a:solidFill>
                          <a:latin typeface="Calibri"/>
                        </a:rPr>
                        <a:t>4.º</a:t>
                      </a:r>
                    </a:p>
                  </a:txBody>
                  <a:tcPr marL="64008" marR="64008" marT="27432" marB="27432" anchor="ctr">
                    <a:solidFill>
                      <a:srgbClr val="EEF3F9"/>
                    </a:solidFill>
                  </a:tcPr>
                </a:tc>
                <a:tc>
                  <a:txBody>
                    <a:bodyPr/>
                    <a:lstStyle/>
                    <a:p>
                      <a:pPr algn="l"/>
                      <a:r>
                        <a:rPr sz="1500" b="0">
                          <a:solidFill>
                            <a:srgbClr val="1F2937"/>
                          </a:solidFill>
                          <a:latin typeface="Calibri"/>
                        </a:rPr>
                        <a:t>Árbol de Decisión</a:t>
                      </a:r>
                    </a:p>
                  </a:txBody>
                  <a:tcPr marL="64008" marR="64008" marT="27432" marB="27432" anchor="ctr">
                    <a:solidFill>
                      <a:srgbClr val="EEF3F9"/>
                    </a:solidFill>
                  </a:tcPr>
                </a:tc>
                <a:tc>
                  <a:txBody>
                    <a:bodyPr/>
                    <a:lstStyle/>
                    <a:p>
                      <a:pPr algn="ctr"/>
                      <a:r>
                        <a:rPr sz="1500" b="0">
                          <a:solidFill>
                            <a:srgbClr val="1F2937"/>
                          </a:solidFill>
                          <a:latin typeface="Calibri"/>
                        </a:rPr>
                        <a:t>0.040</a:t>
                      </a:r>
                    </a:p>
                  </a:txBody>
                  <a:tcPr marL="64008" marR="64008" marT="27432" marB="27432" anchor="ctr">
                    <a:solidFill>
                      <a:srgbClr val="EEF3F9"/>
                    </a:solidFill>
                  </a:tcPr>
                </a:tc>
                <a:tc>
                  <a:txBody>
                    <a:bodyPr/>
                    <a:lstStyle/>
                    <a:p>
                      <a:pPr algn="ctr"/>
                      <a:r>
                        <a:rPr sz="1500" b="0">
                          <a:solidFill>
                            <a:srgbClr val="1F2937"/>
                          </a:solidFill>
                          <a:latin typeface="Calibri"/>
                        </a:rPr>
                        <a:t>0.672</a:t>
                      </a:r>
                    </a:p>
                  </a:txBody>
                  <a:tcPr marL="64008" marR="64008" marT="27432" marB="27432" anchor="ctr">
                    <a:solidFill>
                      <a:srgbClr val="EEF3F9"/>
                    </a:solidFill>
                  </a:tcPr>
                </a:tc>
                <a:tc>
                  <a:txBody>
                    <a:bodyPr/>
                    <a:lstStyle/>
                    <a:p>
                      <a:pPr algn="ctr"/>
                      <a:r>
                        <a:rPr sz="1500" b="0">
                          <a:solidFill>
                            <a:srgbClr val="1F2937"/>
                          </a:solidFill>
                          <a:latin typeface="Calibri"/>
                        </a:rPr>
                        <a:t>25.5%</a:t>
                      </a:r>
                    </a:p>
                  </a:txBody>
                  <a:tcPr marL="64008" marR="64008" marT="27432" marB="27432" anchor="ctr">
                    <a:solidFill>
                      <a:srgbClr val="EEF3F9"/>
                    </a:solidFill>
                  </a:tcPr>
                </a:tc>
              </a:tr>
              <a:tr h="438912">
                <a:tc>
                  <a:txBody>
                    <a:bodyPr/>
                    <a:lstStyle/>
                    <a:p>
                      <a:pPr algn="ctr"/>
                      <a:r>
                        <a:rPr sz="1500" b="0">
                          <a:solidFill>
                            <a:srgbClr val="1F2937"/>
                          </a:solidFill>
                          <a:latin typeface="Calibri"/>
                        </a:rPr>
                        <a:t>—</a:t>
                      </a:r>
                    </a:p>
                  </a:txBody>
                  <a:tcPr marL="64008" marR="64008" marT="27432" marB="27432" anchor="ctr">
                    <a:solidFill>
                      <a:srgbClr val="FFFFFF"/>
                    </a:solidFill>
                  </a:tcPr>
                </a:tc>
                <a:tc>
                  <a:txBody>
                    <a:bodyPr/>
                    <a:lstStyle/>
                    <a:p>
                      <a:pPr algn="l"/>
                      <a:r>
                        <a:rPr sz="1500" b="0">
                          <a:solidFill>
                            <a:srgbClr val="1F2937"/>
                          </a:solidFill>
                          <a:latin typeface="Calibri"/>
                        </a:rPr>
                        <a:t>Azar</a:t>
                      </a:r>
                    </a:p>
                  </a:txBody>
                  <a:tcPr marL="64008" marR="64008" marT="27432" marB="27432" anchor="ctr">
                    <a:solidFill>
                      <a:srgbClr val="FFFFFF"/>
                    </a:solidFill>
                  </a:tcPr>
                </a:tc>
                <a:tc>
                  <a:txBody>
                    <a:bodyPr/>
                    <a:lstStyle/>
                    <a:p>
                      <a:pPr algn="ctr"/>
                      <a:r>
                        <a:rPr sz="1500" b="0">
                          <a:solidFill>
                            <a:srgbClr val="1F2937"/>
                          </a:solidFill>
                          <a:latin typeface="Calibri"/>
                        </a:rPr>
                        <a:t>0.018</a:t>
                      </a:r>
                    </a:p>
                  </a:txBody>
                  <a:tcPr marL="64008" marR="64008" marT="27432" marB="27432" anchor="ctr">
                    <a:solidFill>
                      <a:srgbClr val="FFFFFF"/>
                    </a:solidFill>
                  </a:tcPr>
                </a:tc>
                <a:tc>
                  <a:txBody>
                    <a:bodyPr/>
                    <a:lstStyle/>
                    <a:p>
                      <a:pPr algn="ctr"/>
                      <a:r>
                        <a:rPr sz="1500" b="0">
                          <a:solidFill>
                            <a:srgbClr val="1F2937"/>
                          </a:solidFill>
                          <a:latin typeface="Calibri"/>
                        </a:rPr>
                        <a:t>0.500</a:t>
                      </a:r>
                    </a:p>
                  </a:txBody>
                  <a:tcPr marL="64008" marR="64008" marT="27432" marB="27432" anchor="ctr">
                    <a:solidFill>
                      <a:srgbClr val="FFFFFF"/>
                    </a:solidFill>
                  </a:tcPr>
                </a:tc>
                <a:tc>
                  <a:txBody>
                    <a:bodyPr/>
                    <a:lstStyle/>
                    <a:p>
                      <a:pPr algn="ctr"/>
                      <a:r>
                        <a:rPr sz="1500" b="0">
                          <a:solidFill>
                            <a:srgbClr val="1F2937"/>
                          </a:solidFill>
                          <a:latin typeface="Calibri"/>
                        </a:rPr>
                        <a:t>10.0%</a:t>
                      </a:r>
                    </a:p>
                  </a:txBody>
                  <a:tcPr marL="64008" marR="64008" marT="27432" marB="27432" anchor="ctr">
                    <a:solidFill>
                      <a:srgbClr val="FFFFFF"/>
                    </a:solidFill>
                  </a:tcPr>
                </a:tc>
              </a:tr>
            </a:tbl>
          </a:graphicData>
        </a:graphic>
      </p:graphicFrame>
      <p:sp>
        <p:nvSpPr>
          <p:cNvPr id="6" name="Rounded Rectangle 5"/>
          <p:cNvSpPr/>
          <p:nvPr/>
        </p:nvSpPr>
        <p:spPr>
          <a:xfrm>
            <a:off x="548640" y="4663440"/>
            <a:ext cx="6126480" cy="123444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4736592"/>
            <a:ext cx="5852160" cy="1088136"/>
          </a:xfrm>
          <a:prstGeom prst="rect">
            <a:avLst/>
          </a:prstGeom>
          <a:noFill/>
        </p:spPr>
        <p:txBody>
          <a:bodyPr wrap="square" anchor="t" lIns="36576" rIns="36576" tIns="36576" bIns="36576">
            <a:spAutoFit/>
          </a:bodyPr>
          <a:lstStyle/>
          <a:p>
            <a:pPr algn="l">
              <a:spcAft>
                <a:spcPts val="500"/>
              </a:spcAft>
            </a:pPr>
            <a:r>
              <a:rPr sz="1500" b="1" i="0">
                <a:solidFill>
                  <a:srgbClr val="103F77"/>
                </a:solidFill>
                <a:latin typeface="Calibri"/>
              </a:rPr>
              <a:t>Mejor: Gradient Boosting · Peor: Árbol de Decisión</a:t>
            </a:r>
          </a:p>
          <a:p>
            <a:pPr algn="l" marL="228600" indent="-182880">
              <a:spcAft>
                <a:spcPts val="300"/>
              </a:spcAft>
              <a:buChar char="•"/>
            </a:pPr>
            <a:r>
              <a:rPr sz="1300" b="0" i="0">
                <a:solidFill>
                  <a:srgbClr val="1F2937"/>
                </a:solidFill>
                <a:latin typeface="Calibri"/>
              </a:rPr>
              <a:t>Los tres primeros están muy cerca: diferencias del tamaño del ruido entre particiones</a:t>
            </a:r>
          </a:p>
        </p:txBody>
      </p:sp>
      <p:sp>
        <p:nvSpPr>
          <p:cNvPr id="8" name="Rounded Rectangle 7"/>
          <p:cNvSpPr/>
          <p:nvPr/>
        </p:nvSpPr>
        <p:spPr>
          <a:xfrm>
            <a:off x="6903720" y="1920240"/>
            <a:ext cx="4754880" cy="274320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nforme_curva_captura.png"/>
          <p:cNvPicPr>
            <a:picLocks noChangeAspect="1"/>
          </p:cNvPicPr>
          <p:nvPr/>
        </p:nvPicPr>
        <p:blipFill>
          <a:blip r:embed="rId2"/>
          <a:stretch>
            <a:fillRect/>
          </a:stretch>
        </p:blipFill>
        <p:spPr>
          <a:xfrm>
            <a:off x="7346372" y="2011680"/>
            <a:ext cx="3869574" cy="2560320"/>
          </a:xfrm>
          <a:prstGeom prst="rect">
            <a:avLst/>
          </a:prstGeom>
        </p:spPr>
      </p:pic>
      <p:sp>
        <p:nvSpPr>
          <p:cNvPr id="10" name="Rounded Rectangle 9"/>
          <p:cNvSpPr/>
          <p:nvPr/>
        </p:nvSpPr>
        <p:spPr>
          <a:xfrm>
            <a:off x="6903720" y="4754880"/>
            <a:ext cx="4754880" cy="114300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0" y="4828032"/>
            <a:ext cx="4480560" cy="996696"/>
          </a:xfrm>
          <a:prstGeom prst="rect">
            <a:avLst/>
          </a:prstGeom>
          <a:noFill/>
        </p:spPr>
        <p:txBody>
          <a:bodyPr wrap="square" anchor="t" lIns="36576" rIns="36576" tIns="36576" bIns="36576">
            <a:spAutoFit/>
          </a:bodyPr>
          <a:lstStyle/>
          <a:p>
            <a:pPr algn="l">
              <a:spcAft>
                <a:spcPts val="500"/>
              </a:spcAft>
            </a:pPr>
            <a:r>
              <a:rPr sz="1400" b="1" i="0">
                <a:solidFill>
                  <a:srgbClr val="D55E00"/>
                </a:solidFill>
                <a:latin typeface="Calibri"/>
              </a:rPr>
              <a:t>Recall de fraude a igual revisión</a:t>
            </a:r>
          </a:p>
          <a:p>
            <a:pPr algn="l" marL="228600" indent="-182880">
              <a:spcAft>
                <a:spcPts val="300"/>
              </a:spcAft>
              <a:buChar char="•"/>
            </a:pPr>
            <a:r>
              <a:rPr sz="1300" b="0" i="0">
                <a:solidFill>
                  <a:srgbClr val="1F2937"/>
                </a:solidFill>
                <a:latin typeface="Calibri"/>
              </a:rPr>
              <a:t>Con el mismo número de alertas, GB detecta más fraudes del 5% al 30% revisado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EVALUACIÓN FINAL</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El ganador en el conjunto de prueba</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17</a:t>
            </a:r>
          </a:p>
        </p:txBody>
      </p:sp>
      <p:graphicFrame>
        <p:nvGraphicFramePr>
          <p:cNvPr id="5" name="Table 4"/>
          <p:cNvGraphicFramePr>
            <a:graphicFrameLocks noGrp="1"/>
          </p:cNvGraphicFramePr>
          <p:nvPr/>
        </p:nvGraphicFramePr>
        <p:xfrm>
          <a:off x="548640" y="1920240"/>
          <a:ext cx="5852160" cy="2944368"/>
        </p:xfrm>
        <a:graphic>
          <a:graphicData uri="http://schemas.openxmlformats.org/drawingml/2006/table">
            <a:tbl>
              <a:tblPr firstRow="1" bandRow="1">
                <a:tableStyleId>{5C22544A-7EE6-4342-B048-85BDC9FD1C3A}</a:tableStyleId>
              </a:tblPr>
              <a:tblGrid>
                <a:gridCol w="2743200"/>
                <a:gridCol w="1554480"/>
                <a:gridCol w="1554480"/>
              </a:tblGrid>
              <a:tr h="420624">
                <a:tc>
                  <a:txBody>
                    <a:bodyPr/>
                    <a:lstStyle/>
                    <a:p>
                      <a:pPr algn="l"/>
                      <a:r>
                        <a:rPr sz="1500" b="1">
                          <a:solidFill>
                            <a:srgbClr val="FFFFFF"/>
                          </a:solidFill>
                          <a:latin typeface="Calibri"/>
                        </a:rPr>
                        <a:t>Métrica</a:t>
                      </a:r>
                    </a:p>
                  </a:txBody>
                  <a:tcPr marL="64008" marR="64008" marT="27432" marB="27432" anchor="ctr">
                    <a:solidFill>
                      <a:srgbClr val="103F77"/>
                    </a:solidFill>
                  </a:tcPr>
                </a:tc>
                <a:tc>
                  <a:txBody>
                    <a:bodyPr/>
                    <a:lstStyle/>
                    <a:p>
                      <a:pPr algn="ctr"/>
                      <a:r>
                        <a:rPr sz="1500" b="1">
                          <a:solidFill>
                            <a:srgbClr val="FFFFFF"/>
                          </a:solidFill>
                          <a:latin typeface="Calibri"/>
                        </a:rPr>
                        <a:t>Validación</a:t>
                      </a:r>
                    </a:p>
                  </a:txBody>
                  <a:tcPr marL="64008" marR="64008" marT="27432" marB="27432" anchor="ctr">
                    <a:solidFill>
                      <a:srgbClr val="103F77"/>
                    </a:solidFill>
                  </a:tcPr>
                </a:tc>
                <a:tc>
                  <a:txBody>
                    <a:bodyPr/>
                    <a:lstStyle/>
                    <a:p>
                      <a:pPr algn="ctr"/>
                      <a:r>
                        <a:rPr sz="1500" b="1">
                          <a:solidFill>
                            <a:srgbClr val="FFFFFF"/>
                          </a:solidFill>
                          <a:latin typeface="Calibri"/>
                        </a:rPr>
                        <a:t>Prueba</a:t>
                      </a:r>
                    </a:p>
                  </a:txBody>
                  <a:tcPr marL="64008" marR="64008" marT="27432" marB="27432" anchor="ctr">
                    <a:solidFill>
                      <a:srgbClr val="103F77"/>
                    </a:solidFill>
                  </a:tcPr>
                </a:tc>
              </a:tr>
              <a:tr h="420624">
                <a:tc>
                  <a:txBody>
                    <a:bodyPr/>
                    <a:lstStyle/>
                    <a:p>
                      <a:pPr algn="l"/>
                      <a:r>
                        <a:rPr sz="1500" b="0">
                          <a:solidFill>
                            <a:srgbClr val="1F2937"/>
                          </a:solidFill>
                          <a:latin typeface="Calibri"/>
                        </a:rPr>
                        <a:t>PR-AUC</a:t>
                      </a:r>
                    </a:p>
                  </a:txBody>
                  <a:tcPr marL="64008" marR="64008" marT="27432" marB="27432" anchor="ctr">
                    <a:solidFill>
                      <a:srgbClr val="FFFFFF"/>
                    </a:solidFill>
                  </a:tcPr>
                </a:tc>
                <a:tc>
                  <a:txBody>
                    <a:bodyPr/>
                    <a:lstStyle/>
                    <a:p>
                      <a:pPr algn="ctr"/>
                      <a:r>
                        <a:rPr sz="1500" b="0">
                          <a:solidFill>
                            <a:srgbClr val="1F2937"/>
                          </a:solidFill>
                          <a:latin typeface="Calibri"/>
                        </a:rPr>
                        <a:t>0.062</a:t>
                      </a:r>
                    </a:p>
                  </a:txBody>
                  <a:tcPr marL="64008" marR="64008" marT="27432" marB="27432" anchor="ctr">
                    <a:solidFill>
                      <a:srgbClr val="FFFFFF"/>
                    </a:solidFill>
                  </a:tcPr>
                </a:tc>
                <a:tc>
                  <a:txBody>
                    <a:bodyPr/>
                    <a:lstStyle/>
                    <a:p>
                      <a:pPr algn="ctr"/>
                      <a:r>
                        <a:rPr sz="1500" b="0">
                          <a:solidFill>
                            <a:srgbClr val="1F2937"/>
                          </a:solidFill>
                          <a:latin typeface="Calibri"/>
                        </a:rPr>
                        <a:t>0.051</a:t>
                      </a:r>
                    </a:p>
                  </a:txBody>
                  <a:tcPr marL="64008" marR="64008" marT="27432" marB="27432" anchor="ctr">
                    <a:solidFill>
                      <a:srgbClr val="FFFFFF"/>
                    </a:solidFill>
                  </a:tcPr>
                </a:tc>
              </a:tr>
              <a:tr h="420624">
                <a:tc>
                  <a:txBody>
                    <a:bodyPr/>
                    <a:lstStyle/>
                    <a:p>
                      <a:pPr algn="l"/>
                      <a:r>
                        <a:rPr sz="1500" b="0">
                          <a:solidFill>
                            <a:srgbClr val="1F2937"/>
                          </a:solidFill>
                          <a:latin typeface="Calibri"/>
                        </a:rPr>
                        <a:t>ROC-AUC</a:t>
                      </a:r>
                    </a:p>
                  </a:txBody>
                  <a:tcPr marL="64008" marR="64008" marT="27432" marB="27432" anchor="ctr">
                    <a:solidFill>
                      <a:srgbClr val="EEF3F9"/>
                    </a:solidFill>
                  </a:tcPr>
                </a:tc>
                <a:tc>
                  <a:txBody>
                    <a:bodyPr/>
                    <a:lstStyle/>
                    <a:p>
                      <a:pPr algn="ctr"/>
                      <a:r>
                        <a:rPr sz="1500" b="0">
                          <a:solidFill>
                            <a:srgbClr val="1F2937"/>
                          </a:solidFill>
                          <a:latin typeface="Calibri"/>
                        </a:rPr>
                        <a:t>0.706</a:t>
                      </a:r>
                    </a:p>
                  </a:txBody>
                  <a:tcPr marL="64008" marR="64008" marT="27432" marB="27432" anchor="ctr">
                    <a:solidFill>
                      <a:srgbClr val="EEF3F9"/>
                    </a:solidFill>
                  </a:tcPr>
                </a:tc>
                <a:tc>
                  <a:txBody>
                    <a:bodyPr/>
                    <a:lstStyle/>
                    <a:p>
                      <a:pPr algn="ctr"/>
                      <a:r>
                        <a:rPr sz="1500" b="0">
                          <a:solidFill>
                            <a:srgbClr val="1F2937"/>
                          </a:solidFill>
                          <a:latin typeface="Calibri"/>
                        </a:rPr>
                        <a:t>0.702</a:t>
                      </a:r>
                    </a:p>
                  </a:txBody>
                  <a:tcPr marL="64008" marR="64008" marT="27432" marB="27432" anchor="ctr">
                    <a:solidFill>
                      <a:srgbClr val="EEF3F9"/>
                    </a:solidFill>
                  </a:tcPr>
                </a:tc>
              </a:tr>
              <a:tr h="420624">
                <a:tc>
                  <a:txBody>
                    <a:bodyPr/>
                    <a:lstStyle/>
                    <a:p>
                      <a:pPr algn="l"/>
                      <a:r>
                        <a:rPr sz="1500" b="0">
                          <a:solidFill>
                            <a:srgbClr val="1F2937"/>
                          </a:solidFill>
                          <a:latin typeface="Calibri"/>
                        </a:rPr>
                        <a:t>Precision</a:t>
                      </a:r>
                    </a:p>
                  </a:txBody>
                  <a:tcPr marL="64008" marR="64008" marT="27432" marB="27432" anchor="ctr">
                    <a:solidFill>
                      <a:srgbClr val="FFFFFF"/>
                    </a:solidFill>
                  </a:tcPr>
                </a:tc>
                <a:tc>
                  <a:txBody>
                    <a:bodyPr/>
                    <a:lstStyle/>
                    <a:p>
                      <a:pPr algn="ctr"/>
                      <a:r>
                        <a:rPr sz="1500" b="0">
                          <a:solidFill>
                            <a:srgbClr val="1F2937"/>
                          </a:solidFill>
                          <a:latin typeface="Calibri"/>
                        </a:rPr>
                        <a:t>0.084</a:t>
                      </a:r>
                    </a:p>
                  </a:txBody>
                  <a:tcPr marL="64008" marR="64008" marT="27432" marB="27432" anchor="ctr">
                    <a:solidFill>
                      <a:srgbClr val="FFFFFF"/>
                    </a:solidFill>
                  </a:tcPr>
                </a:tc>
                <a:tc>
                  <a:txBody>
                    <a:bodyPr/>
                    <a:lstStyle/>
                    <a:p>
                      <a:pPr algn="ctr"/>
                      <a:r>
                        <a:rPr sz="1500" b="0">
                          <a:solidFill>
                            <a:srgbClr val="1F2937"/>
                          </a:solidFill>
                          <a:latin typeface="Calibri"/>
                        </a:rPr>
                        <a:t>0.075</a:t>
                      </a:r>
                    </a:p>
                  </a:txBody>
                  <a:tcPr marL="64008" marR="64008" marT="27432" marB="27432" anchor="ctr">
                    <a:solidFill>
                      <a:srgbClr val="FFFFFF"/>
                    </a:solidFill>
                  </a:tcPr>
                </a:tc>
              </a:tr>
              <a:tr h="420624">
                <a:tc>
                  <a:txBody>
                    <a:bodyPr/>
                    <a:lstStyle/>
                    <a:p>
                      <a:pPr algn="l"/>
                      <a:r>
                        <a:rPr sz="1500" b="0">
                          <a:solidFill>
                            <a:srgbClr val="1F2937"/>
                          </a:solidFill>
                          <a:latin typeface="Calibri"/>
                        </a:rPr>
                        <a:t>Recall</a:t>
                      </a:r>
                    </a:p>
                  </a:txBody>
                  <a:tcPr marL="64008" marR="64008" marT="27432" marB="27432" anchor="ctr">
                    <a:solidFill>
                      <a:srgbClr val="EEF3F9"/>
                    </a:solidFill>
                  </a:tcPr>
                </a:tc>
                <a:tc>
                  <a:txBody>
                    <a:bodyPr/>
                    <a:lstStyle/>
                    <a:p>
                      <a:pPr algn="ctr"/>
                      <a:r>
                        <a:rPr sz="1500" b="0">
                          <a:solidFill>
                            <a:srgbClr val="1F2937"/>
                          </a:solidFill>
                          <a:latin typeface="Calibri"/>
                        </a:rPr>
                        <a:t>0.147</a:t>
                      </a:r>
                    </a:p>
                  </a:txBody>
                  <a:tcPr marL="64008" marR="64008" marT="27432" marB="27432" anchor="ctr">
                    <a:solidFill>
                      <a:srgbClr val="EEF3F9"/>
                    </a:solidFill>
                  </a:tcPr>
                </a:tc>
                <a:tc>
                  <a:txBody>
                    <a:bodyPr/>
                    <a:lstStyle/>
                    <a:p>
                      <a:pPr algn="ctr"/>
                      <a:r>
                        <a:rPr sz="1500" b="0">
                          <a:solidFill>
                            <a:srgbClr val="1F2937"/>
                          </a:solidFill>
                          <a:latin typeface="Calibri"/>
                        </a:rPr>
                        <a:t>0.143</a:t>
                      </a:r>
                    </a:p>
                  </a:txBody>
                  <a:tcPr marL="64008" marR="64008" marT="27432" marB="27432" anchor="ctr">
                    <a:solidFill>
                      <a:srgbClr val="EEF3F9"/>
                    </a:solidFill>
                  </a:tcPr>
                </a:tc>
              </a:tr>
              <a:tr h="420624">
                <a:tc>
                  <a:txBody>
                    <a:bodyPr/>
                    <a:lstStyle/>
                    <a:p>
                      <a:pPr algn="l"/>
                      <a:r>
                        <a:rPr sz="1500" b="0">
                          <a:solidFill>
                            <a:srgbClr val="1F2937"/>
                          </a:solidFill>
                          <a:latin typeface="Calibri"/>
                        </a:rPr>
                        <a:t>F1</a:t>
                      </a:r>
                    </a:p>
                  </a:txBody>
                  <a:tcPr marL="64008" marR="64008" marT="27432" marB="27432" anchor="ctr">
                    <a:solidFill>
                      <a:srgbClr val="FFFFFF"/>
                    </a:solidFill>
                  </a:tcPr>
                </a:tc>
                <a:tc>
                  <a:txBody>
                    <a:bodyPr/>
                    <a:lstStyle/>
                    <a:p>
                      <a:pPr algn="ctr"/>
                      <a:r>
                        <a:rPr sz="1500" b="0">
                          <a:solidFill>
                            <a:srgbClr val="1F2937"/>
                          </a:solidFill>
                          <a:latin typeface="Calibri"/>
                        </a:rPr>
                        <a:t>0.107</a:t>
                      </a:r>
                    </a:p>
                  </a:txBody>
                  <a:tcPr marL="64008" marR="64008" marT="27432" marB="27432" anchor="ctr">
                    <a:solidFill>
                      <a:srgbClr val="FFFFFF"/>
                    </a:solidFill>
                  </a:tcPr>
                </a:tc>
                <a:tc>
                  <a:txBody>
                    <a:bodyPr/>
                    <a:lstStyle/>
                    <a:p>
                      <a:pPr algn="ctr"/>
                      <a:r>
                        <a:rPr sz="1500" b="0">
                          <a:solidFill>
                            <a:srgbClr val="1F2937"/>
                          </a:solidFill>
                          <a:latin typeface="Calibri"/>
                        </a:rPr>
                        <a:t>0.099</a:t>
                      </a:r>
                    </a:p>
                  </a:txBody>
                  <a:tcPr marL="64008" marR="64008" marT="27432" marB="27432" anchor="ctr">
                    <a:solidFill>
                      <a:srgbClr val="FFFFFF"/>
                    </a:solidFill>
                  </a:tcPr>
                </a:tc>
              </a:tr>
              <a:tr h="420624">
                <a:tc>
                  <a:txBody>
                    <a:bodyPr/>
                    <a:lstStyle/>
                    <a:p>
                      <a:pPr algn="l"/>
                      <a:r>
                        <a:rPr sz="1500" b="0">
                          <a:solidFill>
                            <a:srgbClr val="1F2937"/>
                          </a:solidFill>
                          <a:latin typeface="Calibri"/>
                        </a:rPr>
                        <a:t>Fraudes en el top 10%</a:t>
                      </a:r>
                    </a:p>
                  </a:txBody>
                  <a:tcPr marL="64008" marR="64008" marT="27432" marB="27432" anchor="ctr">
                    <a:solidFill>
                      <a:srgbClr val="EEF3F9"/>
                    </a:solidFill>
                  </a:tcPr>
                </a:tc>
                <a:tc>
                  <a:txBody>
                    <a:bodyPr/>
                    <a:lstStyle/>
                    <a:p>
                      <a:pPr algn="ctr"/>
                      <a:r>
                        <a:rPr sz="1500" b="0">
                          <a:solidFill>
                            <a:srgbClr val="1F2937"/>
                          </a:solidFill>
                          <a:latin typeface="Calibri"/>
                        </a:rPr>
                        <a:t>31.8%</a:t>
                      </a:r>
                    </a:p>
                  </a:txBody>
                  <a:tcPr marL="64008" marR="64008" marT="27432" marB="27432" anchor="ctr">
                    <a:solidFill>
                      <a:srgbClr val="EEF3F9"/>
                    </a:solidFill>
                  </a:tcPr>
                </a:tc>
                <a:tc>
                  <a:txBody>
                    <a:bodyPr/>
                    <a:lstStyle/>
                    <a:p>
                      <a:pPr algn="ctr"/>
                      <a:r>
                        <a:rPr sz="1500" b="0">
                          <a:solidFill>
                            <a:srgbClr val="1F2937"/>
                          </a:solidFill>
                          <a:latin typeface="Calibri"/>
                        </a:rPr>
                        <a:t>31.9%</a:t>
                      </a:r>
                    </a:p>
                  </a:txBody>
                  <a:tcPr marL="64008" marR="64008" marT="27432" marB="27432" anchor="ctr">
                    <a:solidFill>
                      <a:srgbClr val="EEF3F9"/>
                    </a:solidFill>
                  </a:tcPr>
                </a:tc>
              </a:tr>
            </a:tbl>
          </a:graphicData>
        </a:graphic>
      </p:graphicFrame>
      <p:sp>
        <p:nvSpPr>
          <p:cNvPr id="6" name="TextBox 5"/>
          <p:cNvSpPr txBox="1"/>
          <p:nvPr/>
        </p:nvSpPr>
        <p:spPr>
          <a:xfrm>
            <a:off x="548640" y="4937760"/>
            <a:ext cx="5852160" cy="914400"/>
          </a:xfrm>
          <a:prstGeom prst="rect">
            <a:avLst/>
          </a:prstGeom>
          <a:noFill/>
        </p:spPr>
        <p:txBody>
          <a:bodyPr wrap="square" anchor="t" lIns="73152" rIns="73152" tIns="73152" bIns="73152">
            <a:spAutoFit/>
          </a:bodyPr>
          <a:lstStyle/>
          <a:p>
            <a:pPr algn="l">
              <a:spcAft>
                <a:spcPts val="400"/>
              </a:spcAft>
            </a:pPr>
            <a:r>
              <a:rPr sz="1400" b="1" i="0">
                <a:solidFill>
                  <a:srgbClr val="1F2937"/>
                </a:solidFill>
                <a:latin typeface="Calibri"/>
              </a:rPr>
              <a:t>Sin sobreajuste: </a:t>
            </a:r>
            <a:r>
              <a:rPr sz="1400" b="0" i="0">
                <a:solidFill>
                  <a:srgbClr val="1F2937"/>
                </a:solidFill>
                <a:latin typeface="Calibri"/>
              </a:rPr>
              <a:t>validación y prueba casi iguales. El test se usó una sola vez, con el umbral 0.33 fijado antes.</a:t>
            </a:r>
          </a:p>
        </p:txBody>
      </p:sp>
      <p:sp>
        <p:nvSpPr>
          <p:cNvPr id="7" name="Rounded Rectangle 6"/>
          <p:cNvSpPr/>
          <p:nvPr/>
        </p:nvSpPr>
        <p:spPr>
          <a:xfrm>
            <a:off x="6675120" y="1920240"/>
            <a:ext cx="4983480" cy="237744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val_matriz_confusion_test.png"/>
          <p:cNvPicPr>
            <a:picLocks noChangeAspect="1"/>
          </p:cNvPicPr>
          <p:nvPr/>
        </p:nvPicPr>
        <p:blipFill>
          <a:blip r:embed="rId2"/>
          <a:stretch>
            <a:fillRect/>
          </a:stretch>
        </p:blipFill>
        <p:spPr>
          <a:xfrm>
            <a:off x="7730997" y="2011680"/>
            <a:ext cx="2871725" cy="2194560"/>
          </a:xfrm>
          <a:prstGeom prst="rect">
            <a:avLst/>
          </a:prstGeom>
        </p:spPr>
      </p:pic>
      <p:sp>
        <p:nvSpPr>
          <p:cNvPr id="9" name="Rounded Rectangle 8"/>
          <p:cNvSpPr/>
          <p:nvPr/>
        </p:nvSpPr>
        <p:spPr>
          <a:xfrm>
            <a:off x="6675120" y="4480560"/>
            <a:ext cx="2423160" cy="137160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84848" y="4553712"/>
            <a:ext cx="2203704" cy="1225296"/>
          </a:xfrm>
          <a:prstGeom prst="rect">
            <a:avLst/>
          </a:prstGeom>
          <a:noFill/>
        </p:spPr>
        <p:txBody>
          <a:bodyPr wrap="square" anchor="t" lIns="36576" rIns="36576" tIns="36576" bIns="36576">
            <a:spAutoFit/>
          </a:bodyPr>
          <a:lstStyle/>
          <a:p>
            <a:pPr algn="l">
              <a:spcAft>
                <a:spcPts val="200"/>
              </a:spcAft>
            </a:pPr>
            <a:r>
              <a:rPr sz="2800" b="1" i="0">
                <a:solidFill>
                  <a:srgbClr val="A71C21"/>
                </a:solidFill>
                <a:latin typeface="Calibri"/>
              </a:rPr>
              <a:t>≈ 12 : 1</a:t>
            </a:r>
          </a:p>
          <a:p>
            <a:pPr algn="l">
              <a:spcAft>
                <a:spcPts val="400"/>
              </a:spcAft>
            </a:pPr>
            <a:r>
              <a:rPr sz="1300" b="0" i="0">
                <a:solidFill>
                  <a:srgbClr val="4B5563"/>
                </a:solidFill>
                <a:latin typeface="Calibri"/>
              </a:rPr>
              <a:t>falsas alarmas por fraude detectado</a:t>
            </a:r>
          </a:p>
        </p:txBody>
      </p:sp>
      <p:sp>
        <p:nvSpPr>
          <p:cNvPr id="11" name="Rounded Rectangle 10"/>
          <p:cNvSpPr/>
          <p:nvPr/>
        </p:nvSpPr>
        <p:spPr>
          <a:xfrm>
            <a:off x="9235440" y="4480560"/>
            <a:ext cx="2423160" cy="137160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45167" y="4553712"/>
            <a:ext cx="2203704" cy="1225296"/>
          </a:xfrm>
          <a:prstGeom prst="rect">
            <a:avLst/>
          </a:prstGeom>
          <a:noFill/>
        </p:spPr>
        <p:txBody>
          <a:bodyPr wrap="square" anchor="t" lIns="36576" rIns="36576" tIns="36576" bIns="36576">
            <a:spAutoFit/>
          </a:bodyPr>
          <a:lstStyle/>
          <a:p>
            <a:pPr algn="l">
              <a:spcAft>
                <a:spcPts val="200"/>
              </a:spcAft>
            </a:pPr>
            <a:r>
              <a:rPr sz="2800" b="1" i="0">
                <a:solidFill>
                  <a:srgbClr val="008A66"/>
                </a:solidFill>
                <a:latin typeface="Calibri"/>
              </a:rPr>
              <a:t>39%</a:t>
            </a:r>
          </a:p>
          <a:p>
            <a:pPr algn="l">
              <a:spcAft>
                <a:spcPts val="400"/>
              </a:spcAft>
            </a:pPr>
            <a:r>
              <a:rPr sz="1300" b="0" i="0">
                <a:solidFill>
                  <a:srgbClr val="4B5563"/>
                </a:solidFill>
                <a:latin typeface="Calibri"/>
              </a:rPr>
              <a:t>del dinero defraudado detectado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REFLEXIÓN</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¿Por qué ningún modelo sirve para producción?</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18</a:t>
            </a:r>
          </a:p>
        </p:txBody>
      </p:sp>
      <p:sp>
        <p:nvSpPr>
          <p:cNvPr id="5" name="Rounded Rectangle 4"/>
          <p:cNvSpPr/>
          <p:nvPr/>
        </p:nvSpPr>
        <p:spPr>
          <a:xfrm>
            <a:off x="548640" y="1874519"/>
            <a:ext cx="11109960" cy="1051560"/>
          </a:xfrm>
          <a:prstGeom prst="roundRect">
            <a:avLst>
              <a:gd name="adj" fmla="val 6000"/>
            </a:avLst>
          </a:prstGeom>
          <a:solidFill>
            <a:srgbClr val="103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10698480" cy="960120"/>
          </a:xfrm>
          <a:prstGeom prst="rect">
            <a:avLst/>
          </a:prstGeom>
          <a:noFill/>
        </p:spPr>
        <p:txBody>
          <a:bodyPr wrap="square" anchor="ctr" lIns="73152" rIns="73152" tIns="73152" bIns="73152">
            <a:spAutoFit/>
          </a:bodyPr>
          <a:lstStyle/>
          <a:p>
            <a:pPr algn="l">
              <a:spcAft>
                <a:spcPts val="400"/>
              </a:spcAft>
            </a:pPr>
            <a:r>
              <a:rPr sz="1600" b="0" i="0">
                <a:solidFill>
                  <a:srgbClr val="FFFFFF"/>
                </a:solidFill>
                <a:latin typeface="Calibri"/>
              </a:rPr>
              <a:t>Cuatro algoritmos y más de 500 variantes chocan con el </a:t>
            </a:r>
            <a:r>
              <a:rPr sz="1600" b="1" i="0">
                <a:solidFill>
                  <a:srgbClr val="FFFFFF"/>
                </a:solidFill>
                <a:latin typeface="Calibri"/>
              </a:rPr>
              <a:t>mismo techo</a:t>
            </a:r>
            <a:r>
              <a:rPr sz="1600" b="0" i="0">
                <a:solidFill>
                  <a:srgbClr val="FFFFFF"/>
                </a:solidFill>
                <a:latin typeface="Calibri"/>
              </a:rPr>
              <a:t> (PR-AUC ≈ 0.05–0.06). No es ruido puro: con etiquetas al azar se obtiene 0.019; con las reales, 0.050. </a:t>
            </a:r>
            <a:r>
              <a:rPr sz="1600" b="1" i="0">
                <a:solidFill>
                  <a:srgbClr val="FFFFFF"/>
                </a:solidFill>
                <a:latin typeface="Calibri"/>
              </a:rPr>
              <a:t>El límite está en los datos.</a:t>
            </a:r>
          </a:p>
        </p:txBody>
      </p:sp>
      <p:sp>
        <p:nvSpPr>
          <p:cNvPr id="7" name="Rounded Rectangle 6"/>
          <p:cNvSpPr/>
          <p:nvPr/>
        </p:nvSpPr>
        <p:spPr>
          <a:xfrm>
            <a:off x="548640" y="3108960"/>
            <a:ext cx="5440680" cy="128016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00400"/>
            <a:ext cx="5074920" cy="1143000"/>
          </a:xfrm>
          <a:prstGeom prst="rect">
            <a:avLst/>
          </a:prstGeom>
          <a:noFill/>
        </p:spPr>
        <p:txBody>
          <a:bodyPr wrap="square" anchor="t" lIns="73152" rIns="73152" tIns="73152" bIns="73152">
            <a:spAutoFit/>
          </a:bodyPr>
          <a:lstStyle/>
          <a:p>
            <a:pPr algn="l">
              <a:spcAft>
                <a:spcPts val="400"/>
              </a:spcAft>
            </a:pPr>
            <a:r>
              <a:rPr sz="1700" b="1" i="0">
                <a:solidFill>
                  <a:srgbClr val="A71C21"/>
                </a:solidFill>
                <a:latin typeface="Calibri"/>
              </a:rPr>
              <a:t>1. Clases solapadas</a:t>
            </a:r>
          </a:p>
          <a:p>
            <a:pPr algn="l">
              <a:spcAft>
                <a:spcPts val="400"/>
              </a:spcAft>
            </a:pPr>
            <a:r>
              <a:rPr sz="1500" b="0" i="0">
                <a:solidFill>
                  <a:srgbClr val="1F2937"/>
                </a:solidFill>
                <a:latin typeface="Calibri"/>
              </a:rPr>
              <a:t>Hay fraudes idénticos a compras normales: ningún modelo los puede separar.</a:t>
            </a:r>
          </a:p>
        </p:txBody>
      </p:sp>
      <p:sp>
        <p:nvSpPr>
          <p:cNvPr id="9" name="Rounded Rectangle 8"/>
          <p:cNvSpPr/>
          <p:nvPr/>
        </p:nvSpPr>
        <p:spPr>
          <a:xfrm>
            <a:off x="6217920" y="3108960"/>
            <a:ext cx="5440680" cy="128016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3200400"/>
            <a:ext cx="5074920" cy="1143000"/>
          </a:xfrm>
          <a:prstGeom prst="rect">
            <a:avLst/>
          </a:prstGeom>
          <a:noFill/>
        </p:spPr>
        <p:txBody>
          <a:bodyPr wrap="square" anchor="t" lIns="73152" rIns="73152" tIns="73152" bIns="73152">
            <a:spAutoFit/>
          </a:bodyPr>
          <a:lstStyle/>
          <a:p>
            <a:pPr algn="l">
              <a:spcAft>
                <a:spcPts val="400"/>
              </a:spcAft>
            </a:pPr>
            <a:r>
              <a:rPr sz="1700" b="1" i="0">
                <a:solidFill>
                  <a:srgbClr val="A71C21"/>
                </a:solidFill>
                <a:latin typeface="Calibri"/>
              </a:rPr>
              <a:t>2. Datos sintéticos, señal débil</a:t>
            </a:r>
          </a:p>
          <a:p>
            <a:pPr algn="l">
              <a:spcAft>
                <a:spcPts val="400"/>
              </a:spcAft>
            </a:pPr>
            <a:r>
              <a:rPr sz="1500" b="0" i="0">
                <a:solidFill>
                  <a:srgbClr val="1F2937"/>
                </a:solidFill>
                <a:latin typeface="Calibri"/>
              </a:rPr>
              <a:t>Correlación máxima 0.055; variables casi independientes; hora y día uniformes.</a:t>
            </a:r>
          </a:p>
        </p:txBody>
      </p:sp>
      <p:sp>
        <p:nvSpPr>
          <p:cNvPr id="11" name="Rounded Rectangle 10"/>
          <p:cNvSpPr/>
          <p:nvPr/>
        </p:nvSpPr>
        <p:spPr>
          <a:xfrm>
            <a:off x="548640" y="4526280"/>
            <a:ext cx="5440680" cy="128016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617720"/>
            <a:ext cx="5074920" cy="1143000"/>
          </a:xfrm>
          <a:prstGeom prst="rect">
            <a:avLst/>
          </a:prstGeom>
          <a:noFill/>
        </p:spPr>
        <p:txBody>
          <a:bodyPr wrap="square" anchor="t" lIns="73152" rIns="73152" tIns="73152" bIns="73152">
            <a:spAutoFit/>
          </a:bodyPr>
          <a:lstStyle/>
          <a:p>
            <a:pPr algn="l">
              <a:spcAft>
                <a:spcPts val="400"/>
              </a:spcAft>
            </a:pPr>
            <a:r>
              <a:rPr sz="1700" b="1" i="0">
                <a:solidFill>
                  <a:srgbClr val="A71C21"/>
                </a:solidFill>
                <a:latin typeface="Calibri"/>
              </a:rPr>
              <a:t>3. Faltan variables clave</a:t>
            </a:r>
          </a:p>
          <a:p>
            <a:pPr algn="l">
              <a:spcAft>
                <a:spcPts val="400"/>
              </a:spcAft>
            </a:pPr>
            <a:r>
              <a:rPr sz="1500" b="0" i="0">
                <a:solidFill>
                  <a:srgbClr val="1F2937"/>
                </a:solidFill>
                <a:latin typeface="Calibri"/>
              </a:rPr>
              <a:t>Sin historial del cliente, del comercio ni huella del dispositivo.</a:t>
            </a:r>
          </a:p>
        </p:txBody>
      </p:sp>
      <p:sp>
        <p:nvSpPr>
          <p:cNvPr id="13" name="Rounded Rectangle 12"/>
          <p:cNvSpPr/>
          <p:nvPr/>
        </p:nvSpPr>
        <p:spPr>
          <a:xfrm>
            <a:off x="6217920" y="4526280"/>
            <a:ext cx="5440680" cy="1280160"/>
          </a:xfrm>
          <a:prstGeom prst="roundRect">
            <a:avLst>
              <a:gd name="adj" fmla="val 6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617720"/>
            <a:ext cx="5074920" cy="1143000"/>
          </a:xfrm>
          <a:prstGeom prst="rect">
            <a:avLst/>
          </a:prstGeom>
          <a:noFill/>
        </p:spPr>
        <p:txBody>
          <a:bodyPr wrap="square" anchor="t" lIns="73152" rIns="73152" tIns="73152" bIns="73152">
            <a:spAutoFit/>
          </a:bodyPr>
          <a:lstStyle/>
          <a:p>
            <a:pPr algn="l">
              <a:spcAft>
                <a:spcPts val="400"/>
              </a:spcAft>
            </a:pPr>
            <a:r>
              <a:rPr sz="1700" b="1" i="0">
                <a:solidFill>
                  <a:srgbClr val="A71C21"/>
                </a:solidFill>
                <a:latin typeface="Calibri"/>
              </a:rPr>
              <a:t>4. Desbalance</a:t>
            </a:r>
          </a:p>
          <a:p>
            <a:pPr algn="l">
              <a:spcAft>
                <a:spcPts val="400"/>
              </a:spcAft>
            </a:pPr>
            <a:r>
              <a:rPr sz="1500" b="0" i="0">
                <a:solidFill>
                  <a:srgbClr val="1F2937"/>
                </a:solidFill>
                <a:latin typeface="Calibri"/>
              </a:rPr>
              <a:t>Para una precisión del 20% habría que concentrar 11 veces el fraude; se logra ≈ 5 veces.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14400"/>
            <a:ext cx="11155680" cy="320040"/>
          </a:xfrm>
          <a:prstGeom prst="rect">
            <a:avLst/>
          </a:prstGeom>
          <a:noFill/>
        </p:spPr>
        <p:txBody>
          <a:bodyPr wrap="square" anchor="t" lIns="18288" rIns="18288" tIns="18288" bIns="18288">
            <a:spAutoFit/>
          </a:bodyPr>
          <a:lstStyle/>
          <a:p>
            <a:pPr algn="l">
              <a:spcAft>
                <a:spcPts val="400"/>
              </a:spcAft>
            </a:pPr>
            <a:r>
              <a:rPr sz="1200" b="1" i="0">
                <a:solidFill>
                  <a:srgbClr val="A71C21"/>
                </a:solidFill>
                <a:latin typeface="Calibri"/>
              </a:rPr>
              <a:t>RECOMENDACIONES</a:t>
            </a:r>
          </a:p>
        </p:txBody>
      </p:sp>
      <p:sp>
        <p:nvSpPr>
          <p:cNvPr id="3" name="TextBox 2"/>
          <p:cNvSpPr txBox="1"/>
          <p:nvPr/>
        </p:nvSpPr>
        <p:spPr>
          <a:xfrm>
            <a:off x="502920" y="1188720"/>
            <a:ext cx="11155680" cy="640080"/>
          </a:xfrm>
          <a:prstGeom prst="rect">
            <a:avLst/>
          </a:prstGeom>
          <a:noFill/>
        </p:spPr>
        <p:txBody>
          <a:bodyPr wrap="square" anchor="t" lIns="18288" rIns="18288" tIns="18288" bIns="18288">
            <a:spAutoFit/>
          </a:bodyPr>
          <a:lstStyle/>
          <a:p>
            <a:pPr algn="l">
              <a:spcAft>
                <a:spcPts val="400"/>
              </a:spcAft>
            </a:pPr>
            <a:r>
              <a:rPr sz="2800" b="1" i="0">
                <a:solidFill>
                  <a:srgbClr val="103F77"/>
                </a:solidFill>
                <a:latin typeface="Calibri"/>
              </a:rPr>
              <a:t>Qué haría antes de un despliegue real</a:t>
            </a:r>
          </a:p>
        </p:txBody>
      </p:sp>
      <p:sp>
        <p:nvSpPr>
          <p:cNvPr id="4" name="TextBox 3"/>
          <p:cNvSpPr txBox="1"/>
          <p:nvPr/>
        </p:nvSpPr>
        <p:spPr>
          <a:xfrm>
            <a:off x="10607040" y="6144768"/>
            <a:ext cx="1097280" cy="274320"/>
          </a:xfrm>
          <a:prstGeom prst="rect">
            <a:avLst/>
          </a:prstGeom>
          <a:noFill/>
        </p:spPr>
        <p:txBody>
          <a:bodyPr wrap="square" anchor="t" lIns="18288" rIns="18288" tIns="18288" bIns="18288">
            <a:spAutoFit/>
          </a:bodyPr>
          <a:lstStyle/>
          <a:p>
            <a:pPr algn="r">
              <a:spcAft>
                <a:spcPts val="400"/>
              </a:spcAft>
            </a:pPr>
            <a:r>
              <a:rPr sz="1200" b="0" i="0">
                <a:solidFill>
                  <a:srgbClr val="4B5563"/>
                </a:solidFill>
                <a:latin typeface="Calibri"/>
              </a:rPr>
              <a:t>19</a:t>
            </a:r>
          </a:p>
        </p:txBody>
      </p:sp>
      <p:sp>
        <p:nvSpPr>
          <p:cNvPr id="5" name="Rounded Rectangle 4"/>
          <p:cNvSpPr/>
          <p:nvPr/>
        </p:nvSpPr>
        <p:spPr>
          <a:xfrm>
            <a:off x="548640" y="1920240"/>
            <a:ext cx="3566160" cy="182880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2029968"/>
            <a:ext cx="3246120" cy="1645920"/>
          </a:xfrm>
          <a:prstGeom prst="rect">
            <a:avLst/>
          </a:prstGeom>
          <a:noFill/>
        </p:spPr>
        <p:txBody>
          <a:bodyPr wrap="square" anchor="t" lIns="73152" rIns="73152" tIns="73152" bIns="73152">
            <a:spAutoFit/>
          </a:bodyPr>
          <a:lstStyle/>
          <a:p>
            <a:pPr algn="l">
              <a:spcAft>
                <a:spcPts val="500"/>
              </a:spcAft>
            </a:pPr>
            <a:r>
              <a:rPr sz="1700" b="1" i="0">
                <a:solidFill>
                  <a:srgbClr val="103F77"/>
                </a:solidFill>
                <a:latin typeface="Calibri"/>
              </a:rPr>
              <a:t>1. No bloquear automáticamente</a:t>
            </a:r>
          </a:p>
          <a:p>
            <a:pPr algn="l">
              <a:spcAft>
                <a:spcPts val="400"/>
              </a:spcAft>
            </a:pPr>
            <a:r>
              <a:rPr sz="1400" b="0" i="0">
                <a:solidFill>
                  <a:srgbClr val="1F2937"/>
                </a:solidFill>
                <a:latin typeface="Calibri"/>
              </a:rPr>
              <a:t>Con ≈ 8% de precisión bloquearía muchas más compras legítimas que fraudes.</a:t>
            </a:r>
          </a:p>
        </p:txBody>
      </p:sp>
      <p:sp>
        <p:nvSpPr>
          <p:cNvPr id="7" name="Rounded Rectangle 6"/>
          <p:cNvSpPr/>
          <p:nvPr/>
        </p:nvSpPr>
        <p:spPr>
          <a:xfrm>
            <a:off x="4297679" y="1920240"/>
            <a:ext cx="3566160" cy="182880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62271" y="2029968"/>
            <a:ext cx="3246120" cy="1645920"/>
          </a:xfrm>
          <a:prstGeom prst="rect">
            <a:avLst/>
          </a:prstGeom>
          <a:noFill/>
        </p:spPr>
        <p:txBody>
          <a:bodyPr wrap="square" anchor="t" lIns="73152" rIns="73152" tIns="73152" bIns="73152">
            <a:spAutoFit/>
          </a:bodyPr>
          <a:lstStyle/>
          <a:p>
            <a:pPr algn="l">
              <a:spcAft>
                <a:spcPts val="500"/>
              </a:spcAft>
            </a:pPr>
            <a:r>
              <a:rPr sz="1700" b="1" i="0">
                <a:solidFill>
                  <a:srgbClr val="103F77"/>
                </a:solidFill>
                <a:latin typeface="Calibri"/>
              </a:rPr>
              <a:t>2. Usarlo solo para priorizar</a:t>
            </a:r>
          </a:p>
          <a:p>
            <a:pPr algn="l">
              <a:spcAft>
                <a:spcPts val="400"/>
              </a:spcAft>
            </a:pPr>
            <a:r>
              <a:rPr sz="1400" b="0" i="0">
                <a:solidFill>
                  <a:srgbClr val="1F2937"/>
                </a:solidFill>
                <a:latin typeface="Calibri"/>
              </a:rPr>
              <a:t>Revisar primero el 1% más riesgoso concentra ≈ 5 veces más fraude que al azar.</a:t>
            </a:r>
          </a:p>
        </p:txBody>
      </p:sp>
      <p:sp>
        <p:nvSpPr>
          <p:cNvPr id="9" name="Rounded Rectangle 8"/>
          <p:cNvSpPr/>
          <p:nvPr/>
        </p:nvSpPr>
        <p:spPr>
          <a:xfrm>
            <a:off x="8046719" y="1920240"/>
            <a:ext cx="3566160" cy="182880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1" y="2029968"/>
            <a:ext cx="3246120" cy="1645920"/>
          </a:xfrm>
          <a:prstGeom prst="rect">
            <a:avLst/>
          </a:prstGeom>
          <a:noFill/>
        </p:spPr>
        <p:txBody>
          <a:bodyPr wrap="square" anchor="t" lIns="73152" rIns="73152" tIns="73152" bIns="73152">
            <a:spAutoFit/>
          </a:bodyPr>
          <a:lstStyle/>
          <a:p>
            <a:pPr algn="l">
              <a:spcAft>
                <a:spcPts val="500"/>
              </a:spcAft>
            </a:pPr>
            <a:r>
              <a:rPr sz="1700" b="1" i="0">
                <a:solidFill>
                  <a:srgbClr val="103F77"/>
                </a:solidFill>
                <a:latin typeface="Calibri"/>
              </a:rPr>
              <a:t>3. Conseguir datos reales</a:t>
            </a:r>
          </a:p>
          <a:p>
            <a:pPr algn="l">
              <a:spcAft>
                <a:spcPts val="400"/>
              </a:spcAft>
            </a:pPr>
            <a:r>
              <a:rPr sz="1400" b="0" i="0">
                <a:solidFill>
                  <a:srgbClr val="1F2937"/>
                </a:solidFill>
                <a:latin typeface="Calibri"/>
              </a:rPr>
              <a:t>Historial y velocidad del cliente, datos del comercio, huella del dispositivo y fraudes confirmados.</a:t>
            </a:r>
          </a:p>
        </p:txBody>
      </p:sp>
      <p:sp>
        <p:nvSpPr>
          <p:cNvPr id="11" name="Rounded Rectangle 10"/>
          <p:cNvSpPr/>
          <p:nvPr/>
        </p:nvSpPr>
        <p:spPr>
          <a:xfrm>
            <a:off x="548640" y="3931920"/>
            <a:ext cx="3566160" cy="182880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4041648"/>
            <a:ext cx="3246120" cy="1645920"/>
          </a:xfrm>
          <a:prstGeom prst="rect">
            <a:avLst/>
          </a:prstGeom>
          <a:noFill/>
        </p:spPr>
        <p:txBody>
          <a:bodyPr wrap="square" anchor="t" lIns="73152" rIns="73152" tIns="73152" bIns="73152">
            <a:spAutoFit/>
          </a:bodyPr>
          <a:lstStyle/>
          <a:p>
            <a:pPr algn="l">
              <a:spcAft>
                <a:spcPts val="500"/>
              </a:spcAft>
            </a:pPr>
            <a:r>
              <a:rPr sz="1700" b="1" i="0">
                <a:solidFill>
                  <a:srgbClr val="286099"/>
                </a:solidFill>
                <a:latin typeface="Calibri"/>
              </a:rPr>
              <a:t>4. Validar en el tiempo</a:t>
            </a:r>
          </a:p>
          <a:p>
            <a:pPr algn="l">
              <a:spcAft>
                <a:spcPts val="400"/>
              </a:spcAft>
            </a:pPr>
            <a:r>
              <a:rPr sz="1400" b="0" i="0">
                <a:solidFill>
                  <a:srgbClr val="1F2937"/>
                </a:solidFill>
                <a:latin typeface="Calibri"/>
              </a:rPr>
              <a:t>Entrenar con meses pasados y probar con meses futuros, separando clientes.</a:t>
            </a:r>
          </a:p>
        </p:txBody>
      </p:sp>
      <p:sp>
        <p:nvSpPr>
          <p:cNvPr id="13" name="Rounded Rectangle 12"/>
          <p:cNvSpPr/>
          <p:nvPr/>
        </p:nvSpPr>
        <p:spPr>
          <a:xfrm>
            <a:off x="4297679" y="3931920"/>
            <a:ext cx="3566160" cy="182880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62271" y="4041648"/>
            <a:ext cx="3246120" cy="1645920"/>
          </a:xfrm>
          <a:prstGeom prst="rect">
            <a:avLst/>
          </a:prstGeom>
          <a:noFill/>
        </p:spPr>
        <p:txBody>
          <a:bodyPr wrap="square" anchor="t" lIns="73152" rIns="73152" tIns="73152" bIns="73152">
            <a:spAutoFit/>
          </a:bodyPr>
          <a:lstStyle/>
          <a:p>
            <a:pPr algn="l">
              <a:spcAft>
                <a:spcPts val="500"/>
              </a:spcAft>
            </a:pPr>
            <a:r>
              <a:rPr sz="1700" b="1" i="0">
                <a:solidFill>
                  <a:srgbClr val="286099"/>
                </a:solidFill>
                <a:latin typeface="Calibri"/>
              </a:rPr>
              <a:t>5. Umbral según costos</a:t>
            </a:r>
          </a:p>
          <a:p>
            <a:pPr algn="l">
              <a:spcAft>
                <a:spcPts val="400"/>
              </a:spcAft>
            </a:pPr>
            <a:r>
              <a:rPr sz="1400" b="0" i="0">
                <a:solidFill>
                  <a:srgbClr val="1F2937"/>
                </a:solidFill>
                <a:latin typeface="Calibri"/>
              </a:rPr>
              <a:t>Definirlo con el negocio: costo de un fraude, costo de revisar y capacidad del equipo.</a:t>
            </a:r>
          </a:p>
        </p:txBody>
      </p:sp>
      <p:sp>
        <p:nvSpPr>
          <p:cNvPr id="15" name="Rounded Rectangle 14"/>
          <p:cNvSpPr/>
          <p:nvPr/>
        </p:nvSpPr>
        <p:spPr>
          <a:xfrm>
            <a:off x="8046719" y="3931920"/>
            <a:ext cx="3566160" cy="1828800"/>
          </a:xfrm>
          <a:prstGeom prst="roundRect">
            <a:avLst>
              <a:gd name="adj" fmla="val 6000"/>
            </a:avLst>
          </a:prstGeom>
          <a:solidFill>
            <a:srgbClr val="FFFFFF"/>
          </a:solidFill>
          <a:ln w="12700">
            <a:solidFill>
              <a:srgbClr val="D3DA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1" y="4041648"/>
            <a:ext cx="3246120" cy="1645920"/>
          </a:xfrm>
          <a:prstGeom prst="rect">
            <a:avLst/>
          </a:prstGeom>
          <a:noFill/>
        </p:spPr>
        <p:txBody>
          <a:bodyPr wrap="square" anchor="t" lIns="73152" rIns="73152" tIns="73152" bIns="73152">
            <a:spAutoFit/>
          </a:bodyPr>
          <a:lstStyle/>
          <a:p>
            <a:pPr algn="l">
              <a:spcAft>
                <a:spcPts val="500"/>
              </a:spcAft>
            </a:pPr>
            <a:r>
              <a:rPr sz="1700" b="1" i="0">
                <a:solidFill>
                  <a:srgbClr val="286099"/>
                </a:solidFill>
                <a:latin typeface="Calibri"/>
              </a:rPr>
              <a:t>6. Monitorear y reentrenar</a:t>
            </a:r>
          </a:p>
          <a:p>
            <a:pPr algn="l">
              <a:spcAft>
                <a:spcPts val="400"/>
              </a:spcAft>
            </a:pPr>
            <a:r>
              <a:rPr sz="1400" b="0" i="0">
                <a:solidFill>
                  <a:srgbClr val="1F2937"/>
                </a:solidFill>
                <a:latin typeface="Calibri"/>
              </a:rPr>
              <a:t>Vigilar cambios en los datos y en las estrategias de fraude.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109960" cy="1188720"/>
          </a:xfrm>
          <a:prstGeom prst="rect">
            <a:avLst/>
          </a:prstGeom>
          <a:noFill/>
        </p:spPr>
        <p:txBody>
          <a:bodyPr wrap="square" anchor="ctr" lIns="73152" rIns="73152" tIns="73152" bIns="73152">
            <a:spAutoFit/>
          </a:bodyPr>
          <a:lstStyle/>
          <a:p>
            <a:pPr algn="ctr">
              <a:spcAft>
                <a:spcPts val="400"/>
              </a:spcAft>
            </a:pPr>
            <a:r>
              <a:rPr sz="6000" b="1" i="0">
                <a:solidFill>
                  <a:srgbClr val="103F77"/>
                </a:solidFill>
                <a:latin typeface="Calibri"/>
              </a:rPr>
              <a:t>Gracias</a:t>
            </a:r>
          </a:p>
        </p:txBody>
      </p:sp>
      <p:sp>
        <p:nvSpPr>
          <p:cNvPr id="3" name="TextBox 2"/>
          <p:cNvSpPr txBox="1"/>
          <p:nvPr/>
        </p:nvSpPr>
        <p:spPr>
          <a:xfrm>
            <a:off x="548640" y="3200400"/>
            <a:ext cx="11109960" cy="640080"/>
          </a:xfrm>
          <a:prstGeom prst="rect">
            <a:avLst/>
          </a:prstGeom>
          <a:noFill/>
        </p:spPr>
        <p:txBody>
          <a:bodyPr wrap="square" anchor="t" lIns="73152" rIns="73152" tIns="73152" bIns="73152">
            <a:spAutoFit/>
          </a:bodyPr>
          <a:lstStyle/>
          <a:p>
            <a:pPr algn="ctr">
              <a:spcAft>
                <a:spcPts val="400"/>
              </a:spcAft>
            </a:pPr>
            <a:r>
              <a:rPr sz="2600" b="1" i="0">
                <a:solidFill>
                  <a:srgbClr val="A71C21"/>
                </a:solidFill>
                <a:latin typeface="Calibri"/>
              </a:rPr>
              <a:t>¿Preguntas?</a:t>
            </a:r>
          </a:p>
        </p:txBody>
      </p:sp>
      <p:sp>
        <p:nvSpPr>
          <p:cNvPr id="4" name="TextBox 3"/>
          <p:cNvSpPr txBox="1"/>
          <p:nvPr/>
        </p:nvSpPr>
        <p:spPr>
          <a:xfrm>
            <a:off x="1463040" y="4206240"/>
            <a:ext cx="9281160" cy="914400"/>
          </a:xfrm>
          <a:prstGeom prst="rect">
            <a:avLst/>
          </a:prstGeom>
          <a:noFill/>
        </p:spPr>
        <p:txBody>
          <a:bodyPr wrap="square" anchor="t" lIns="73152" rIns="73152" tIns="73152" bIns="73152">
            <a:spAutoFit/>
          </a:bodyPr>
          <a:lstStyle/>
          <a:p>
            <a:pPr algn="ctr">
              <a:spcAft>
                <a:spcPts val="400"/>
              </a:spcAft>
            </a:pPr>
            <a:r>
              <a:rPr sz="2000" b="0" i="1">
                <a:solidFill>
                  <a:srgbClr val="4B5563"/>
                </a:solidFill>
                <a:latin typeface="Calibri"/>
              </a:rPr>
              <a:t>Patrones reales, señal débil: el límite está en los datos, no en el algoritmo.</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0</Words>
  <Application>Microsoft Office PowerPoint</Application>
  <PresentationFormat>Panorámica</PresentationFormat>
  <Paragraphs>0</Paragraphs>
  <Slides>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vt:i4>
      </vt:variant>
    </vt:vector>
  </HeadingPairs>
  <TitlesOfParts>
    <vt:vector size="6" baseType="lpstr">
      <vt:lpstr>Arial</vt:lpstr>
      <vt:lpstr>Calibri</vt:lpstr>
      <vt:lpstr>Calibri Light</vt:lpstr>
      <vt:lpstr>Tema de Office</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JHONATAN MAURICIO SALAZAR ACHIG</dc:creator>
  <cp:lastModifiedBy>JHONATAN MAURICIO SALAZAR ACHIG</cp:lastModifiedBy>
  <cp:revision>1</cp:revision>
  <dcterms:created xsi:type="dcterms:W3CDTF">2022-12-22T20:18:33Z</dcterms:created>
  <dcterms:modified xsi:type="dcterms:W3CDTF">2022-12-22T20:26:15Z</dcterms:modified>
</cp:coreProperties>
</file>